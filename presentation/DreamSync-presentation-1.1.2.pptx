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257b5b493f44be" /><Relationship Type="http://schemas.openxmlformats.org/officeDocument/2006/relationships/extended-properties" Target="/docProps/app.xml" Id="R646c9a985065446b" /><Relationship Type="http://schemas.openxmlformats.org/officeDocument/2006/relationships/officeDocument" Target="/ppt/presentation.xml" Id="Raab9d319f7274f29" /></Relationships>
</file>

<file path=ppt/presentation.xml><?xml version="1.0" encoding="utf-8"?>
<p:presentation xmlns:p="http://schemas.openxmlformats.org/presentationml/2006/main">
  <p:sldMasterIdLst>
    <p:sldMasterId xmlns:r="http://schemas.openxmlformats.org/officeDocument/2006/relationships" id="2147483648" r:id="Rac77be6cecf74c43"/>
  </p:sldMasterIdLst>
  <p:notesMasterIdLst>
    <p:notesMasterId xmlns:r="http://schemas.openxmlformats.org/officeDocument/2006/relationships" r:id="Rd2684b9489074622"/>
  </p:notesMasterIdLst>
  <p:sldIdLst>
    <p:sldId xmlns:r="http://schemas.openxmlformats.org/officeDocument/2006/relationships" id="256" r:id="R6b1d0445732e4893"/>
    <p:sldId xmlns:r="http://schemas.openxmlformats.org/officeDocument/2006/relationships" id="257" r:id="R45c24e6ab605480c"/>
    <p:sldId xmlns:r="http://schemas.openxmlformats.org/officeDocument/2006/relationships" id="258" r:id="R486f5f8db5b24b39"/>
    <p:sldId xmlns:r="http://schemas.openxmlformats.org/officeDocument/2006/relationships" id="259" r:id="R86f0284a5fac4e0b"/>
    <p:sldId xmlns:r="http://schemas.openxmlformats.org/officeDocument/2006/relationships" id="260" r:id="R37de4d5cd21f4fa4"/>
    <p:sldId xmlns:r="http://schemas.openxmlformats.org/officeDocument/2006/relationships" id="261" r:id="R577c8006bc8f4c17"/>
    <p:sldId xmlns:r="http://schemas.openxmlformats.org/officeDocument/2006/relationships" id="262" r:id="Ra60e097e418240e4"/>
    <p:sldId xmlns:r="http://schemas.openxmlformats.org/officeDocument/2006/relationships" id="263" r:id="Rc78c937cac3f4f07"/>
    <p:sldId xmlns:r="http://schemas.openxmlformats.org/officeDocument/2006/relationships" id="264" r:id="R5ed62a9bd10c4770"/>
    <p:sldId xmlns:r="http://schemas.openxmlformats.org/officeDocument/2006/relationships" id="265" r:id="R449f5ac2071b4cde"/>
    <p:sldId xmlns:r="http://schemas.openxmlformats.org/officeDocument/2006/relationships" id="266" r:id="R38aa15b8aa784dcd"/>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49a596b2d6a43df" /><Relationship Type="http://schemas.openxmlformats.org/officeDocument/2006/relationships/slideMaster" Target="/ppt/slideMasters/slideMaster1.xml" Id="Rac77be6cecf74c43" /><Relationship Type="http://schemas.openxmlformats.org/officeDocument/2006/relationships/notesMaster" Target="/ppt/notesMasters/notesMaster1.xml" Id="Rd2684b9489074622" /><Relationship Type="http://schemas.openxmlformats.org/officeDocument/2006/relationships/presProps" Target="/ppt/presProps.xml" Id="Ra0a410532a154ac9" /><Relationship Type="http://schemas.openxmlformats.org/officeDocument/2006/relationships/viewProps" Target="/ppt/viewProps.xml" Id="R26199f0ccf394b6e" /><Relationship Type="http://schemas.openxmlformats.org/officeDocument/2006/relationships/tableStyles" Target="/ppt/tableStyles.xml" Id="R9c6f1a55969b4ca7" /><Relationship Type="http://schemas.openxmlformats.org/officeDocument/2006/relationships/slide" Target="/ppt/slides/slide1.xml" Id="R6b1d0445732e4893" /><Relationship Type="http://schemas.openxmlformats.org/officeDocument/2006/relationships/slide" Target="/ppt/slides/slide2.xml" Id="R45c24e6ab605480c" /><Relationship Type="http://schemas.openxmlformats.org/officeDocument/2006/relationships/slide" Target="/ppt/slides/slide3.xml" Id="R486f5f8db5b24b39" /><Relationship Type="http://schemas.openxmlformats.org/officeDocument/2006/relationships/slide" Target="/ppt/slides/slide4.xml" Id="R86f0284a5fac4e0b" /><Relationship Type="http://schemas.openxmlformats.org/officeDocument/2006/relationships/slide" Target="/ppt/slides/slide5.xml" Id="R37de4d5cd21f4fa4" /><Relationship Type="http://schemas.openxmlformats.org/officeDocument/2006/relationships/slide" Target="/ppt/slides/slide6.xml" Id="R577c8006bc8f4c17" /><Relationship Type="http://schemas.openxmlformats.org/officeDocument/2006/relationships/slide" Target="/ppt/slides/slide7.xml" Id="Ra60e097e418240e4" /><Relationship Type="http://schemas.openxmlformats.org/officeDocument/2006/relationships/slide" Target="/ppt/slides/slide8.xml" Id="Rc78c937cac3f4f07" /><Relationship Type="http://schemas.openxmlformats.org/officeDocument/2006/relationships/slide" Target="/ppt/slides/slide9.xml" Id="R5ed62a9bd10c4770" /><Relationship Type="http://schemas.openxmlformats.org/officeDocument/2006/relationships/slide" Target="/ppt/slides/slide10.xml" Id="R449f5ac2071b4cde" /><Relationship Type="http://schemas.openxmlformats.org/officeDocument/2006/relationships/slide" Target="/ppt/slides/slide11.xml" Id="R38aa15b8aa784d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1e300335bd43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518dee8fd84b35" /><Relationship Type="http://schemas.openxmlformats.org/officeDocument/2006/relationships/notesMaster" Target="/ppt/notesMasters/notesMaster1.xml" Id="R3c11da7b7f9a47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840e09c78b48ef" /><Relationship Type="http://schemas.openxmlformats.org/officeDocument/2006/relationships/notesMaster" Target="/ppt/notesMasters/notesMaster1.xml" Id="Rca26fc4826cd47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e7dc6582044a67" /><Relationship Type="http://schemas.openxmlformats.org/officeDocument/2006/relationships/notesMaster" Target="/ppt/notesMasters/notesMaster1.xml" Id="R1158f6864b0f45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227d64cc6b4b44" /><Relationship Type="http://schemas.openxmlformats.org/officeDocument/2006/relationships/notesMaster" Target="/ppt/notesMasters/notesMaster1.xml" Id="R20a465dc4d4144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e641a3769b4478" /><Relationship Type="http://schemas.openxmlformats.org/officeDocument/2006/relationships/notesMaster" Target="/ppt/notesMasters/notesMaster1.xml" Id="R7ad43c30825141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fe30b34cc24fb6" /><Relationship Type="http://schemas.openxmlformats.org/officeDocument/2006/relationships/notesMaster" Target="/ppt/notesMasters/notesMaster1.xml" Id="R5fb83648172745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a6bdc78d3f429e" /><Relationship Type="http://schemas.openxmlformats.org/officeDocument/2006/relationships/notesMaster" Target="/ppt/notesMasters/notesMaster1.xml" Id="R08de391c80324b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eaab8960c5482c" /><Relationship Type="http://schemas.openxmlformats.org/officeDocument/2006/relationships/notesMaster" Target="/ppt/notesMasters/notesMaster1.xml" Id="R38fbd5705cfd4d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218e7abfa04e77" /><Relationship Type="http://schemas.openxmlformats.org/officeDocument/2006/relationships/notesMaster" Target="/ppt/notesMasters/notesMaster1.xml" Id="R39663a75987749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2d34a5037442ad" /><Relationship Type="http://schemas.openxmlformats.org/officeDocument/2006/relationships/notesMaster" Target="/ppt/notesMasters/notesMaster1.xml" Id="Rd8e1e7cee70446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1546856a784b9c" /><Relationship Type="http://schemas.openxmlformats.org/officeDocument/2006/relationships/notesMaster" Target="/ppt/notesMasters/notesMaster1.xml" Id="R2049aac3373c41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(~20s) Hi — this is Dream Sync, a research prototype that plays timed audio cues to the sleeping brain using just a phone and a smartwatch. In the next eight minutes I'll cover the problem it targets, the actual sleep science behind it, and — just as importantly — where the evidence runs out. This is deliberately an honest tour, not a sales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(~50s) We spend about a third of our lives asleep, and for most people it's completely passive time — you can't observe it, let alone shape it. The stage that matters most for recovery and memory, deep slow-wave sleep, actually shrinks as we age. Meanwhile, sleep scientists have shown you *can* act on sleep — nudging deep sleep with sound, or cueing lucid dreams — but those techniques live in EEG labs with clinical hardware. The question Dream Sync asks: can the watch already on your wrist do a useful, safe version of that at home?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it is. (~45s) It's a two-device system. The watch senses motion and heart rate, estimates your sleep stage, and decides when to cue. The phone sits by the bed and plays the actual audio at low volume. There are two interventions. Deep cues: paired pink-noise bursts during probable deep sleep. Lucid cues: a distinctive two-tone chime during probable REM. Each maps to a specific line of research — which is what the next three slides are 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 TMR. (~50s) The underlying principle is Targeted Memory Reactivation. In 2007, Rasch and colleagues paired a task with a rose smell, replayed the smell during deep sleep, and memory improved — with hippocampal activation on fMRI. Crucially it only worked in deep sleep, not REM or waking. In 2009, Rudoy showed the same with sound. And the 2020 meta-analysis of ninety-one experiments found a small but robust benefit, effect size 0.29 — real, in NREM only. So: cueing the sleeping brain is a genuine effect, not folklore. But note that word 'small.'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 cues. (~55s) Dream Sync's deep cue rides on closed-loop acoustic stimulation. The founding 2013 study played two-click bursts locked to the slow oscillation's up-state and boosted both the brain waves and overnight word memory; out-of-phase clicks did nothing. A 2017 study replicated the physiology in older adults and roughly quadrupled recall versus a control condition. Now the honest caveat, on the right: the *physiology* replicates well — cues reliably move slow waves and spindles. The *memory* benefit does not. A 2023 meta-analysis pooled it at 0.14, not significant, with a clear decline as studies got better. So I present deep cues as a reliable physiological nudge with an unproven cognitive payoff.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cues. (~55s) The lucid cue comes from targeted lucidity reactivation. The landmark 2021 study is genuinely stunning — across four labs, people in verified lucid REM sleep answered questions with prearranged eye movements. Real two-way communication with a dreaming person. And cue-replay methods have induced lucid dreams in about half of participants in lab naps. But the caveat matters: a systematic review found *no* induction technique works reliably, it's highly person-dependent, and that fifty-percent figure is a best-case morning nap, not a nightly at-home number. So this is a research-inspired prompt that may raise the odds for some people — framed exactly that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(~55s) Here's what makes it defensible rather than reckless. The watch estimates the stage from stillness, heart-rate features, and time-of-night priors. It requires the stage to hold stably, for minutes, inside the right window before it cues at all. Any movement or heart-rate spike ends the block and triggers a cool-down. And it self-limits: three cue-linked awakenings and it shuts cues off for the night. The chart shows why the time windows work — deep sleep front-loads the night, REM back-loads it, so even approximate timing is a reasonable bet.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honest limit. (~50s) This is the slide I most want to land. Dream Sync reads motion and heart rate — not brain waves. Wearables like this are genuinely good, 85 to 95 percent, at telling sleep from wake. But at naming the actual stage they drop to roughly 60 to 85 percent — deep and REM get confused with light sleep. So timing cues by stage is a sound probabilistic bet, but some cues will land in the wrong stage. That's precisely why the app always says 'probable NREM' or 'probable REM' and never claims a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Potential effects. (~45s) Putting it together — what might this actually do? Plausibly: shift deep-sleep brain activity, raise lucid-dream odds for some users, and give a motivated person a real n-of-1 experimentation tool, since every night is logged. What it does *not* claim: a proven memory boost, reliable on-demand lucid dreaming, clinical staging, or any treatment. Keeping those two columns separate is the whole ethic of the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(~45s) Risks, taken seriously. Any overnight audio can fragment sleep, so cues are low-volume, brief, user-calibrated to barely audible, and auto-disable after three cue-linked awakenings. Lucid-dream practice itself can disturb sleep, so windows are separated and cues capped. And there's a real caution: frequent lucid dreaming has been linked to higher dissociation in susceptible people, which warrants an in-app advisory. Bottom line on the bar: this is a research prototype, not a medical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(~25s) So, to close: a real problem — a third of life we can barely act on. An approach that brings two evidence-based techniques out of the lab and onto consumer hardware. An honest scope — strong on physiology, unproven on memory and lucidity, approximate on staging, and transparent about all of it. And a path forward: the nightly logs are the raw material for actually finding out what works.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88abe3fe174f7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43d99b6e484d6a" /><Relationship Type="http://schemas.openxmlformats.org/officeDocument/2006/relationships/slideLayout" Target="/ppt/slideLayouts/slideLayout1.xml" Id="R3d41c9d25e7f474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41c9d25e7f474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1537ab43bc47dd" /><Relationship Type="http://schemas.openxmlformats.org/officeDocument/2006/relationships/notesSlide" Target="/ppt/notesSlides/notesSlide1.xml" Id="Ra4360e84e44c49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ca5855aac44851" /><Relationship Type="http://schemas.openxmlformats.org/officeDocument/2006/relationships/notesSlide" Target="/ppt/notesSlides/notesSlide2.xml" Id="R8443c80bb4d449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f1992f0f3c4f7e" /><Relationship Type="http://schemas.openxmlformats.org/officeDocument/2006/relationships/notesSlide" Target="/ppt/notesSlides/notesSlide3.xml" Id="Rb0caff2a112b47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fb4b36426a436f" /><Relationship Type="http://schemas.openxmlformats.org/officeDocument/2006/relationships/notesSlide" Target="/ppt/notesSlides/notesSlide4.xml" Id="R3d5baae854a64c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9e8c93242a4274" /><Relationship Type="http://schemas.openxmlformats.org/officeDocument/2006/relationships/notesSlide" Target="/ppt/notesSlides/notesSlide5.xml" Id="Rbb2a46a1ad4c48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21e6a679304a7b" /><Relationship Type="http://schemas.openxmlformats.org/officeDocument/2006/relationships/notesSlide" Target="/ppt/notesSlides/notesSlide6.xml" Id="R2bb3848f162d4e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667bd58cc7453c" /><Relationship Type="http://schemas.openxmlformats.org/officeDocument/2006/relationships/notesSlide" Target="/ppt/notesSlides/notesSlide7.xml" Id="R38a5931af9ac4a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287be43f5343bd" /><Relationship Type="http://schemas.openxmlformats.org/officeDocument/2006/relationships/notesSlide" Target="/ppt/notesSlides/notesSlide8.xml" Id="R6acfd94ef9f449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1f27720ab94fae" /><Relationship Type="http://schemas.openxmlformats.org/officeDocument/2006/relationships/notesSlide" Target="/ppt/notesSlides/notesSlide9.xml" Id="R4bad29556c2d42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92ade65c00462d" /><Relationship Type="http://schemas.openxmlformats.org/officeDocument/2006/relationships/notesSlide" Target="/ppt/notesSlides/notesSlide10.xml" Id="R69292d633aec47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06dc342832416f" /><Relationship Type="http://schemas.openxmlformats.org/officeDocument/2006/relationships/notesSlide" Target="/ppt/notesSlides/notesSlide11.xml" Id="R2ad038ca31db4c4c" /></Relationships>
</file>

<file path=ppt/slides/slide1.xml><?xml version="1.0" encoding="utf-8"?>
<p:sld xmlns:p="http://schemas.openxmlformats.org/presentationml/2006/main">
  <p:cSld>
    <p:bg>
      <p:bgPr>
        <a:solidFill xmlns:a="http://schemas.openxmlformats.org/drawingml/2006/main">
          <a:srgbClr val="1E224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E62634A-654E-4AAB-8C62-9B8CC236958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247"/>
          </a:solidFill>
        </p:spPr>
      </p:sp>
      <p:sp>
        <p:nvSpPr>
          <p:cNvPr id="3" name="Shape 1">
            <a:extLst xmlns:a="http://schemas.openxmlformats.org/drawingml/2006/main">
              <a:ext uri="{FF2B5EF4-FFF2-40B4-BE49-F238E27FC236}">
                <a16:creationId xmlns:a16="http://schemas.microsoft.com/office/drawing/2014/main" id="{DBA6E61A-B7C2-4FFF-9C1A-1009A9E01D1C}"/>
              </a:ext>
            </a:extLst>
          </p:cNvPr>
          <p:cNvSpPr>
            <a:spLocks xmlns:a="http://schemas.openxmlformats.org/drawingml/2006/main" noGrp="1"/>
          </p:cNvSpPr>
          <p:nvPr/>
        </p:nvSpPr>
        <p:spPr>
          <a:xfrm xmlns:a="http://schemas.openxmlformats.org/drawingml/2006/main">
            <a:off x="8732520" y="1097280"/>
            <a:ext cx="2103120" cy="2103120"/>
          </a:xfrm>
          <a:prstGeom xmlns:a="http://schemas.openxmlformats.org/drawingml/2006/main" prst="ellipse">
            <a:avLst/>
          </a:prstGeom>
          <a:solidFill xmlns:a="http://schemas.openxmlformats.org/drawingml/2006/main">
            <a:srgbClr val="F5F0E1"/>
          </a:solidFill>
        </p:spPr>
      </p:sp>
      <p:sp>
        <p:nvSpPr>
          <p:cNvPr id="4" name="Shape 2">
            <a:extLst xmlns:a="http://schemas.openxmlformats.org/drawingml/2006/main">
              <a:ext uri="{FF2B5EF4-FFF2-40B4-BE49-F238E27FC236}">
                <a16:creationId xmlns:a16="http://schemas.microsoft.com/office/drawing/2014/main" id="{5A370F41-C7AD-46E1-BC11-B706973EEF2E}"/>
              </a:ext>
            </a:extLst>
          </p:cNvPr>
          <p:cNvSpPr>
            <a:spLocks xmlns:a="http://schemas.openxmlformats.org/drawingml/2006/main" noGrp="1"/>
          </p:cNvSpPr>
          <p:nvPr/>
        </p:nvSpPr>
        <p:spPr>
          <a:xfrm xmlns:a="http://schemas.openxmlformats.org/drawingml/2006/main">
            <a:off x="9384487" y="950062"/>
            <a:ext cx="2103120" cy="2103120"/>
          </a:xfrm>
          <a:prstGeom xmlns:a="http://schemas.openxmlformats.org/drawingml/2006/main" prst="ellipse">
            <a:avLst/>
          </a:prstGeom>
          <a:solidFill xmlns:a="http://schemas.openxmlformats.org/drawingml/2006/main">
            <a:srgbClr val="1E2247"/>
          </a:solidFill>
        </p:spPr>
      </p:sp>
      <p:sp>
        <p:nvSpPr>
          <p:cNvPr id="5" name="Shape 3">
            <a:extLst xmlns:a="http://schemas.openxmlformats.org/drawingml/2006/main">
              <a:ext uri="{FF2B5EF4-FFF2-40B4-BE49-F238E27FC236}">
                <a16:creationId xmlns:a16="http://schemas.microsoft.com/office/drawing/2014/main" id="{26D319D1-56CA-4EF9-9C81-150B648D8105}"/>
              </a:ext>
            </a:extLst>
          </p:cNvPr>
          <p:cNvSpPr>
            <a:spLocks xmlns:a="http://schemas.openxmlformats.org/drawingml/2006/main" noGrp="1"/>
          </p:cNvSpPr>
          <p:nvPr/>
        </p:nvSpPr>
        <p:spPr>
          <a:xfrm xmlns:a="http://schemas.openxmlformats.org/drawingml/2006/main">
            <a:off x="10195560" y="1508760"/>
            <a:ext cx="502920" cy="1005840"/>
          </a:xfrm>
          <a:prstGeom xmlns:a="http://schemas.openxmlformats.org/drawingml/2006/main" prst="arc">
            <a:avLst>
              <a:gd name="adj1" fmla="val 18000000"/>
              <a:gd name="adj2" fmla="val 3600000"/>
            </a:avLst>
          </a:prstGeom>
          <a:ln xmlns:a="http://schemas.openxmlformats.org/drawingml/2006/main" w="31750">
            <a:solidFill>
              <a:srgbClr val="CADCFC"/>
            </a:solidFill>
            <a:prstDash val="solid"/>
          </a:ln>
        </p:spPr>
      </p:sp>
      <p:sp>
        <p:nvSpPr>
          <p:cNvPr id="6" name="Shape 4">
            <a:extLst xmlns:a="http://schemas.openxmlformats.org/drawingml/2006/main">
              <a:ext uri="{FF2B5EF4-FFF2-40B4-BE49-F238E27FC236}">
                <a16:creationId xmlns:a16="http://schemas.microsoft.com/office/drawing/2014/main" id="{64FB8758-69B0-42B3-8F67-7450471D0306}"/>
              </a:ext>
            </a:extLst>
          </p:cNvPr>
          <p:cNvSpPr>
            <a:spLocks xmlns:a="http://schemas.openxmlformats.org/drawingml/2006/main" noGrp="1"/>
          </p:cNvSpPr>
          <p:nvPr/>
        </p:nvSpPr>
        <p:spPr>
          <a:xfrm xmlns:a="http://schemas.openxmlformats.org/drawingml/2006/main">
            <a:off x="10195560" y="1188720"/>
            <a:ext cx="822960" cy="1645920"/>
          </a:xfrm>
          <a:prstGeom xmlns:a="http://schemas.openxmlformats.org/drawingml/2006/main" prst="arc">
            <a:avLst>
              <a:gd name="adj1" fmla="val 18000000"/>
              <a:gd name="adj2" fmla="val 3600000"/>
            </a:avLst>
          </a:prstGeom>
          <a:ln xmlns:a="http://schemas.openxmlformats.org/drawingml/2006/main" w="31750">
            <a:solidFill>
              <a:srgbClr val="818CF8"/>
            </a:solidFill>
            <a:prstDash val="solid"/>
          </a:ln>
        </p:spPr>
      </p:sp>
      <p:sp>
        <p:nvSpPr>
          <p:cNvPr id="7" name="Shape 5">
            <a:extLst xmlns:a="http://schemas.openxmlformats.org/drawingml/2006/main">
              <a:ext uri="{FF2B5EF4-FFF2-40B4-BE49-F238E27FC236}">
                <a16:creationId xmlns:a16="http://schemas.microsoft.com/office/drawing/2014/main" id="{47A54C4D-E20B-4BB9-A136-2A9835EB685F}"/>
              </a:ext>
            </a:extLst>
          </p:cNvPr>
          <p:cNvSpPr>
            <a:spLocks xmlns:a="http://schemas.openxmlformats.org/drawingml/2006/main" noGrp="1"/>
          </p:cNvSpPr>
          <p:nvPr/>
        </p:nvSpPr>
        <p:spPr>
          <a:xfrm xmlns:a="http://schemas.openxmlformats.org/drawingml/2006/main">
            <a:off x="10195560" y="868680"/>
            <a:ext cx="1143000" cy="2286000"/>
          </a:xfrm>
          <a:prstGeom xmlns:a="http://schemas.openxmlformats.org/drawingml/2006/main" prst="arc">
            <a:avLst>
              <a:gd name="adj1" fmla="val 18000000"/>
              <a:gd name="adj2" fmla="val 3600000"/>
            </a:avLst>
          </a:prstGeom>
          <a:ln xmlns:a="http://schemas.openxmlformats.org/drawingml/2006/main" w="31750">
            <a:solidFill>
              <a:srgbClr val="5B6CE8"/>
            </a:solidFill>
            <a:prstDash val="solid"/>
          </a:ln>
        </p:spPr>
      </p:sp>
      <p:sp>
        <p:nvSpPr>
          <p:cNvPr id="8" name="Shape 6">
            <a:extLst xmlns:a="http://schemas.openxmlformats.org/drawingml/2006/main">
              <a:ext uri="{FF2B5EF4-FFF2-40B4-BE49-F238E27FC236}">
                <a16:creationId xmlns:a16="http://schemas.microsoft.com/office/drawing/2014/main" id="{DC60B7DF-18EC-4A7B-97AF-D6433F394D5A}"/>
              </a:ext>
            </a:extLst>
          </p:cNvPr>
          <p:cNvSpPr>
            <a:spLocks xmlns:a="http://schemas.openxmlformats.org/drawingml/2006/main" noGrp="1"/>
          </p:cNvSpPr>
          <p:nvPr/>
        </p:nvSpPr>
        <p:spPr>
          <a:xfrm xmlns:a="http://schemas.openxmlformats.org/drawingml/2006/main">
            <a:off x="8412480" y="1097280"/>
            <a:ext cx="82296" cy="82296"/>
          </a:xfrm>
          <a:prstGeom xmlns:a="http://schemas.openxmlformats.org/drawingml/2006/main" prst="ellipse">
            <a:avLst/>
          </a:prstGeom>
          <a:solidFill xmlns:a="http://schemas.openxmlformats.org/drawingml/2006/main">
            <a:srgbClr val="F5F0E1"/>
          </a:solidFill>
        </p:spPr>
      </p:sp>
      <p:sp>
        <p:nvSpPr>
          <p:cNvPr id="9" name="Shape 7">
            <a:extLst xmlns:a="http://schemas.openxmlformats.org/drawingml/2006/main">
              <a:ext uri="{FF2B5EF4-FFF2-40B4-BE49-F238E27FC236}">
                <a16:creationId xmlns:a16="http://schemas.microsoft.com/office/drawing/2014/main" id="{2A7EE531-ADCF-45DD-BD07-9FBF601D197E}"/>
              </a:ext>
            </a:extLst>
          </p:cNvPr>
          <p:cNvSpPr>
            <a:spLocks xmlns:a="http://schemas.openxmlformats.org/drawingml/2006/main" noGrp="1"/>
          </p:cNvSpPr>
          <p:nvPr/>
        </p:nvSpPr>
        <p:spPr>
          <a:xfrm xmlns:a="http://schemas.openxmlformats.org/drawingml/2006/main">
            <a:off x="11064240" y="1371600"/>
            <a:ext cx="64008" cy="64008"/>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91446C6C-D877-4A60-B274-B820D23DEBCC}"/>
              </a:ext>
            </a:extLst>
          </p:cNvPr>
          <p:cNvSpPr>
            <a:spLocks xmlns:a="http://schemas.openxmlformats.org/drawingml/2006/main" noGrp="1"/>
          </p:cNvSpPr>
          <p:nvPr/>
        </p:nvSpPr>
        <p:spPr>
          <a:xfrm xmlns:a="http://schemas.openxmlformats.org/drawingml/2006/main">
            <a:off x="8961120" y="3383280"/>
            <a:ext cx="54864" cy="54864"/>
          </a:xfrm>
          <a:prstGeom xmlns:a="http://schemas.openxmlformats.org/drawingml/2006/main" prst="ellipse">
            <a:avLst/>
          </a:prstGeom>
          <a:solidFill xmlns:a="http://schemas.openxmlformats.org/drawingml/2006/main">
            <a:srgbClr val="F5F0E1"/>
          </a:solidFill>
        </p:spPr>
      </p:sp>
      <p:sp>
        <p:nvSpPr>
          <p:cNvPr id="11" name="Shape 9">
            <a:extLst xmlns:a="http://schemas.openxmlformats.org/drawingml/2006/main">
              <a:ext uri="{FF2B5EF4-FFF2-40B4-BE49-F238E27FC236}">
                <a16:creationId xmlns:a16="http://schemas.microsoft.com/office/drawing/2014/main" id="{29AB387A-0056-451A-91FB-FBB157BF76B0}"/>
              </a:ext>
            </a:extLst>
          </p:cNvPr>
          <p:cNvSpPr>
            <a:spLocks xmlns:a="http://schemas.openxmlformats.org/drawingml/2006/main" noGrp="1"/>
          </p:cNvSpPr>
          <p:nvPr/>
        </p:nvSpPr>
        <p:spPr>
          <a:xfrm xmlns:a="http://schemas.openxmlformats.org/drawingml/2006/main">
            <a:off x="10881360" y="3840480"/>
            <a:ext cx="73152" cy="73152"/>
          </a:xfrm>
          <a:prstGeom xmlns:a="http://schemas.openxmlformats.org/drawingml/2006/main" prst="ellipse">
            <a:avLst/>
          </a:prstGeom>
          <a:solidFill xmlns:a="http://schemas.openxmlformats.org/drawingml/2006/main">
            <a:srgbClr val="F5F0E1"/>
          </a:solidFill>
        </p:spPr>
      </p:sp>
      <p:sp>
        <p:nvSpPr>
          <p:cNvPr id="12" name="Text 10">
            <a:extLst xmlns:a="http://schemas.openxmlformats.org/drawingml/2006/main">
              <a:ext uri="{FF2B5EF4-FFF2-40B4-BE49-F238E27FC236}">
                <a16:creationId xmlns:a16="http://schemas.microsoft.com/office/drawing/2014/main" id="{B9B0E6F1-8FC1-429F-9EAD-613220E6EFC5}"/>
              </a:ext>
            </a:extLst>
          </p:cNvPr>
          <p:cNvSpPr>
            <a:spLocks xmlns:a="http://schemas.openxmlformats.org/drawingml/2006/main" noGrp="1"/>
          </p:cNvSpPr>
          <p:nvPr/>
        </p:nvSpPr>
        <p:spPr>
          <a:xfrm xmlns:a="http://schemas.openxmlformats.org/drawingml/2006/main">
            <a:off x="822960" y="196596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CADCFC"/>
                </a:solidFill>
                <a:latin typeface="Calibri"/>
                <a:ea typeface="Calibri"/>
                <a:cs typeface="Calibri"/>
              </a:rPr>
              <a:t>PHONE + WEAR OS · VERSION 1.1.2 TEST</a:t>
            </a:r>
          </a:p>
        </p:txBody>
      </p:sp>
      <p:sp>
        <p:nvSpPr>
          <p:cNvPr id="13" name="Text 11">
            <a:extLst xmlns:a="http://schemas.openxmlformats.org/drawingml/2006/main">
              <a:ext uri="{FF2B5EF4-FFF2-40B4-BE49-F238E27FC236}">
                <a16:creationId xmlns:a16="http://schemas.microsoft.com/office/drawing/2014/main" id="{2436A29D-72FB-4D8F-8E72-FD9CEF8D92E1}"/>
              </a:ext>
            </a:extLst>
          </p:cNvPr>
          <p:cNvSpPr>
            <a:spLocks xmlns:a="http://schemas.openxmlformats.org/drawingml/2006/main" noGrp="1"/>
          </p:cNvSpPr>
          <p:nvPr/>
        </p:nvSpPr>
        <p:spPr>
          <a:xfrm xmlns:a="http://schemas.openxmlformats.org/drawingml/2006/main">
            <a:off x="777240" y="2286000"/>
            <a:ext cx="8229600" cy="1188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6000" b="1">
                <a:solidFill>
                  <a:srgbClr val="FFFFFF"/>
                </a:solidFill>
                <a:latin typeface="Cambria"/>
                <a:ea typeface="Cambria"/>
                <a:cs typeface="Cambria"/>
              </a:rPr>
              <a:t>DreamSync</a:t>
            </a:r>
          </a:p>
        </p:txBody>
      </p:sp>
      <p:sp>
        <p:nvSpPr>
          <p:cNvPr id="14" name="Text 12">
            <a:extLst xmlns:a="http://schemas.openxmlformats.org/drawingml/2006/main">
              <a:ext uri="{FF2B5EF4-FFF2-40B4-BE49-F238E27FC236}">
                <a16:creationId xmlns:a16="http://schemas.microsoft.com/office/drawing/2014/main" id="{07D56842-0E73-4618-A9DA-58F4317B90F6}"/>
              </a:ext>
            </a:extLst>
          </p:cNvPr>
          <p:cNvSpPr>
            <a:spLocks xmlns:a="http://schemas.openxmlformats.org/drawingml/2006/main" noGrp="1"/>
          </p:cNvSpPr>
          <p:nvPr/>
        </p:nvSpPr>
        <p:spPr>
          <a:xfrm xmlns:a="http://schemas.openxmlformats.org/drawingml/2006/main">
            <a:off x="822960" y="352044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a:solidFill>
                  <a:srgbClr val="CADCFC"/>
                </a:solidFill>
                <a:latin typeface="Calibri"/>
                <a:ea typeface="Calibri"/>
                <a:cs typeface="Calibri"/>
              </a:rPr>
              <a:t>Dreams Redefined.</a:t>
            </a:r>
          </a:p>
        </p:txBody>
      </p:sp>
      <p:sp>
        <p:nvSpPr>
          <p:cNvPr id="15" name="Text 13">
            <a:extLst xmlns:a="http://schemas.openxmlformats.org/drawingml/2006/main">
              <a:ext uri="{FF2B5EF4-FFF2-40B4-BE49-F238E27FC236}">
                <a16:creationId xmlns:a16="http://schemas.microsoft.com/office/drawing/2014/main" id="{1046E082-8175-4DCF-89E6-77ED1483C85B}"/>
              </a:ext>
            </a:extLst>
          </p:cNvPr>
          <p:cNvSpPr>
            <a:spLocks xmlns:a="http://schemas.openxmlformats.org/drawingml/2006/main" noGrp="1"/>
          </p:cNvSpPr>
          <p:nvPr/>
        </p:nvSpPr>
        <p:spPr>
          <a:xfrm xmlns:a="http://schemas.openxmlformats.org/drawingml/2006/main">
            <a:off x="822960" y="5212080"/>
            <a:ext cx="91440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i="1">
                <a:solidFill>
                  <a:srgbClr val="9AA0C4"/>
                </a:solidFill>
                <a:latin typeface="Calibri"/>
                <a:ea typeface="Calibri"/>
                <a:cs typeface="Calibri"/>
              </a:rPr>
              <a:t>Designed to protect sleep continuity</a:t>
            </a:r>
          </a:p>
        </p:txBody>
      </p:sp>
    </p:spTree>
    <p:extLst>
      <p:ext uri="{BB962C8B-B14F-4D97-AF65-F5344CB8AC3E}">
        <p14:creationId xmlns:p14="http://schemas.microsoft.com/office/powerpoint/2010/main" val="4584140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706456-D833-4813-BB3A-654B30FECA05}"/>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The real risk is disturbing sleep</a:t>
            </a:r>
          </a:p>
        </p:txBody>
      </p:sp>
      <p:sp>
        <p:nvSpPr>
          <p:cNvPr id="3" name="Text 1">
            <a:extLst xmlns:a="http://schemas.openxmlformats.org/drawingml/2006/main">
              <a:ext uri="{FF2B5EF4-FFF2-40B4-BE49-F238E27FC236}">
                <a16:creationId xmlns:a16="http://schemas.microsoft.com/office/drawing/2014/main" id="{19932953-5BA7-4FE8-AC48-7592919680AA}"/>
              </a:ext>
            </a:extLst>
          </p:cNvPr>
          <p:cNvSpPr>
            <a:spLocks xmlns:a="http://schemas.openxmlformats.org/drawingml/2006/main" noGrp="1"/>
          </p:cNvSpPr>
          <p:nvPr/>
        </p:nvSpPr>
        <p:spPr>
          <a:xfrm xmlns:a="http://schemas.openxmlformats.org/drawingml/2006/main">
            <a:off x="548640" y="1234440"/>
            <a:ext cx="67665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1500">
                <a:solidFill>
                  <a:srgbClr val="5B6178"/>
                </a:solidFill>
                <a:latin typeface="Calibri"/>
                <a:ea typeface="Calibri"/>
                <a:cs typeface="Calibri"/>
              </a:rPr>
              <a:t>Cues can fragment the sleep they aim to help.</a:t>
            </a:r>
          </a:p>
        </p:txBody>
      </p:sp>
      <p:sp>
        <p:nvSpPr>
          <p:cNvPr id="4" name="Shape 2">
            <a:extLst xmlns:a="http://schemas.openxmlformats.org/drawingml/2006/main">
              <a:ext uri="{FF2B5EF4-FFF2-40B4-BE49-F238E27FC236}">
                <a16:creationId xmlns:a16="http://schemas.microsoft.com/office/drawing/2014/main" id="{516232B3-5944-4FBD-BCCE-5C5D161B601B}"/>
              </a:ext>
            </a:extLst>
          </p:cNvPr>
          <p:cNvSpPr>
            <a:spLocks xmlns:a="http://schemas.openxmlformats.org/drawingml/2006/main" noGrp="1"/>
          </p:cNvSpPr>
          <p:nvPr/>
        </p:nvSpPr>
        <p:spPr>
          <a:xfrm xmlns:a="http://schemas.openxmlformats.org/drawingml/2006/main">
            <a:off x="548640" y="228600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8B6397A4-C459-4391-981A-BA0282979ED2}"/>
              </a:ext>
            </a:extLst>
          </p:cNvPr>
          <p:cNvSpPr>
            <a:spLocks xmlns:a="http://schemas.openxmlformats.org/drawingml/2006/main" noGrp="1"/>
          </p:cNvSpPr>
          <p:nvPr/>
        </p:nvSpPr>
        <p:spPr>
          <a:xfrm xmlns:a="http://schemas.openxmlformats.org/drawingml/2006/main">
            <a:off x="548640" y="228600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7EA45442-E472-4C43-8BD4-A137424D9DC3}"/>
              </a:ext>
            </a:extLst>
          </p:cNvPr>
          <p:cNvSpPr>
            <a:spLocks xmlns:a="http://schemas.openxmlformats.org/drawingml/2006/main" noGrp="1"/>
          </p:cNvSpPr>
          <p:nvPr/>
        </p:nvSpPr>
        <p:spPr>
          <a:xfrm xmlns:a="http://schemas.openxmlformats.org/drawingml/2006/main">
            <a:off x="1115568" y="223113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Sound can trigger arousal</a:t>
            </a:r>
          </a:p>
        </p:txBody>
      </p:sp>
      <p:sp>
        <p:nvSpPr>
          <p:cNvPr id="7" name="Text 5">
            <a:extLst xmlns:a="http://schemas.openxmlformats.org/drawingml/2006/main">
              <a:ext uri="{FF2B5EF4-FFF2-40B4-BE49-F238E27FC236}">
                <a16:creationId xmlns:a16="http://schemas.microsoft.com/office/drawing/2014/main" id="{12FC9831-749C-4DE3-B7BC-21DE4411EDE5}"/>
              </a:ext>
            </a:extLst>
          </p:cNvPr>
          <p:cNvSpPr>
            <a:spLocks xmlns:a="http://schemas.openxmlformats.org/drawingml/2006/main" noGrp="1"/>
          </p:cNvSpPr>
          <p:nvPr/>
        </p:nvSpPr>
        <p:spPr>
          <a:xfrm xmlns:a="http://schemas.openxmlformats.org/drawingml/2006/main">
            <a:off x="1115568" y="259689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Even quiet audio can increase movement or heart rate.</a:t>
            </a:r>
          </a:p>
        </p:txBody>
      </p:sp>
      <p:sp>
        <p:nvSpPr>
          <p:cNvPr id="8" name="Shape 6">
            <a:extLst xmlns:a="http://schemas.openxmlformats.org/drawingml/2006/main">
              <a:ext uri="{FF2B5EF4-FFF2-40B4-BE49-F238E27FC236}">
                <a16:creationId xmlns:a16="http://schemas.microsoft.com/office/drawing/2014/main" id="{EAED5264-9310-4EBD-9532-8229C0103917}"/>
              </a:ext>
            </a:extLst>
          </p:cNvPr>
          <p:cNvSpPr>
            <a:spLocks xmlns:a="http://schemas.openxmlformats.org/drawingml/2006/main" noGrp="1"/>
          </p:cNvSpPr>
          <p:nvPr/>
        </p:nvSpPr>
        <p:spPr>
          <a:xfrm xmlns:a="http://schemas.openxmlformats.org/drawingml/2006/main">
            <a:off x="548640" y="3520440"/>
            <a:ext cx="402336" cy="402336"/>
          </a:xfrm>
          <a:prstGeom xmlns:a="http://schemas.openxmlformats.org/drawingml/2006/main" prst="ellipse">
            <a:avLst/>
          </a:prstGeom>
          <a:solidFill xmlns:a="http://schemas.openxmlformats.org/drawingml/2006/main">
            <a:srgbClr val="5B6CE8"/>
          </a:solidFill>
        </p:spPr>
      </p:sp>
      <p:sp>
        <p:nvSpPr>
          <p:cNvPr id="9" name="Text 7">
            <a:extLst xmlns:a="http://schemas.openxmlformats.org/drawingml/2006/main">
              <a:ext uri="{FF2B5EF4-FFF2-40B4-BE49-F238E27FC236}">
                <a16:creationId xmlns:a16="http://schemas.microsoft.com/office/drawing/2014/main" id="{9DD31024-92F7-48B3-B291-C8896342BC19}"/>
              </a:ext>
            </a:extLst>
          </p:cNvPr>
          <p:cNvSpPr>
            <a:spLocks xmlns:a="http://schemas.openxmlformats.org/drawingml/2006/main" noGrp="1"/>
          </p:cNvSpPr>
          <p:nvPr/>
        </p:nvSpPr>
        <p:spPr>
          <a:xfrm xmlns:a="http://schemas.openxmlformats.org/drawingml/2006/main">
            <a:off x="548640" y="35204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0" name="Text 8">
            <a:extLst xmlns:a="http://schemas.openxmlformats.org/drawingml/2006/main">
              <a:ext uri="{FF2B5EF4-FFF2-40B4-BE49-F238E27FC236}">
                <a16:creationId xmlns:a16="http://schemas.microsoft.com/office/drawing/2014/main" id="{F133D307-DB37-4F1E-BC81-B384C162A0FD}"/>
              </a:ext>
            </a:extLst>
          </p:cNvPr>
          <p:cNvSpPr>
            <a:spLocks xmlns:a="http://schemas.openxmlformats.org/drawingml/2006/main" noGrp="1"/>
          </p:cNvSpPr>
          <p:nvPr/>
        </p:nvSpPr>
        <p:spPr>
          <a:xfrm xmlns:a="http://schemas.openxmlformats.org/drawingml/2006/main">
            <a:off x="1115568" y="346557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Wrist sensing is probabilistic</a:t>
            </a:r>
          </a:p>
        </p:txBody>
      </p:sp>
      <p:sp>
        <p:nvSpPr>
          <p:cNvPr id="11" name="Text 9">
            <a:extLst xmlns:a="http://schemas.openxmlformats.org/drawingml/2006/main">
              <a:ext uri="{FF2B5EF4-FFF2-40B4-BE49-F238E27FC236}">
                <a16:creationId xmlns:a16="http://schemas.microsoft.com/office/drawing/2014/main" id="{33394FDC-0001-46F5-9F83-69D95FEF1F62}"/>
              </a:ext>
            </a:extLst>
          </p:cNvPr>
          <p:cNvSpPr>
            <a:spLocks xmlns:a="http://schemas.openxmlformats.org/drawingml/2006/main" noGrp="1"/>
          </p:cNvSpPr>
          <p:nvPr/>
        </p:nvSpPr>
        <p:spPr>
          <a:xfrm xmlns:a="http://schemas.openxmlformats.org/drawingml/2006/main">
            <a:off x="1115568" y="383133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Motion and heart rate estimate likely sleep; they do not replace EEG.</a:t>
            </a:r>
          </a:p>
        </p:txBody>
      </p:sp>
      <p:sp>
        <p:nvSpPr>
          <p:cNvPr id="12" name="Shape 10">
            <a:extLst xmlns:a="http://schemas.openxmlformats.org/drawingml/2006/main">
              <a:ext uri="{FF2B5EF4-FFF2-40B4-BE49-F238E27FC236}">
                <a16:creationId xmlns:a16="http://schemas.microsoft.com/office/drawing/2014/main" id="{295E14C5-6644-48B6-AA1B-905BE4FA67D3}"/>
              </a:ext>
            </a:extLst>
          </p:cNvPr>
          <p:cNvSpPr>
            <a:spLocks xmlns:a="http://schemas.openxmlformats.org/drawingml/2006/main" noGrp="1"/>
          </p:cNvSpPr>
          <p:nvPr/>
        </p:nvSpPr>
        <p:spPr>
          <a:xfrm xmlns:a="http://schemas.openxmlformats.org/drawingml/2006/main">
            <a:off x="548640" y="4754880"/>
            <a:ext cx="402336" cy="402336"/>
          </a:xfrm>
          <a:prstGeom xmlns:a="http://schemas.openxmlformats.org/drawingml/2006/main" prst="ellipse">
            <a:avLst/>
          </a:prstGeom>
          <a:solidFill xmlns:a="http://schemas.openxmlformats.org/drawingml/2006/main">
            <a:srgbClr val="5B6CE8"/>
          </a:solidFill>
        </p:spPr>
      </p:sp>
      <p:sp>
        <p:nvSpPr>
          <p:cNvPr id="13" name="Text 11">
            <a:extLst xmlns:a="http://schemas.openxmlformats.org/drawingml/2006/main">
              <a:ext uri="{FF2B5EF4-FFF2-40B4-BE49-F238E27FC236}">
                <a16:creationId xmlns:a16="http://schemas.microsoft.com/office/drawing/2014/main" id="{B13324E5-9F3F-4506-949D-09D3B3496B07}"/>
              </a:ext>
            </a:extLst>
          </p:cNvPr>
          <p:cNvSpPr>
            <a:spLocks xmlns:a="http://schemas.openxmlformats.org/drawingml/2006/main" noGrp="1"/>
          </p:cNvSpPr>
          <p:nvPr/>
        </p:nvSpPr>
        <p:spPr>
          <a:xfrm xmlns:a="http://schemas.openxmlformats.org/drawingml/2006/main">
            <a:off x="548640" y="475488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4" name="Text 12">
            <a:extLst xmlns:a="http://schemas.openxmlformats.org/drawingml/2006/main">
              <a:ext uri="{FF2B5EF4-FFF2-40B4-BE49-F238E27FC236}">
                <a16:creationId xmlns:a16="http://schemas.microsoft.com/office/drawing/2014/main" id="{B936F547-1369-497B-8DD1-190EF5921C46}"/>
              </a:ext>
            </a:extLst>
          </p:cNvPr>
          <p:cNvSpPr>
            <a:spLocks xmlns:a="http://schemas.openxmlformats.org/drawingml/2006/main" noGrp="1"/>
          </p:cNvSpPr>
          <p:nvPr/>
        </p:nvSpPr>
        <p:spPr>
          <a:xfrm xmlns:a="http://schemas.openxmlformats.org/drawingml/2006/main">
            <a:off x="1115568" y="470001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Android needs an Arm action</a:t>
            </a:r>
          </a:p>
        </p:txBody>
      </p:sp>
      <p:sp>
        <p:nvSpPr>
          <p:cNvPr id="15" name="Text 13">
            <a:extLst xmlns:a="http://schemas.openxmlformats.org/drawingml/2006/main">
              <a:ext uri="{FF2B5EF4-FFF2-40B4-BE49-F238E27FC236}">
                <a16:creationId xmlns:a16="http://schemas.microsoft.com/office/drawing/2014/main" id="{99707FF6-8AD5-44D3-AD70-E16C1EEFABF7}"/>
              </a:ext>
            </a:extLst>
          </p:cNvPr>
          <p:cNvSpPr>
            <a:spLocks xmlns:a="http://schemas.openxmlformats.org/drawingml/2006/main" noGrp="1"/>
          </p:cNvSpPr>
          <p:nvPr/>
        </p:nvSpPr>
        <p:spPr>
          <a:xfrm xmlns:a="http://schemas.openxmlformats.org/drawingml/2006/main">
            <a:off x="1115568" y="506577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One visible tap starts the night. Monitoring then runs automatically.</a:t>
            </a:r>
          </a:p>
        </p:txBody>
      </p:sp>
      <p:sp>
        <p:nvSpPr>
          <p:cNvPr id="16" name="Shape 14">
            <a:extLst xmlns:a="http://schemas.openxmlformats.org/drawingml/2006/main">
              <a:ext uri="{FF2B5EF4-FFF2-40B4-BE49-F238E27FC236}">
                <a16:creationId xmlns:a16="http://schemas.microsoft.com/office/drawing/2014/main" id="{E38239B7-B750-4FF4-99FC-59DA615848F5}"/>
              </a:ext>
            </a:extLst>
          </p:cNvPr>
          <p:cNvSpPr>
            <a:spLocks xmlns:a="http://schemas.openxmlformats.org/drawingml/2006/main" noGrp="1"/>
          </p:cNvSpPr>
          <p:nvPr/>
        </p:nvSpPr>
        <p:spPr>
          <a:xfrm xmlns:a="http://schemas.openxmlformats.org/drawingml/2006/main">
            <a:off x="7772400" y="1463040"/>
            <a:ext cx="3840480" cy="3931920"/>
          </a:xfrm>
          <a:prstGeom xmlns:a="http://schemas.openxmlformats.org/drawingml/2006/main" prst="roundRect">
            <a:avLst>
              <a:gd name="adj" fmla="val 2143"/>
            </a:avLst>
          </a:prstGeom>
          <a:solidFill xmlns:a="http://schemas.openxmlformats.org/drawingml/2006/main">
            <a:srgbClr val="1E2247"/>
          </a:solidFill>
          <a:ln xmlns:a="http://schemas.openxmlformats.org/drawingml/2006/main" w="12700">
            <a:solidFill>
              <a:srgbClr val="1E2247"/>
            </a:solidFill>
            <a:prstDash val="solid"/>
          </a:ln>
        </p:spPr>
      </p:sp>
      <p:sp>
        <p:nvSpPr>
          <p:cNvPr id="17" name="Shape 15">
            <a:extLst xmlns:a="http://schemas.openxmlformats.org/drawingml/2006/main">
              <a:ext uri="{FF2B5EF4-FFF2-40B4-BE49-F238E27FC236}">
                <a16:creationId xmlns:a16="http://schemas.microsoft.com/office/drawing/2014/main" id="{4E51CE35-E42F-40D8-ABE0-77CA44B4A6E2}"/>
              </a:ext>
            </a:extLst>
          </p:cNvPr>
          <p:cNvSpPr>
            <a:spLocks xmlns:a="http://schemas.openxmlformats.org/drawingml/2006/main" noGrp="1"/>
          </p:cNvSpPr>
          <p:nvPr/>
        </p:nvSpPr>
        <p:spPr>
          <a:xfrm xmlns:a="http://schemas.openxmlformats.org/drawingml/2006/main">
            <a:off x="10625328" y="1709928"/>
            <a:ext cx="512064" cy="512064"/>
          </a:xfrm>
          <a:prstGeom xmlns:a="http://schemas.openxmlformats.org/drawingml/2006/main" prst="ellipse">
            <a:avLst/>
          </a:prstGeom>
          <a:solidFill xmlns:a="http://schemas.openxmlformats.org/drawingml/2006/main">
            <a:srgbClr val="F5F0E1"/>
          </a:solidFill>
        </p:spPr>
      </p:sp>
      <p:sp>
        <p:nvSpPr>
          <p:cNvPr id="18" name="Shape 16">
            <a:extLst xmlns:a="http://schemas.openxmlformats.org/drawingml/2006/main">
              <a:ext uri="{FF2B5EF4-FFF2-40B4-BE49-F238E27FC236}">
                <a16:creationId xmlns:a16="http://schemas.microsoft.com/office/drawing/2014/main" id="{4055FAF5-06A8-44C2-85F2-723BDB38C72A}"/>
              </a:ext>
            </a:extLst>
          </p:cNvPr>
          <p:cNvSpPr>
            <a:spLocks xmlns:a="http://schemas.openxmlformats.org/drawingml/2006/main" noGrp="1"/>
          </p:cNvSpPr>
          <p:nvPr/>
        </p:nvSpPr>
        <p:spPr>
          <a:xfrm xmlns:a="http://schemas.openxmlformats.org/drawingml/2006/main">
            <a:off x="10784068" y="1674084"/>
            <a:ext cx="512064" cy="512064"/>
          </a:xfrm>
          <a:prstGeom xmlns:a="http://schemas.openxmlformats.org/drawingml/2006/main" prst="ellipse">
            <a:avLst/>
          </a:prstGeom>
          <a:solidFill xmlns:a="http://schemas.openxmlformats.org/drawingml/2006/main">
            <a:srgbClr val="1E2247"/>
          </a:solidFill>
        </p:spPr>
      </p:sp>
      <p:sp>
        <p:nvSpPr>
          <p:cNvPr id="19" name="Text 17">
            <a:extLst xmlns:a="http://schemas.openxmlformats.org/drawingml/2006/main">
              <a:ext uri="{FF2B5EF4-FFF2-40B4-BE49-F238E27FC236}">
                <a16:creationId xmlns:a16="http://schemas.microsoft.com/office/drawing/2014/main" id="{48B487BC-79CC-4F2D-B29C-ADED9B11026C}"/>
              </a:ext>
            </a:extLst>
          </p:cNvPr>
          <p:cNvSpPr>
            <a:spLocks xmlns:a="http://schemas.openxmlformats.org/drawingml/2006/main" noGrp="1"/>
          </p:cNvSpPr>
          <p:nvPr/>
        </p:nvSpPr>
        <p:spPr>
          <a:xfrm xmlns:a="http://schemas.openxmlformats.org/drawingml/2006/main">
            <a:off x="7772400" y="2148840"/>
            <a:ext cx="384048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600" b="1">
                <a:solidFill>
                  <a:srgbClr val="F5F0E1"/>
                </a:solidFill>
                <a:latin typeface="Cambria"/>
                <a:ea typeface="Cambria"/>
                <a:cs typeface="Cambria"/>
              </a:rPr>
              <a:t>PROTECT</a:t>
            </a:r>
          </a:p>
        </p:txBody>
      </p:sp>
      <p:sp>
        <p:nvSpPr>
          <p:cNvPr id="20" name="Text 18">
            <a:extLst xmlns:a="http://schemas.openxmlformats.org/drawingml/2006/main">
              <a:ext uri="{FF2B5EF4-FFF2-40B4-BE49-F238E27FC236}">
                <a16:creationId xmlns:a16="http://schemas.microsoft.com/office/drawing/2014/main" id="{135F7795-F276-4EFE-AA91-8BCBC207689F}"/>
              </a:ext>
            </a:extLst>
          </p:cNvPr>
          <p:cNvSpPr>
            <a:spLocks xmlns:a="http://schemas.openxmlformats.org/drawingml/2006/main" noGrp="1"/>
          </p:cNvSpPr>
          <p:nvPr/>
        </p:nvSpPr>
        <p:spPr>
          <a:xfrm xmlns:a="http://schemas.openxmlformats.org/drawingml/2006/main">
            <a:off x="7955280" y="3246120"/>
            <a:ext cx="3474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a:solidFill>
                  <a:srgbClr val="CADCFC"/>
                </a:solidFill>
                <a:latin typeface="Calibri"/>
                <a:ea typeface="Calibri"/>
                <a:cs typeface="Calibri"/>
              </a:rPr>
              <a:t>KEEP ASLEEP</a:t>
            </a:r>
          </a:p>
        </p:txBody>
      </p:sp>
      <p:sp>
        <p:nvSpPr>
          <p:cNvPr id="21" name="Text 19">
            <a:extLst xmlns:a="http://schemas.openxmlformats.org/drawingml/2006/main">
              <a:ext uri="{FF2B5EF4-FFF2-40B4-BE49-F238E27FC236}">
                <a16:creationId xmlns:a16="http://schemas.microsoft.com/office/drawing/2014/main" id="{F33331E6-17FD-4ECD-AA78-BA9F0B8C2392}"/>
              </a:ext>
            </a:extLst>
          </p:cNvPr>
          <p:cNvSpPr>
            <a:spLocks xmlns:a="http://schemas.openxmlformats.org/drawingml/2006/main" noGrp="1"/>
          </p:cNvSpPr>
          <p:nvPr/>
        </p:nvSpPr>
        <p:spPr>
          <a:xfrm xmlns:a="http://schemas.openxmlformats.org/drawingml/2006/main">
            <a:off x="8046720" y="3977640"/>
            <a:ext cx="329184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00" i="1">
                <a:solidFill>
                  <a:srgbClr val="C7CDF0"/>
                </a:solidFill>
                <a:latin typeface="Calibri"/>
                <a:ea typeface="Calibri"/>
                <a:cs typeface="Calibri"/>
              </a:rPr>
              <a:t>When signals are weak, stale, or disturbed, DreamSync stays quiet.</a:t>
            </a:r>
          </a:p>
        </p:txBody>
      </p:sp>
      <p:sp>
        <p:nvSpPr>
          <p:cNvPr id="22" name="Shape 20">
            <a:extLst xmlns:a="http://schemas.openxmlformats.org/drawingml/2006/main">
              <a:ext uri="{FF2B5EF4-FFF2-40B4-BE49-F238E27FC236}">
                <a16:creationId xmlns:a16="http://schemas.microsoft.com/office/drawing/2014/main" id="{6D530B1D-095B-435E-A8A0-ACE8524FD534}"/>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3" name="Shape 21">
            <a:extLst xmlns:a="http://schemas.openxmlformats.org/drawingml/2006/main">
              <a:ext uri="{FF2B5EF4-FFF2-40B4-BE49-F238E27FC236}">
                <a16:creationId xmlns:a16="http://schemas.microsoft.com/office/drawing/2014/main" id="{55D4B42E-C953-43D0-B548-3F695E37047A}"/>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4" name="Text 22">
            <a:extLst xmlns:a="http://schemas.openxmlformats.org/drawingml/2006/main">
              <a:ext uri="{FF2B5EF4-FFF2-40B4-BE49-F238E27FC236}">
                <a16:creationId xmlns:a16="http://schemas.microsoft.com/office/drawing/2014/main" id="{AB7BC51C-445A-43CD-899B-B9EFEA777519}"/>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5" name="Text 23">
            <a:extLst xmlns:a="http://schemas.openxmlformats.org/drawingml/2006/main">
              <a:ext uri="{FF2B5EF4-FFF2-40B4-BE49-F238E27FC236}">
                <a16:creationId xmlns:a16="http://schemas.microsoft.com/office/drawing/2014/main" id="{822A0882-AB57-4811-A2B4-F659C9A2583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2</a:t>
            </a:r>
          </a:p>
        </p:txBody>
      </p:sp>
    </p:spTree>
    <p:extLst>
      <p:ext uri="{BB962C8B-B14F-4D97-AF65-F5344CB8AC3E}">
        <p14:creationId xmlns:p14="http://schemas.microsoft.com/office/powerpoint/2010/main" val="7839049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C00A25-03A9-4468-8E2C-69EB13B49AA0}"/>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Arm once; the rest is automatic</a:t>
            </a:r>
          </a:p>
        </p:txBody>
      </p:sp>
      <p:sp>
        <p:nvSpPr>
          <p:cNvPr id="3" name="Text 1">
            <a:extLst xmlns:a="http://schemas.openxmlformats.org/drawingml/2006/main">
              <a:ext uri="{FF2B5EF4-FFF2-40B4-BE49-F238E27FC236}">
                <a16:creationId xmlns:a16="http://schemas.microsoft.com/office/drawing/2014/main" id="{98C6F8B7-BDC7-4807-BF60-C1E26F1D17F8}"/>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1600">
                <a:solidFill>
                  <a:srgbClr val="5B6178"/>
                </a:solidFill>
                <a:latin typeface="Calibri"/>
                <a:ea typeface="Calibri"/>
                <a:cs typeface="Calibri"/>
              </a:rPr>
              <a:t>After a visible nightly Arm, the watch monitors and stays quiet unless strict gates pass.</a:t>
            </a:r>
          </a:p>
        </p:txBody>
      </p:sp>
      <p:sp>
        <p:nvSpPr>
          <p:cNvPr id="4" name="Shape 2">
            <a:extLst xmlns:a="http://schemas.openxmlformats.org/drawingml/2006/main">
              <a:ext uri="{FF2B5EF4-FFF2-40B4-BE49-F238E27FC236}">
                <a16:creationId xmlns:a16="http://schemas.microsoft.com/office/drawing/2014/main" id="{E779B187-401F-49F7-8E02-576B177D6D48}"/>
              </a:ext>
            </a:extLst>
          </p:cNvPr>
          <p:cNvSpPr>
            <a:spLocks xmlns:a="http://schemas.openxmlformats.org/drawingml/2006/main" noGrp="1"/>
          </p:cNvSpPr>
          <p:nvPr/>
        </p:nvSpPr>
        <p:spPr>
          <a:xfrm xmlns:a="http://schemas.openxmlformats.org/drawingml/2006/main">
            <a:off x="548640" y="2057400"/>
            <a:ext cx="5394960" cy="2423160"/>
          </a:xfrm>
          <a:prstGeom xmlns:a="http://schemas.openxmlformats.org/drawingml/2006/main" prst="roundRect">
            <a:avLst>
              <a:gd name="adj" fmla="val 3396"/>
            </a:avLst>
          </a:prstGeom>
          <a:solidFill xmlns:a="http://schemas.openxmlformats.org/drawingml/2006/main">
            <a:srgbClr val="F2F4FD"/>
          </a:solidFill>
          <a:ln xmlns:a="http://schemas.openxmlformats.org/drawingml/2006/main" w="12700">
            <a:solidFill>
              <a:srgbClr val="DDE2F7"/>
            </a:solidFill>
            <a:prstDash val="solid"/>
          </a:ln>
        </p:spPr>
      </p:sp>
      <p:sp>
        <p:nvSpPr>
          <p:cNvPr id="5" name="Shape 3">
            <a:extLst xmlns:a="http://schemas.openxmlformats.org/drawingml/2006/main">
              <a:ext uri="{FF2B5EF4-FFF2-40B4-BE49-F238E27FC236}">
                <a16:creationId xmlns:a16="http://schemas.microsoft.com/office/drawing/2014/main" id="{6FDEA5BC-D86C-4A54-B336-1FB3E750D117}"/>
              </a:ext>
            </a:extLst>
          </p:cNvPr>
          <p:cNvSpPr>
            <a:spLocks xmlns:a="http://schemas.openxmlformats.org/drawingml/2006/main" noGrp="1"/>
          </p:cNvSpPr>
          <p:nvPr/>
        </p:nvSpPr>
        <p:spPr>
          <a:xfrm xmlns:a="http://schemas.openxmlformats.org/drawingml/2006/main">
            <a:off x="868680" y="2377440"/>
            <a:ext cx="457200" cy="457200"/>
          </a:xfrm>
          <a:prstGeom xmlns:a="http://schemas.openxmlformats.org/drawingml/2006/main" prst="ellipse">
            <a:avLst/>
          </a:prstGeom>
          <a:solidFill xmlns:a="http://schemas.openxmlformats.org/drawingml/2006/main">
            <a:srgbClr val="5B6CE8"/>
          </a:solidFill>
        </p:spPr>
      </p:sp>
      <p:sp>
        <p:nvSpPr>
          <p:cNvPr id="6" name="Text 4">
            <a:extLst xmlns:a="http://schemas.openxmlformats.org/drawingml/2006/main">
              <a:ext uri="{FF2B5EF4-FFF2-40B4-BE49-F238E27FC236}">
                <a16:creationId xmlns:a16="http://schemas.microsoft.com/office/drawing/2014/main" id="{2DCBF279-7D32-4A80-A979-91656CEC01F6}"/>
              </a:ext>
            </a:extLst>
          </p:cNvPr>
          <p:cNvSpPr>
            <a:spLocks xmlns:a="http://schemas.openxmlformats.org/drawingml/2006/main" noGrp="1"/>
          </p:cNvSpPr>
          <p:nvPr/>
        </p:nvSpPr>
        <p:spPr>
          <a:xfrm xmlns:a="http://schemas.openxmlformats.org/drawingml/2006/main">
            <a:off x="1508760" y="23317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2247"/>
                </a:solidFill>
                <a:latin typeface="Calibri"/>
                <a:ea typeface="Calibri"/>
                <a:cs typeface="Calibri"/>
              </a:rPr>
              <a:t>Automatic likely-sleep detection</a:t>
            </a:r>
          </a:p>
        </p:txBody>
      </p:sp>
      <p:sp>
        <p:nvSpPr>
          <p:cNvPr id="7" name="Text 5">
            <a:extLst xmlns:a="http://schemas.openxmlformats.org/drawingml/2006/main">
              <a:ext uri="{FF2B5EF4-FFF2-40B4-BE49-F238E27FC236}">
                <a16:creationId xmlns:a16="http://schemas.microsoft.com/office/drawing/2014/main" id="{25B87213-20A6-42FC-B8ED-9CB38AF1F149}"/>
              </a:ext>
            </a:extLst>
          </p:cNvPr>
          <p:cNvSpPr>
            <a:spLocks xmlns:a="http://schemas.openxmlformats.org/drawingml/2006/main" noGrp="1"/>
          </p:cNvSpPr>
          <p:nvPr/>
        </p:nvSpPr>
        <p:spPr>
          <a:xfrm xmlns:a="http://schemas.openxmlformats.org/drawingml/2006/main">
            <a:off x="868680" y="3063240"/>
            <a:ext cx="47548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5B6178"/>
                </a:solidFill>
                <a:latin typeface="Calibri"/>
                <a:ea typeface="Calibri"/>
                <a:cs typeface="Calibri"/>
              </a:rPr>
              <a:t>Stillness, heart-rate change, signal quality, and time of night estimate onset.</a:t>
            </a:r>
          </a:p>
        </p:txBody>
      </p:sp>
      <p:sp>
        <p:nvSpPr>
          <p:cNvPr id="8" name="Shape 6">
            <a:extLst xmlns:a="http://schemas.openxmlformats.org/drawingml/2006/main">
              <a:ext uri="{FF2B5EF4-FFF2-40B4-BE49-F238E27FC236}">
                <a16:creationId xmlns:a16="http://schemas.microsoft.com/office/drawing/2014/main" id="{404AD3C0-EBB3-4D85-BE41-9598B999C9DB}"/>
              </a:ext>
            </a:extLst>
          </p:cNvPr>
          <p:cNvSpPr>
            <a:spLocks xmlns:a="http://schemas.openxmlformats.org/drawingml/2006/main" noGrp="1"/>
          </p:cNvSpPr>
          <p:nvPr/>
        </p:nvSpPr>
        <p:spPr>
          <a:xfrm xmlns:a="http://schemas.openxmlformats.org/drawingml/2006/main">
            <a:off x="6263640" y="2057400"/>
            <a:ext cx="5394960" cy="2423160"/>
          </a:xfrm>
          <a:prstGeom xmlns:a="http://schemas.openxmlformats.org/drawingml/2006/main" prst="roundRect">
            <a:avLst>
              <a:gd name="adj" fmla="val 3396"/>
            </a:avLst>
          </a:prstGeom>
          <a:solidFill xmlns:a="http://schemas.openxmlformats.org/drawingml/2006/main">
            <a:srgbClr val="F2F4FD"/>
          </a:solidFill>
          <a:ln xmlns:a="http://schemas.openxmlformats.org/drawingml/2006/main" w="12700">
            <a:solidFill>
              <a:srgbClr val="DDE2F7"/>
            </a:solidFill>
            <a:prstDash val="solid"/>
          </a:ln>
        </p:spPr>
      </p:sp>
      <p:sp>
        <p:nvSpPr>
          <p:cNvPr id="9" name="Shape 7">
            <a:extLst xmlns:a="http://schemas.openxmlformats.org/drawingml/2006/main">
              <a:ext uri="{FF2B5EF4-FFF2-40B4-BE49-F238E27FC236}">
                <a16:creationId xmlns:a16="http://schemas.microsoft.com/office/drawing/2014/main" id="{9D4DF420-C6FD-4495-9C88-4D01EEAD19AB}"/>
              </a:ext>
            </a:extLst>
          </p:cNvPr>
          <p:cNvSpPr>
            <a:spLocks xmlns:a="http://schemas.openxmlformats.org/drawingml/2006/main" noGrp="1"/>
          </p:cNvSpPr>
          <p:nvPr/>
        </p:nvSpPr>
        <p:spPr>
          <a:xfrm xmlns:a="http://schemas.openxmlformats.org/drawingml/2006/main">
            <a:off x="6583680" y="2377440"/>
            <a:ext cx="457200" cy="457200"/>
          </a:xfrm>
          <a:prstGeom xmlns:a="http://schemas.openxmlformats.org/drawingml/2006/main" prst="ellipse">
            <a:avLst/>
          </a:prstGeom>
          <a:solidFill xmlns:a="http://schemas.openxmlformats.org/drawingml/2006/main">
            <a:srgbClr val="818CF8"/>
          </a:solidFill>
        </p:spPr>
      </p:sp>
      <p:sp>
        <p:nvSpPr>
          <p:cNvPr id="10" name="Text 8">
            <a:extLst xmlns:a="http://schemas.openxmlformats.org/drawingml/2006/main">
              <a:ext uri="{FF2B5EF4-FFF2-40B4-BE49-F238E27FC236}">
                <a16:creationId xmlns:a16="http://schemas.microsoft.com/office/drawing/2014/main" id="{5E8E7211-6FA3-4093-AB7B-1C0345DF25AE}"/>
              </a:ext>
            </a:extLst>
          </p:cNvPr>
          <p:cNvSpPr>
            <a:spLocks xmlns:a="http://schemas.openxmlformats.org/drawingml/2006/main" noGrp="1"/>
          </p:cNvSpPr>
          <p:nvPr/>
        </p:nvSpPr>
        <p:spPr>
          <a:xfrm xmlns:a="http://schemas.openxmlformats.org/drawingml/2006/main">
            <a:off x="7223760" y="23317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2247"/>
                </a:solidFill>
                <a:latin typeface="Calibri"/>
                <a:ea typeface="Calibri"/>
                <a:cs typeface="Calibri"/>
              </a:rPr>
              <a:t>Quiet cue control</a:t>
            </a:r>
          </a:p>
        </p:txBody>
      </p:sp>
      <p:sp>
        <p:nvSpPr>
          <p:cNvPr id="11" name="Text 9">
            <a:extLst xmlns:a="http://schemas.openxmlformats.org/drawingml/2006/main">
              <a:ext uri="{FF2B5EF4-FFF2-40B4-BE49-F238E27FC236}">
                <a16:creationId xmlns:a16="http://schemas.microsoft.com/office/drawing/2014/main" id="{1511DC3B-01AA-465C-8BD1-D6A01B3E14B1}"/>
              </a:ext>
            </a:extLst>
          </p:cNvPr>
          <p:cNvSpPr>
            <a:spLocks xmlns:a="http://schemas.openxmlformats.org/drawingml/2006/main" noGrp="1"/>
          </p:cNvSpPr>
          <p:nvPr/>
        </p:nvSpPr>
        <p:spPr>
          <a:xfrm xmlns:a="http://schemas.openxmlformats.org/drawingml/2006/main">
            <a:off x="6583680" y="3063240"/>
            <a:ext cx="47548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5B6178"/>
                </a:solidFill>
                <a:latin typeface="Calibri"/>
                <a:ea typeface="Calibri"/>
                <a:cs typeface="Calibri"/>
              </a:rPr>
              <a:t>Arousal, stale sensors, off-wrist status, or low confidence blocks cues.</a:t>
            </a:r>
          </a:p>
        </p:txBody>
      </p:sp>
      <p:sp>
        <p:nvSpPr>
          <p:cNvPr id="12" name="Shape 10">
            <a:extLst xmlns:a="http://schemas.openxmlformats.org/drawingml/2006/main">
              <a:ext uri="{FF2B5EF4-FFF2-40B4-BE49-F238E27FC236}">
                <a16:creationId xmlns:a16="http://schemas.microsoft.com/office/drawing/2014/main" id="{EEE56C17-7F3B-4EBF-A238-2B92CE77CFF8}"/>
              </a:ext>
            </a:extLst>
          </p:cNvPr>
          <p:cNvSpPr>
            <a:spLocks xmlns:a="http://schemas.openxmlformats.org/drawingml/2006/main" noGrp="1"/>
          </p:cNvSpPr>
          <p:nvPr/>
        </p:nvSpPr>
        <p:spPr>
          <a:xfrm xmlns:a="http://schemas.openxmlformats.org/drawingml/2006/main">
            <a:off x="548640" y="4800600"/>
            <a:ext cx="11109960" cy="1051560"/>
          </a:xfrm>
          <a:prstGeom xmlns:a="http://schemas.openxmlformats.org/drawingml/2006/main" prst="roundRect">
            <a:avLst>
              <a:gd name="adj" fmla="val 7826"/>
            </a:avLst>
          </a:prstGeom>
          <a:solidFill xmlns:a="http://schemas.openxmlformats.org/drawingml/2006/main">
            <a:srgbClr val="1E2247"/>
          </a:solidFill>
          <a:ln xmlns:a="http://schemas.openxmlformats.org/drawingml/2006/main" w="12700">
            <a:solidFill>
              <a:srgbClr val="1E2247"/>
            </a:solidFill>
            <a:prstDash val="solid"/>
          </a:ln>
        </p:spPr>
      </p:sp>
      <p:sp>
        <p:nvSpPr>
          <p:cNvPr id="13" name="Text 11">
            <a:extLst xmlns:a="http://schemas.openxmlformats.org/drawingml/2006/main">
              <a:ext uri="{FF2B5EF4-FFF2-40B4-BE49-F238E27FC236}">
                <a16:creationId xmlns:a16="http://schemas.microsoft.com/office/drawing/2014/main" id="{B6447088-4B96-4B8C-B31C-733F64F1B623}"/>
              </a:ext>
            </a:extLst>
          </p:cNvPr>
          <p:cNvSpPr>
            <a:spLocks xmlns:a="http://schemas.openxmlformats.org/drawingml/2006/main" noGrp="1"/>
          </p:cNvSpPr>
          <p:nvPr/>
        </p:nvSpPr>
        <p:spPr>
          <a:xfrm xmlns:a="http://schemas.openxmlformats.org/drawingml/2006/main">
            <a:off x="914400" y="4983480"/>
            <a:ext cx="237744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WATCH</a:t>
            </a:r>
          </a:p>
        </p:txBody>
      </p:sp>
      <p:sp>
        <p:nvSpPr>
          <p:cNvPr id="14" name="Text 12">
            <a:extLst xmlns:a="http://schemas.openxmlformats.org/drawingml/2006/main">
              <a:ext uri="{FF2B5EF4-FFF2-40B4-BE49-F238E27FC236}">
                <a16:creationId xmlns:a16="http://schemas.microsoft.com/office/drawing/2014/main" id="{200F245F-7203-438D-BACB-054B056568F9}"/>
              </a:ext>
            </a:extLst>
          </p:cNvPr>
          <p:cNvSpPr>
            <a:spLocks xmlns:a="http://schemas.openxmlformats.org/drawingml/2006/main" noGrp="1"/>
          </p:cNvSpPr>
          <p:nvPr/>
        </p:nvSpPr>
        <p:spPr>
          <a:xfrm xmlns:a="http://schemas.openxmlformats.org/drawingml/2006/main">
            <a:off x="914400" y="5321808"/>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Senses and protects</a:t>
            </a:r>
          </a:p>
        </p:txBody>
      </p:sp>
      <p:sp>
        <p:nvSpPr>
          <p:cNvPr id="15" name="Shape 13">
            <a:extLst xmlns:a="http://schemas.openxmlformats.org/drawingml/2006/main">
              <a:ext uri="{FF2B5EF4-FFF2-40B4-BE49-F238E27FC236}">
                <a16:creationId xmlns:a16="http://schemas.microsoft.com/office/drawing/2014/main" id="{F1C3083D-1C8C-4869-B64E-7EFA9CCBF77F}"/>
              </a:ext>
            </a:extLst>
          </p:cNvPr>
          <p:cNvSpPr>
            <a:spLocks xmlns:a="http://schemas.openxmlformats.org/drawingml/2006/main" noGrp="1"/>
          </p:cNvSpPr>
          <p:nvPr/>
        </p:nvSpPr>
        <p:spPr>
          <a:xfrm xmlns:a="http://schemas.openxmlformats.org/drawingml/2006/main">
            <a:off x="6172200" y="5120640"/>
            <a:ext cx="822960" cy="411480"/>
          </a:xfrm>
          <a:prstGeom xmlns:a="http://schemas.openxmlformats.org/drawingml/2006/main" prst="rightArrow">
            <a:avLst/>
          </a:prstGeom>
          <a:solidFill xmlns:a="http://schemas.openxmlformats.org/drawingml/2006/main">
            <a:srgbClr val="5B6CE8"/>
          </a:solidFill>
        </p:spPr>
      </p:sp>
      <p:sp>
        <p:nvSpPr>
          <p:cNvPr id="16" name="Text 14">
            <a:extLst xmlns:a="http://schemas.openxmlformats.org/drawingml/2006/main">
              <a:ext uri="{FF2B5EF4-FFF2-40B4-BE49-F238E27FC236}">
                <a16:creationId xmlns:a16="http://schemas.microsoft.com/office/drawing/2014/main" id="{380B573E-B2BA-4D1E-9C6F-EEEA9BBC6407}"/>
              </a:ext>
            </a:extLst>
          </p:cNvPr>
          <p:cNvSpPr>
            <a:spLocks xmlns:a="http://schemas.openxmlformats.org/drawingml/2006/main" noGrp="1"/>
          </p:cNvSpPr>
          <p:nvPr/>
        </p:nvSpPr>
        <p:spPr>
          <a:xfrm xmlns:a="http://schemas.openxmlformats.org/drawingml/2006/main">
            <a:off x="7315200" y="4983480"/>
            <a:ext cx="237744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PHONE</a:t>
            </a:r>
          </a:p>
        </p:txBody>
      </p:sp>
      <p:sp>
        <p:nvSpPr>
          <p:cNvPr id="17" name="Text 15">
            <a:extLst xmlns:a="http://schemas.openxmlformats.org/drawingml/2006/main">
              <a:ext uri="{FF2B5EF4-FFF2-40B4-BE49-F238E27FC236}">
                <a16:creationId xmlns:a16="http://schemas.microsoft.com/office/drawing/2014/main" id="{7D88D88C-E26F-45DF-A89D-042259C05361}"/>
              </a:ext>
            </a:extLst>
          </p:cNvPr>
          <p:cNvSpPr>
            <a:spLocks xmlns:a="http://schemas.openxmlformats.org/drawingml/2006/main" noGrp="1"/>
          </p:cNvSpPr>
          <p:nvPr/>
        </p:nvSpPr>
        <p:spPr>
          <a:xfrm xmlns:a="http://schemas.openxmlformats.org/drawingml/2006/main">
            <a:off x="7315200" y="5321808"/>
            <a:ext cx="4114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Configures and reports</a:t>
            </a:r>
          </a:p>
        </p:txBody>
      </p:sp>
      <p:sp>
        <p:nvSpPr>
          <p:cNvPr id="18" name="Shape 16">
            <a:extLst xmlns:a="http://schemas.openxmlformats.org/drawingml/2006/main">
              <a:ext uri="{FF2B5EF4-FFF2-40B4-BE49-F238E27FC236}">
                <a16:creationId xmlns:a16="http://schemas.microsoft.com/office/drawing/2014/main" id="{B11C2CF3-FF61-409F-B7E8-920DCA0B01F9}"/>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9" name="Shape 17">
            <a:extLst xmlns:a="http://schemas.openxmlformats.org/drawingml/2006/main">
              <a:ext uri="{FF2B5EF4-FFF2-40B4-BE49-F238E27FC236}">
                <a16:creationId xmlns:a16="http://schemas.microsoft.com/office/drawing/2014/main" id="{1B4DFF30-AF31-455B-9C56-D4A9601DEDF1}"/>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0" name="Text 18">
            <a:extLst xmlns:a="http://schemas.openxmlformats.org/drawingml/2006/main">
              <a:ext uri="{FF2B5EF4-FFF2-40B4-BE49-F238E27FC236}">
                <a16:creationId xmlns:a16="http://schemas.microsoft.com/office/drawing/2014/main" id="{C5723DAA-D75F-4310-A600-4905C2FB967A}"/>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1" name="Text 19">
            <a:extLst xmlns:a="http://schemas.openxmlformats.org/drawingml/2006/main">
              <a:ext uri="{FF2B5EF4-FFF2-40B4-BE49-F238E27FC236}">
                <a16:creationId xmlns:a16="http://schemas.microsoft.com/office/drawing/2014/main" id="{6211C3F0-AFB6-4C2C-8DF2-AB0B0239BE2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3</a:t>
            </a:r>
          </a:p>
        </p:txBody>
      </p:sp>
    </p:spTree>
    <p:extLst>
      <p:ext uri="{BB962C8B-B14F-4D97-AF65-F5344CB8AC3E}">
        <p14:creationId xmlns:p14="http://schemas.microsoft.com/office/powerpoint/2010/main" val="13569200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5EF032-2476-42D3-AAD2-A987B4EFBD8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Research shows timing matters</a:t>
            </a:r>
          </a:p>
        </p:txBody>
      </p:sp>
      <p:sp>
        <p:nvSpPr>
          <p:cNvPr id="3" name="Text 1">
            <a:extLst xmlns:a="http://schemas.openxmlformats.org/drawingml/2006/main">
              <a:ext uri="{FF2B5EF4-FFF2-40B4-BE49-F238E27FC236}">
                <a16:creationId xmlns:a16="http://schemas.microsoft.com/office/drawing/2014/main" id="{C319E32C-E767-4A7F-BD4D-D0709DD816F5}"/>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Acoustic cues can shift sleep physiology under controlled conditions.</a:t>
            </a:r>
          </a:p>
        </p:txBody>
      </p:sp>
      <p:sp>
        <p:nvSpPr>
          <p:cNvPr id="4" name="Shape 2">
            <a:extLst xmlns:a="http://schemas.openxmlformats.org/drawingml/2006/main">
              <a:ext uri="{FF2B5EF4-FFF2-40B4-BE49-F238E27FC236}">
                <a16:creationId xmlns:a16="http://schemas.microsoft.com/office/drawing/2014/main" id="{59CE9C7C-5C62-48BB-ACF5-1365CC471757}"/>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39F3B024-33D5-47F3-AE1E-18B40175DC6F}"/>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217115A8-2F3C-4440-813A-B688A5C687A7}"/>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Closed-loop results</a:t>
            </a:r>
          </a:p>
        </p:txBody>
      </p:sp>
      <p:sp>
        <p:nvSpPr>
          <p:cNvPr id="7" name="Text 5">
            <a:extLst xmlns:a="http://schemas.openxmlformats.org/drawingml/2006/main">
              <a:ext uri="{FF2B5EF4-FFF2-40B4-BE49-F238E27FC236}">
                <a16:creationId xmlns:a16="http://schemas.microsoft.com/office/drawing/2014/main" id="{9686D3D7-AD81-41CD-BA92-CC2CD93D29B1}"/>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Phase-locked cues strengthened slow oscillations in EEG-guided studies.</a:t>
            </a:r>
          </a:p>
        </p:txBody>
      </p:sp>
      <p:sp>
        <p:nvSpPr>
          <p:cNvPr id="8" name="Text 6">
            <a:extLst xmlns:a="http://schemas.openxmlformats.org/drawingml/2006/main">
              <a:ext uri="{FF2B5EF4-FFF2-40B4-BE49-F238E27FC236}">
                <a16:creationId xmlns:a16="http://schemas.microsoft.com/office/drawing/2014/main" id="{43CD57E1-944C-442C-8DB9-CC4B9C508502}"/>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Ngo et al., 2013; 2015</a:t>
            </a:r>
          </a:p>
        </p:txBody>
      </p:sp>
      <p:sp>
        <p:nvSpPr>
          <p:cNvPr id="9" name="Shape 7">
            <a:extLst xmlns:a="http://schemas.openxmlformats.org/drawingml/2006/main">
              <a:ext uri="{FF2B5EF4-FFF2-40B4-BE49-F238E27FC236}">
                <a16:creationId xmlns:a16="http://schemas.microsoft.com/office/drawing/2014/main" id="{1D1D001D-7DFC-46FD-9A8E-9DE85B6960BD}"/>
              </a:ext>
            </a:extLst>
          </p:cNvPr>
          <p:cNvSpPr>
            <a:spLocks xmlns:a="http://schemas.openxmlformats.org/drawingml/2006/main" noGrp="1"/>
          </p:cNvSpPr>
          <p:nvPr/>
        </p:nvSpPr>
        <p:spPr>
          <a:xfrm xmlns:a="http://schemas.openxmlformats.org/drawingml/2006/main">
            <a:off x="548640" y="370332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658D75E2-BBF4-430A-9C03-CB44C796C77A}"/>
              </a:ext>
            </a:extLst>
          </p:cNvPr>
          <p:cNvSpPr>
            <a:spLocks xmlns:a="http://schemas.openxmlformats.org/drawingml/2006/main" noGrp="1"/>
          </p:cNvSpPr>
          <p:nvPr/>
        </p:nvSpPr>
        <p:spPr>
          <a:xfrm xmlns:a="http://schemas.openxmlformats.org/drawingml/2006/main">
            <a:off x="548640" y="370332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EBC5AF1E-8C99-4B65-8807-8EA8F611BA53}"/>
              </a:ext>
            </a:extLst>
          </p:cNvPr>
          <p:cNvSpPr>
            <a:spLocks xmlns:a="http://schemas.openxmlformats.org/drawingml/2006/main" noGrp="1"/>
          </p:cNvSpPr>
          <p:nvPr/>
        </p:nvSpPr>
        <p:spPr>
          <a:xfrm xmlns:a="http://schemas.openxmlformats.org/drawingml/2006/main">
            <a:off x="1115568" y="364845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Open-loop warning</a:t>
            </a:r>
          </a:p>
        </p:txBody>
      </p:sp>
      <p:sp>
        <p:nvSpPr>
          <p:cNvPr id="12" name="Text 10">
            <a:extLst xmlns:a="http://schemas.openxmlformats.org/drawingml/2006/main">
              <a:ext uri="{FF2B5EF4-FFF2-40B4-BE49-F238E27FC236}">
                <a16:creationId xmlns:a16="http://schemas.microsoft.com/office/drawing/2014/main" id="{A5FD37C3-7FBB-4C4B-B21D-3A3974FCAB42}"/>
              </a:ext>
            </a:extLst>
          </p:cNvPr>
          <p:cNvSpPr>
            <a:spLocks xmlns:a="http://schemas.openxmlformats.org/drawingml/2006/main" noGrp="1"/>
          </p:cNvSpPr>
          <p:nvPr/>
        </p:nvSpPr>
        <p:spPr>
          <a:xfrm xmlns:a="http://schemas.openxmlformats.org/drawingml/2006/main">
            <a:off x="1115568" y="401421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Poorly timed open-loop stimulation produced a null memory result.</a:t>
            </a:r>
          </a:p>
        </p:txBody>
      </p:sp>
      <p:sp>
        <p:nvSpPr>
          <p:cNvPr id="13" name="Text 11">
            <a:extLst xmlns:a="http://schemas.openxmlformats.org/drawingml/2006/main">
              <a:ext uri="{FF2B5EF4-FFF2-40B4-BE49-F238E27FC236}">
                <a16:creationId xmlns:a16="http://schemas.microsoft.com/office/drawing/2014/main" id="{F3FFF44F-18D2-4BD6-867D-AC6C874F5B14}"/>
              </a:ext>
            </a:extLst>
          </p:cNvPr>
          <p:cNvSpPr>
            <a:spLocks xmlns:a="http://schemas.openxmlformats.org/drawingml/2006/main" noGrp="1"/>
          </p:cNvSpPr>
          <p:nvPr/>
        </p:nvSpPr>
        <p:spPr>
          <a:xfrm xmlns:a="http://schemas.openxmlformats.org/drawingml/2006/main">
            <a:off x="1115568" y="463600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Weigenand et al., 2016</a:t>
            </a:r>
          </a:p>
        </p:txBody>
      </p:sp>
      <p:sp>
        <p:nvSpPr>
          <p:cNvPr id="14" name="Shape 12">
            <a:extLst xmlns:a="http://schemas.openxmlformats.org/drawingml/2006/main">
              <a:ext uri="{FF2B5EF4-FFF2-40B4-BE49-F238E27FC236}">
                <a16:creationId xmlns:a16="http://schemas.microsoft.com/office/drawing/2014/main" id="{8529BF12-D823-4604-8637-E50684C35DCF}"/>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2F4FD"/>
          </a:solidFill>
          <a:ln xmlns:a="http://schemas.openxmlformats.org/drawingml/2006/main" w="12700">
            <a:solidFill>
              <a:srgbClr val="DDE2F7"/>
            </a:solidFill>
            <a:prstDash val="solid"/>
          </a:ln>
        </p:spPr>
      </p:sp>
      <p:sp>
        <p:nvSpPr>
          <p:cNvPr id="15" name="Text 13">
            <a:extLst xmlns:a="http://schemas.openxmlformats.org/drawingml/2006/main">
              <a:ext uri="{FF2B5EF4-FFF2-40B4-BE49-F238E27FC236}">
                <a16:creationId xmlns:a16="http://schemas.microsoft.com/office/drawing/2014/main" id="{D033C923-732F-45C1-8E2E-92A5B54F1474}"/>
              </a:ext>
            </a:extLst>
          </p:cNvPr>
          <p:cNvSpPr>
            <a:spLocks xmlns:a="http://schemas.openxmlformats.org/drawingml/2006/main" noGrp="1"/>
          </p:cNvSpPr>
          <p:nvPr/>
        </p:nvSpPr>
        <p:spPr>
          <a:xfrm xmlns:a="http://schemas.openxmlformats.org/drawingml/2006/main">
            <a:off x="7863840" y="2377440"/>
            <a:ext cx="3566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E2247"/>
                </a:solidFill>
                <a:latin typeface="Calibri"/>
                <a:ea typeface="Calibri"/>
                <a:cs typeface="Calibri"/>
              </a:rPr>
              <a:t>DESIGN IMPLICATION</a:t>
            </a:r>
          </a:p>
        </p:txBody>
      </p:sp>
      <p:sp>
        <p:nvSpPr>
          <p:cNvPr id="16" name="Text 14">
            <a:extLst xmlns:a="http://schemas.openxmlformats.org/drawingml/2006/main">
              <a:ext uri="{FF2B5EF4-FFF2-40B4-BE49-F238E27FC236}">
                <a16:creationId xmlns:a16="http://schemas.microsoft.com/office/drawing/2014/main" id="{FA935CD7-409D-43BD-86AC-E34C7947176A}"/>
              </a:ext>
            </a:extLst>
          </p:cNvPr>
          <p:cNvSpPr>
            <a:spLocks xmlns:a="http://schemas.openxmlformats.org/drawingml/2006/main" noGrp="1"/>
          </p:cNvSpPr>
          <p:nvPr/>
        </p:nvSpPr>
        <p:spPr>
          <a:xfrm xmlns:a="http://schemas.openxmlformats.org/drawingml/2006/main">
            <a:off x="7635240" y="2880360"/>
            <a:ext cx="4023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defRPr sz="3300"/>
            </a:pPr>
            <a:r>
              <a:rPr sz="3300" b="1">
                <a:solidFill>
                  <a:srgbClr val="5B6CE8"/>
                </a:solidFill>
                <a:latin typeface="Cambria"/>
                <a:ea typeface="Cambria"/>
                <a:cs typeface="Cambria"/>
              </a:rPr>
              <a:t>TIMING FIRST</a:t>
            </a:r>
          </a:p>
        </p:txBody>
      </p:sp>
      <p:sp>
        <p:nvSpPr>
          <p:cNvPr id="17" name="Text 15">
            <a:extLst xmlns:a="http://schemas.openxmlformats.org/drawingml/2006/main">
              <a:ext uri="{FF2B5EF4-FFF2-40B4-BE49-F238E27FC236}">
                <a16:creationId xmlns:a16="http://schemas.microsoft.com/office/drawing/2014/main" id="{0E84BFAF-CB98-4028-801E-56C99553440F}"/>
              </a:ext>
            </a:extLst>
          </p:cNvPr>
          <p:cNvSpPr>
            <a:spLocks xmlns:a="http://schemas.openxmlformats.org/drawingml/2006/main" noGrp="1"/>
          </p:cNvSpPr>
          <p:nvPr/>
        </p:nvSpPr>
        <p:spPr>
          <a:xfrm xmlns:a="http://schemas.openxmlformats.org/drawingml/2006/main">
            <a:off x="7955280" y="3840480"/>
            <a:ext cx="34290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00">
                <a:solidFill>
                  <a:srgbClr val="5B6178"/>
                </a:solidFill>
                <a:latin typeface="Calibri"/>
                <a:ea typeface="Calibri"/>
                <a:cs typeface="Calibri"/>
              </a:rPr>
              <a:t>DreamSync uses conservative wrist-sensor gates, not EEG phase locking.</a:t>
            </a:r>
          </a:p>
        </p:txBody>
      </p:sp>
      <p:sp>
        <p:nvSpPr>
          <p:cNvPr id="18" name="Text 16">
            <a:extLst xmlns:a="http://schemas.openxmlformats.org/drawingml/2006/main">
              <a:ext uri="{FF2B5EF4-FFF2-40B4-BE49-F238E27FC236}">
                <a16:creationId xmlns:a16="http://schemas.microsoft.com/office/drawing/2014/main" id="{4951D4C5-8412-4A69-94B8-7E974D53BD7C}"/>
              </a:ext>
            </a:extLst>
          </p:cNvPr>
          <p:cNvSpPr>
            <a:spLocks xmlns:a="http://schemas.openxmlformats.org/drawingml/2006/main" noGrp="1"/>
          </p:cNvSpPr>
          <p:nvPr/>
        </p:nvSpPr>
        <p:spPr>
          <a:xfrm xmlns:a="http://schemas.openxmlformats.org/drawingml/2006/main">
            <a:off x="7955280" y="4709160"/>
            <a:ext cx="34290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1E2247"/>
                </a:solidFill>
                <a:latin typeface="Calibri"/>
                <a:ea typeface="Calibri"/>
                <a:cs typeface="Calibri"/>
              </a:rPr>
              <a:t>No memory claim. No guarantee. Stop at the first cue-linked arousal.</a:t>
            </a:r>
          </a:p>
        </p:txBody>
      </p:sp>
      <p:sp>
        <p:nvSpPr>
          <p:cNvPr id="19" name="Text 17">
            <a:extLst xmlns:a="http://schemas.openxmlformats.org/drawingml/2006/main">
              <a:ext uri="{FF2B5EF4-FFF2-40B4-BE49-F238E27FC236}">
                <a16:creationId xmlns:a16="http://schemas.microsoft.com/office/drawing/2014/main" id="{CECFBE91-B24E-44F6-8C60-8AEB71BA20BE}"/>
              </a:ext>
            </a:extLst>
          </p:cNvPr>
          <p:cNvSpPr>
            <a:spLocks xmlns:a="http://schemas.openxmlformats.org/drawingml/2006/main" noGrp="1"/>
          </p:cNvSpPr>
          <p:nvPr/>
        </p:nvSpPr>
        <p:spPr>
          <a:xfrm xmlns:a="http://schemas.openxmlformats.org/drawingml/2006/main">
            <a:off x="786384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i="1">
                <a:solidFill>
                  <a:srgbClr val="8A90A6"/>
                </a:solidFill>
                <a:latin typeface="Calibri"/>
                <a:ea typeface="Calibri"/>
                <a:cs typeface="Calibri"/>
              </a:rPr>
              <a:t>Peer-reviewed evidence · consumer prototype</a:t>
            </a:r>
          </a:p>
        </p:txBody>
      </p:sp>
      <p:sp>
        <p:nvSpPr>
          <p:cNvPr id="20" name="Shape 18">
            <a:extLst xmlns:a="http://schemas.openxmlformats.org/drawingml/2006/main">
              <a:ext uri="{FF2B5EF4-FFF2-40B4-BE49-F238E27FC236}">
                <a16:creationId xmlns:a16="http://schemas.microsoft.com/office/drawing/2014/main" id="{24DAE662-8036-4C48-8EAB-333658078CBD}"/>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E6CCE23D-89F0-4E8E-A760-5B67DB416248}"/>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D5087AEF-C046-4E1C-9640-FA3EFF7D29BC}"/>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3" name="Text 21">
            <a:extLst xmlns:a="http://schemas.openxmlformats.org/drawingml/2006/main">
              <a:ext uri="{FF2B5EF4-FFF2-40B4-BE49-F238E27FC236}">
                <a16:creationId xmlns:a16="http://schemas.microsoft.com/office/drawing/2014/main" id="{D2DB8C30-8B7F-4CA2-BA7C-42B3443D1C59}"/>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4</a:t>
            </a:r>
          </a:p>
        </p:txBody>
      </p:sp>
    </p:spTree>
    <p:extLst>
      <p:ext uri="{BB962C8B-B14F-4D97-AF65-F5344CB8AC3E}">
        <p14:creationId xmlns:p14="http://schemas.microsoft.com/office/powerpoint/2010/main" val="13508391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672E77-3313-4FC0-B4D1-CA7A19AB269C}"/>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Exact waveform, strict limits</a:t>
            </a:r>
          </a:p>
        </p:txBody>
      </p:sp>
      <p:sp>
        <p:nvSpPr>
          <p:cNvPr id="3" name="Text 1">
            <a:extLst xmlns:a="http://schemas.openxmlformats.org/drawingml/2006/main">
              <a:ext uri="{FF2B5EF4-FFF2-40B4-BE49-F238E27FC236}">
                <a16:creationId xmlns:a16="http://schemas.microsoft.com/office/drawing/2014/main" id="{33232D62-4357-453C-AC08-48FBC85F3754}"/>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A published paired-pulse pattern without a claim of EEG-level timing.</a:t>
            </a:r>
          </a:p>
        </p:txBody>
      </p:sp>
      <p:sp>
        <p:nvSpPr>
          <p:cNvPr id="4" name="Shape 2">
            <a:extLst xmlns:a="http://schemas.openxmlformats.org/drawingml/2006/main">
              <a:ext uri="{FF2B5EF4-FFF2-40B4-BE49-F238E27FC236}">
                <a16:creationId xmlns:a16="http://schemas.microsoft.com/office/drawing/2014/main" id="{1DB414C6-A284-4D9F-9870-E0B6B54168E7}"/>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0A0D8E87-5161-4242-8293-4FBDE80C78A2}"/>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57D6BF40-F722-4D9C-97EF-332D502E077D}"/>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50 ms pink-noise bursts</a:t>
            </a:r>
          </a:p>
        </p:txBody>
      </p:sp>
      <p:sp>
        <p:nvSpPr>
          <p:cNvPr id="7" name="Text 5">
            <a:extLst xmlns:a="http://schemas.openxmlformats.org/drawingml/2006/main">
              <a:ext uri="{FF2B5EF4-FFF2-40B4-BE49-F238E27FC236}">
                <a16:creationId xmlns:a16="http://schemas.microsoft.com/office/drawing/2014/main" id="{3020845D-A48A-4AE1-B0CD-ABE7A9EFB6E1}"/>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Each cue is short and calibrated. Waveforms preload before arming.</a:t>
            </a:r>
          </a:p>
        </p:txBody>
      </p:sp>
      <p:sp>
        <p:nvSpPr>
          <p:cNvPr id="8" name="Text 6">
            <a:extLst xmlns:a="http://schemas.openxmlformats.org/drawingml/2006/main">
              <a:ext uri="{FF2B5EF4-FFF2-40B4-BE49-F238E27FC236}">
                <a16:creationId xmlns:a16="http://schemas.microsoft.com/office/drawing/2014/main" id="{AAEC2E81-EC8E-4419-8EB0-074C0E783EDD}"/>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Besedovsky et al., 2017</a:t>
            </a:r>
          </a:p>
        </p:txBody>
      </p:sp>
      <p:sp>
        <p:nvSpPr>
          <p:cNvPr id="9" name="Shape 7">
            <a:extLst xmlns:a="http://schemas.openxmlformats.org/drawingml/2006/main">
              <a:ext uri="{FF2B5EF4-FFF2-40B4-BE49-F238E27FC236}">
                <a16:creationId xmlns:a16="http://schemas.microsoft.com/office/drawing/2014/main" id="{9A619418-CA48-4CF7-95F4-4D4B2E22350F}"/>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BE7746E6-DABB-445C-908D-E168C128FA80}"/>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132B6E4E-A955-4854-9DC9-926D1FB33408}"/>
              </a:ext>
            </a:extLst>
          </p:cNvPr>
          <p:cNvSpPr>
            <a:spLocks xmlns:a="http://schemas.openxmlformats.org/drawingml/2006/main" noGrp="1"/>
          </p:cNvSpPr>
          <p:nvPr/>
        </p:nvSpPr>
        <p:spPr>
          <a:xfrm xmlns:a="http://schemas.openxmlformats.org/drawingml/2006/main">
            <a:off x="1115568" y="373989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1.075 s onset spacing</a:t>
            </a:r>
          </a:p>
        </p:txBody>
      </p:sp>
      <p:sp>
        <p:nvSpPr>
          <p:cNvPr id="12" name="Text 10">
            <a:extLst xmlns:a="http://schemas.openxmlformats.org/drawingml/2006/main">
              <a:ext uri="{FF2B5EF4-FFF2-40B4-BE49-F238E27FC236}">
                <a16:creationId xmlns:a16="http://schemas.microsoft.com/office/drawing/2014/main" id="{419C0559-F748-4C17-860F-FEF9669165FC}"/>
              </a:ext>
            </a:extLst>
          </p:cNvPr>
          <p:cNvSpPr>
            <a:spLocks xmlns:a="http://schemas.openxmlformats.org/drawingml/2006/main" noGrp="1"/>
          </p:cNvSpPr>
          <p:nvPr/>
        </p:nvSpPr>
        <p:spPr>
          <a:xfrm xmlns:a="http://schemas.openxmlformats.org/drawingml/2006/main">
            <a:off x="1115568" y="410565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Paired bursts are scheduled early after estimated sleep onset.</a:t>
            </a:r>
          </a:p>
        </p:txBody>
      </p:sp>
      <p:sp>
        <p:nvSpPr>
          <p:cNvPr id="13" name="Text 11">
            <a:extLst xmlns:a="http://schemas.openxmlformats.org/drawingml/2006/main">
              <a:ext uri="{FF2B5EF4-FFF2-40B4-BE49-F238E27FC236}">
                <a16:creationId xmlns:a16="http://schemas.microsoft.com/office/drawing/2014/main" id="{4467CF5D-2B1A-4849-B2BC-FAABEB2C380F}"/>
              </a:ext>
            </a:extLst>
          </p:cNvPr>
          <p:cNvSpPr>
            <a:spLocks xmlns:a="http://schemas.openxmlformats.org/drawingml/2006/main" noGrp="1"/>
          </p:cNvSpPr>
          <p:nvPr/>
        </p:nvSpPr>
        <p:spPr>
          <a:xfrm xmlns:a="http://schemas.openxmlformats.org/drawingml/2006/main">
            <a:off x="1115568" y="472744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Nature Communications 8:1984</a:t>
            </a:r>
          </a:p>
        </p:txBody>
      </p:sp>
      <p:sp>
        <p:nvSpPr>
          <p:cNvPr id="14" name="Shape 12">
            <a:extLst xmlns:a="http://schemas.openxmlformats.org/drawingml/2006/main">
              <a:ext uri="{FF2B5EF4-FFF2-40B4-BE49-F238E27FC236}">
                <a16:creationId xmlns:a16="http://schemas.microsoft.com/office/drawing/2014/main" id="{9292919B-E8EE-4D88-81F0-1750B68BE82A}"/>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BF0E1"/>
          </a:solidFill>
          <a:ln xmlns:a="http://schemas.openxmlformats.org/drawingml/2006/main" w="12700">
            <a:solidFill>
              <a:srgbClr val="EAD8BE"/>
            </a:solidFill>
            <a:prstDash val="solid"/>
          </a:ln>
        </p:spPr>
      </p:sp>
      <p:sp>
        <p:nvSpPr>
          <p:cNvPr id="15" name="Shape 13">
            <a:extLst xmlns:a="http://schemas.openxmlformats.org/drawingml/2006/main">
              <a:ext uri="{FF2B5EF4-FFF2-40B4-BE49-F238E27FC236}">
                <a16:creationId xmlns:a16="http://schemas.microsoft.com/office/drawing/2014/main" id="{36D7F410-C5B5-45A3-B43E-2EB39FB33247}"/>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ellipse">
            <a:avLst/>
          </a:prstGeom>
          <a:solidFill xmlns:a="http://schemas.openxmlformats.org/drawingml/2006/main">
            <a:srgbClr val="B5722A"/>
          </a:solidFill>
        </p:spPr>
      </p:sp>
      <p:sp>
        <p:nvSpPr>
          <p:cNvPr id="16" name="Text 14">
            <a:extLst xmlns:a="http://schemas.openxmlformats.org/drawingml/2006/main">
              <a:ext uri="{FF2B5EF4-FFF2-40B4-BE49-F238E27FC236}">
                <a16:creationId xmlns:a16="http://schemas.microsoft.com/office/drawing/2014/main" id="{FB429D6A-663A-4982-AAB5-D4147298B58E}"/>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69878A52-BF14-4F4F-9977-0E79D140D109}"/>
              </a:ext>
            </a:extLst>
          </p:cNvPr>
          <p:cNvSpPr>
            <a:spLocks xmlns:a="http://schemas.openxmlformats.org/drawingml/2006/main" noGrp="1"/>
          </p:cNvSpPr>
          <p:nvPr/>
        </p:nvSpPr>
        <p:spPr>
          <a:xfrm xmlns:a="http://schemas.openxmlformats.org/drawingml/2006/main">
            <a:off x="8412480" y="2359152"/>
            <a:ext cx="3017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B5722A"/>
                </a:solidFill>
                <a:latin typeface="Calibri"/>
                <a:ea typeface="Calibri"/>
                <a:cs typeface="Calibri"/>
              </a:rPr>
              <a:t>WHAT THIS DOES NOT MEAN</a:t>
            </a:r>
          </a:p>
        </p:txBody>
      </p:sp>
      <p:sp>
        <p:nvSpPr>
          <p:cNvPr id="18" name="Text 16">
            <a:extLst xmlns:a="http://schemas.openxmlformats.org/drawingml/2006/main">
              <a:ext uri="{FF2B5EF4-FFF2-40B4-BE49-F238E27FC236}">
                <a16:creationId xmlns:a16="http://schemas.microsoft.com/office/drawing/2014/main" id="{15F15A12-BCFF-4E5E-84BF-4FB775A2DD12}"/>
              </a:ext>
            </a:extLst>
          </p:cNvPr>
          <p:cNvSpPr>
            <a:spLocks xmlns:a="http://schemas.openxmlformats.org/drawingml/2006/main" noGrp="1"/>
          </p:cNvSpPr>
          <p:nvPr/>
        </p:nvSpPr>
        <p:spPr>
          <a:xfrm xmlns:a="http://schemas.openxmlformats.org/drawingml/2006/main">
            <a:off x="7909560" y="2971800"/>
            <a:ext cx="35204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E5327"/>
                </a:solidFill>
                <a:latin typeface="Calibri"/>
                <a:ea typeface="Calibri"/>
                <a:cs typeface="Calibri"/>
              </a:rPr>
              <a:t>No EEG phase lock. No guaranteed deeper sleep, better memory, or uninterrupted sleep.</a:t>
            </a:r>
          </a:p>
        </p:txBody>
      </p:sp>
      <p:sp>
        <p:nvSpPr>
          <p:cNvPr id="19" name="Text 17">
            <a:extLst xmlns:a="http://schemas.openxmlformats.org/drawingml/2006/main">
              <a:ext uri="{FF2B5EF4-FFF2-40B4-BE49-F238E27FC236}">
                <a16:creationId xmlns:a16="http://schemas.microsoft.com/office/drawing/2014/main" id="{E3217600-7C20-40F1-BC30-E52536B05FDD}"/>
              </a:ext>
            </a:extLst>
          </p:cNvPr>
          <p:cNvSpPr>
            <a:spLocks xmlns:a="http://schemas.openxmlformats.org/drawingml/2006/main" noGrp="1"/>
          </p:cNvSpPr>
          <p:nvPr/>
        </p:nvSpPr>
        <p:spPr>
          <a:xfrm xmlns:a="http://schemas.openxmlformats.org/drawingml/2006/main">
            <a:off x="790956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A98A5A"/>
                </a:solidFill>
                <a:latin typeface="Calibri"/>
                <a:ea typeface="Calibri"/>
                <a:cs typeface="Calibri"/>
              </a:rPr>
              <a:t>DOI: 10.1038/s41467-017-02170-3</a:t>
            </a:r>
          </a:p>
        </p:txBody>
      </p:sp>
      <p:sp>
        <p:nvSpPr>
          <p:cNvPr id="20" name="Shape 18">
            <a:extLst xmlns:a="http://schemas.openxmlformats.org/drawingml/2006/main">
              <a:ext uri="{FF2B5EF4-FFF2-40B4-BE49-F238E27FC236}">
                <a16:creationId xmlns:a16="http://schemas.microsoft.com/office/drawing/2014/main" id="{1B4A8505-8D05-4C08-82D5-FECFDE415AAD}"/>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BC656B87-992F-40CC-ADE4-5CC222BCB4BA}"/>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644F663D-09BB-4A37-9730-D141AA41257D}"/>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3" name="Text 21">
            <a:extLst xmlns:a="http://schemas.openxmlformats.org/drawingml/2006/main">
              <a:ext uri="{FF2B5EF4-FFF2-40B4-BE49-F238E27FC236}">
                <a16:creationId xmlns:a16="http://schemas.microsoft.com/office/drawing/2014/main" id="{FFD24A49-4AA1-4F0E-9FD7-0117498A47C4}"/>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5</a:t>
            </a:r>
          </a:p>
        </p:txBody>
      </p:sp>
    </p:spTree>
    <p:extLst>
      <p:ext uri="{BB962C8B-B14F-4D97-AF65-F5344CB8AC3E}">
        <p14:creationId xmlns:p14="http://schemas.microsoft.com/office/powerpoint/2010/main" val="11878194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90D742-331E-4ADF-B087-EEAA0AC01C0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Learn the sleeper, then stay quiet</a:t>
            </a:r>
          </a:p>
        </p:txBody>
      </p:sp>
      <p:sp>
        <p:nvSpPr>
          <p:cNvPr id="3" name="Text 1">
            <a:extLst xmlns:a="http://schemas.openxmlformats.org/drawingml/2006/main">
              <a:ext uri="{FF2B5EF4-FFF2-40B4-BE49-F238E27FC236}">
                <a16:creationId xmlns:a16="http://schemas.microsoft.com/office/drawing/2014/main" id="{8F70CCB3-8226-49B0-99DF-6E378C7B0677}"/>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A seven-night rolling baseline adapts cautiously while safety gates stay in charge.</a:t>
            </a:r>
          </a:p>
        </p:txBody>
      </p:sp>
      <p:sp>
        <p:nvSpPr>
          <p:cNvPr id="4" name="Shape 2">
            <a:extLst xmlns:a="http://schemas.openxmlformats.org/drawingml/2006/main">
              <a:ext uri="{FF2B5EF4-FFF2-40B4-BE49-F238E27FC236}">
                <a16:creationId xmlns:a16="http://schemas.microsoft.com/office/drawing/2014/main" id="{7CF27229-B134-4B98-B06F-3BD06CE21C54}"/>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76992F0A-318B-496F-A8D6-7A2BE285666D}"/>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2FDDD572-D7BA-4016-A073-1FB665C947EE}"/>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Seven-night baseline</a:t>
            </a:r>
          </a:p>
        </p:txBody>
      </p:sp>
      <p:sp>
        <p:nvSpPr>
          <p:cNvPr id="7" name="Text 5">
            <a:extLst xmlns:a="http://schemas.openxmlformats.org/drawingml/2006/main">
              <a:ext uri="{FF2B5EF4-FFF2-40B4-BE49-F238E27FC236}">
                <a16:creationId xmlns:a16="http://schemas.microsoft.com/office/drawing/2014/main" id="{3B907873-0131-4C87-A84B-16C76DDAEE2A}"/>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Builds a personal pattern from motion, heart rate, timing, and signal quality.</a:t>
            </a:r>
          </a:p>
        </p:txBody>
      </p:sp>
      <p:sp>
        <p:nvSpPr>
          <p:cNvPr id="8" name="Text 6">
            <a:extLst xmlns:a="http://schemas.openxmlformats.org/drawingml/2006/main">
              <a:ext uri="{FF2B5EF4-FFF2-40B4-BE49-F238E27FC236}">
                <a16:creationId xmlns:a16="http://schemas.microsoft.com/office/drawing/2014/main" id="{7B5EB46C-D1B3-46CF-8603-6C20EB3392BF}"/>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Safe defaults are used on night one.</a:t>
            </a:r>
          </a:p>
        </p:txBody>
      </p:sp>
      <p:sp>
        <p:nvSpPr>
          <p:cNvPr id="9" name="Shape 7">
            <a:extLst xmlns:a="http://schemas.openxmlformats.org/drawingml/2006/main">
              <a:ext uri="{FF2B5EF4-FFF2-40B4-BE49-F238E27FC236}">
                <a16:creationId xmlns:a16="http://schemas.microsoft.com/office/drawing/2014/main" id="{0C509EAE-F4DA-40C0-97E2-0CF47B5404BA}"/>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7AF3A9CB-F81D-4860-9CF7-40310763DD98}"/>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83F1AF26-D5BB-420D-8386-FE460BAC913A}"/>
              </a:ext>
            </a:extLst>
          </p:cNvPr>
          <p:cNvSpPr>
            <a:spLocks xmlns:a="http://schemas.openxmlformats.org/drawingml/2006/main" noGrp="1"/>
          </p:cNvSpPr>
          <p:nvPr/>
        </p:nvSpPr>
        <p:spPr>
          <a:xfrm xmlns:a="http://schemas.openxmlformats.org/drawingml/2006/main">
            <a:off x="1115568" y="373989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More signals when supported</a:t>
            </a:r>
          </a:p>
        </p:txBody>
      </p:sp>
      <p:sp>
        <p:nvSpPr>
          <p:cNvPr id="12" name="Text 10">
            <a:extLst xmlns:a="http://schemas.openxmlformats.org/drawingml/2006/main">
              <a:ext uri="{FF2B5EF4-FFF2-40B4-BE49-F238E27FC236}">
                <a16:creationId xmlns:a16="http://schemas.microsoft.com/office/drawing/2014/main" id="{84DF9A7D-7B3D-4744-A098-811990CAFC03}"/>
              </a:ext>
            </a:extLst>
          </p:cNvPr>
          <p:cNvSpPr>
            <a:spLocks xmlns:a="http://schemas.openxmlformats.org/drawingml/2006/main" noGrp="1"/>
          </p:cNvSpPr>
          <p:nvPr/>
        </p:nvSpPr>
        <p:spPr>
          <a:xfrm xmlns:a="http://schemas.openxmlformats.org/drawingml/2006/main">
            <a:off x="1115568" y="410565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IBI/HRV, temperature trend, and off-wrist data can improve confidence.</a:t>
            </a:r>
          </a:p>
        </p:txBody>
      </p:sp>
      <p:sp>
        <p:nvSpPr>
          <p:cNvPr id="13" name="Text 11">
            <a:extLst xmlns:a="http://schemas.openxmlformats.org/drawingml/2006/main">
              <a:ext uri="{FF2B5EF4-FFF2-40B4-BE49-F238E27FC236}">
                <a16:creationId xmlns:a16="http://schemas.microsoft.com/office/drawing/2014/main" id="{CDBB4812-9AB4-4459-9EE7-1DFCE089A188}"/>
              </a:ext>
            </a:extLst>
          </p:cNvPr>
          <p:cNvSpPr>
            <a:spLocks xmlns:a="http://schemas.openxmlformats.org/drawingml/2006/main" noGrp="1"/>
          </p:cNvSpPr>
          <p:nvPr/>
        </p:nvSpPr>
        <p:spPr>
          <a:xfrm xmlns:a="http://schemas.openxmlformats.org/drawingml/2006/main">
            <a:off x="1115568" y="472744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Samsung sensor layer remains gated.</a:t>
            </a:r>
          </a:p>
        </p:txBody>
      </p:sp>
      <p:sp>
        <p:nvSpPr>
          <p:cNvPr id="14" name="Shape 12">
            <a:extLst xmlns:a="http://schemas.openxmlformats.org/drawingml/2006/main">
              <a:ext uri="{FF2B5EF4-FFF2-40B4-BE49-F238E27FC236}">
                <a16:creationId xmlns:a16="http://schemas.microsoft.com/office/drawing/2014/main" id="{48247CE0-07BB-41CF-8A13-33AE0FE52EF2}"/>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BF0E1"/>
          </a:solidFill>
          <a:ln xmlns:a="http://schemas.openxmlformats.org/drawingml/2006/main" w="12700">
            <a:solidFill>
              <a:srgbClr val="EAD8BE"/>
            </a:solidFill>
            <a:prstDash val="solid"/>
          </a:ln>
        </p:spPr>
      </p:sp>
      <p:sp>
        <p:nvSpPr>
          <p:cNvPr id="15" name="Shape 13">
            <a:extLst xmlns:a="http://schemas.openxmlformats.org/drawingml/2006/main">
              <a:ext uri="{FF2B5EF4-FFF2-40B4-BE49-F238E27FC236}">
                <a16:creationId xmlns:a16="http://schemas.microsoft.com/office/drawing/2014/main" id="{DD3F8C0A-8183-4313-AAAD-6D2664E29B15}"/>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ellipse">
            <a:avLst/>
          </a:prstGeom>
          <a:solidFill xmlns:a="http://schemas.openxmlformats.org/drawingml/2006/main">
            <a:srgbClr val="B5722A"/>
          </a:solidFill>
        </p:spPr>
      </p:sp>
      <p:sp>
        <p:nvSpPr>
          <p:cNvPr id="16" name="Text 14">
            <a:extLst xmlns:a="http://schemas.openxmlformats.org/drawingml/2006/main">
              <a:ext uri="{FF2B5EF4-FFF2-40B4-BE49-F238E27FC236}">
                <a16:creationId xmlns:a16="http://schemas.microsoft.com/office/drawing/2014/main" id="{BBE27CC4-5E17-4464-8950-D060286625A1}"/>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5FCD59A2-3CAC-4AE9-90D2-364BA0630345}"/>
              </a:ext>
            </a:extLst>
          </p:cNvPr>
          <p:cNvSpPr>
            <a:spLocks xmlns:a="http://schemas.openxmlformats.org/drawingml/2006/main" noGrp="1"/>
          </p:cNvSpPr>
          <p:nvPr/>
        </p:nvSpPr>
        <p:spPr>
          <a:xfrm xmlns:a="http://schemas.openxmlformats.org/drawingml/2006/main">
            <a:off x="8412480" y="2359152"/>
            <a:ext cx="3017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B5722A"/>
                </a:solidFill>
                <a:latin typeface="Calibri"/>
                <a:ea typeface="Calibri"/>
                <a:cs typeface="Calibri"/>
              </a:rPr>
              <a:t>SLEEP-FIRST RULES</a:t>
            </a:r>
          </a:p>
        </p:txBody>
      </p:sp>
      <p:sp>
        <p:nvSpPr>
          <p:cNvPr id="18" name="Text 16">
            <a:extLst xmlns:a="http://schemas.openxmlformats.org/drawingml/2006/main">
              <a:ext uri="{FF2B5EF4-FFF2-40B4-BE49-F238E27FC236}">
                <a16:creationId xmlns:a16="http://schemas.microsoft.com/office/drawing/2014/main" id="{7D0E964A-DDAB-46CF-99A4-F510B82AAA83}"/>
              </a:ext>
            </a:extLst>
          </p:cNvPr>
          <p:cNvSpPr>
            <a:spLocks xmlns:a="http://schemas.openxmlformats.org/drawingml/2006/main" noGrp="1"/>
          </p:cNvSpPr>
          <p:nvPr/>
        </p:nvSpPr>
        <p:spPr>
          <a:xfrm xmlns:a="http://schemas.openxmlformats.org/drawingml/2006/main">
            <a:off x="7909560" y="2971800"/>
            <a:ext cx="35204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E5327"/>
                </a:solidFill>
                <a:latin typeface="Calibri"/>
                <a:ea typeface="Calibri"/>
                <a:cs typeface="Calibri"/>
              </a:rPr>
              <a:t>No haptics during sleep. Stale data, off-wrist status, low battery, or low confidence disables cues.</a:t>
            </a:r>
          </a:p>
        </p:txBody>
      </p:sp>
      <p:sp>
        <p:nvSpPr>
          <p:cNvPr id="19" name="Text 17">
            <a:extLst xmlns:a="http://schemas.openxmlformats.org/drawingml/2006/main">
              <a:ext uri="{FF2B5EF4-FFF2-40B4-BE49-F238E27FC236}">
                <a16:creationId xmlns:a16="http://schemas.microsoft.com/office/drawing/2014/main" id="{FB0DE2B4-7EA3-49D3-B166-7417D4657E49}"/>
              </a:ext>
            </a:extLst>
          </p:cNvPr>
          <p:cNvSpPr>
            <a:spLocks xmlns:a="http://schemas.openxmlformats.org/drawingml/2006/main" noGrp="1"/>
          </p:cNvSpPr>
          <p:nvPr/>
        </p:nvSpPr>
        <p:spPr>
          <a:xfrm xmlns:a="http://schemas.openxmlformats.org/drawingml/2006/main">
            <a:off x="790956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A98A5A"/>
                </a:solidFill>
                <a:latin typeface="Calibri"/>
                <a:ea typeface="Calibri"/>
                <a:cs typeface="Calibri"/>
              </a:rPr>
              <a:t>Fail closed; never guess.</a:t>
            </a:r>
          </a:p>
        </p:txBody>
      </p:sp>
      <p:sp>
        <p:nvSpPr>
          <p:cNvPr id="20" name="Shape 18">
            <a:extLst xmlns:a="http://schemas.openxmlformats.org/drawingml/2006/main">
              <a:ext uri="{FF2B5EF4-FFF2-40B4-BE49-F238E27FC236}">
                <a16:creationId xmlns:a16="http://schemas.microsoft.com/office/drawing/2014/main" id="{1CCBE105-F8D7-4ADC-87DA-8B161AAA9696}"/>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7F82C549-2F27-40D2-9B1C-56F1C4B49624}"/>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A745FE93-DA9D-47E2-9AA5-81C20D2AA35B}"/>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3" name="Text 21">
            <a:extLst xmlns:a="http://schemas.openxmlformats.org/drawingml/2006/main">
              <a:ext uri="{FF2B5EF4-FFF2-40B4-BE49-F238E27FC236}">
                <a16:creationId xmlns:a16="http://schemas.microsoft.com/office/drawing/2014/main" id="{281BFEFD-359A-4C20-BE7B-816261A8C869}"/>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6</a:t>
            </a:r>
          </a:p>
        </p:txBody>
      </p:sp>
    </p:spTree>
    <p:extLst>
      <p:ext uri="{BB962C8B-B14F-4D97-AF65-F5344CB8AC3E}">
        <p14:creationId xmlns:p14="http://schemas.microsoft.com/office/powerpoint/2010/main" val="379765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45C67B-C6A5-4B67-B512-F073B13F22F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Automatic after Arm; fail closed</a:t>
            </a:r>
          </a:p>
        </p:txBody>
      </p:sp>
      <p:sp>
        <p:nvSpPr>
          <p:cNvPr id="3" name="Text 1">
            <a:extLst xmlns:a="http://schemas.openxmlformats.org/drawingml/2006/main">
              <a:ext uri="{FF2B5EF4-FFF2-40B4-BE49-F238E27FC236}">
                <a16:creationId xmlns:a16="http://schemas.microsoft.com/office/drawing/2014/main" id="{B2E0C45D-74B3-468A-84B0-CABAFE3D1664}"/>
              </a:ext>
            </a:extLst>
          </p:cNvPr>
          <p:cNvSpPr>
            <a:spLocks xmlns:a="http://schemas.openxmlformats.org/drawingml/2006/main" noGrp="1"/>
          </p:cNvSpPr>
          <p:nvPr/>
        </p:nvSpPr>
        <p:spPr>
          <a:xfrm xmlns:a="http://schemas.openxmlformats.org/drawingml/2006/main">
            <a:off x="548640" y="1188720"/>
            <a:ext cx="1097280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50">
                <a:solidFill>
                  <a:srgbClr val="5B6178"/>
                </a:solidFill>
                <a:latin typeface="Calibri"/>
                <a:ea typeface="Calibri"/>
                <a:cs typeface="Calibri"/>
              </a:rPr>
              <a:t>DreamSync acts only after evidence lines up, then backs off at the first sign of waking.</a:t>
            </a:r>
          </a:p>
        </p:txBody>
      </p:sp>
      <p:sp>
        <p:nvSpPr>
          <p:cNvPr id="4" name="Shape 2">
            <a:extLst xmlns:a="http://schemas.openxmlformats.org/drawingml/2006/main">
              <a:ext uri="{FF2B5EF4-FFF2-40B4-BE49-F238E27FC236}">
                <a16:creationId xmlns:a16="http://schemas.microsoft.com/office/drawing/2014/main" id="{427BF635-4E16-4F84-9DAA-7A2F1157907C}"/>
              </a:ext>
            </a:extLst>
          </p:cNvPr>
          <p:cNvSpPr>
            <a:spLocks xmlns:a="http://schemas.openxmlformats.org/drawingml/2006/main" noGrp="1"/>
          </p:cNvSpPr>
          <p:nvPr/>
        </p:nvSpPr>
        <p:spPr>
          <a:xfrm xmlns:a="http://schemas.openxmlformats.org/drawingml/2006/main">
            <a:off x="548640" y="196596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D51293A9-BC77-4AEA-BA10-69ED8243CBEA}"/>
              </a:ext>
            </a:extLst>
          </p:cNvPr>
          <p:cNvSpPr>
            <a:spLocks xmlns:a="http://schemas.openxmlformats.org/drawingml/2006/main" noGrp="1"/>
          </p:cNvSpPr>
          <p:nvPr/>
        </p:nvSpPr>
        <p:spPr>
          <a:xfrm xmlns:a="http://schemas.openxmlformats.org/drawingml/2006/main">
            <a:off x="548640" y="19659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E07E115D-F0B8-458E-87DF-65DD1C3A2E16}"/>
              </a:ext>
            </a:extLst>
          </p:cNvPr>
          <p:cNvSpPr>
            <a:spLocks xmlns:a="http://schemas.openxmlformats.org/drawingml/2006/main" noGrp="1"/>
          </p:cNvSpPr>
          <p:nvPr/>
        </p:nvSpPr>
        <p:spPr>
          <a:xfrm xmlns:a="http://schemas.openxmlformats.org/drawingml/2006/main">
            <a:off x="1115568" y="191109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Arm once</a:t>
            </a:r>
          </a:p>
        </p:txBody>
      </p:sp>
      <p:sp>
        <p:nvSpPr>
          <p:cNvPr id="7" name="Text 5">
            <a:extLst xmlns:a="http://schemas.openxmlformats.org/drawingml/2006/main">
              <a:ext uri="{FF2B5EF4-FFF2-40B4-BE49-F238E27FC236}">
                <a16:creationId xmlns:a16="http://schemas.microsoft.com/office/drawing/2014/main" id="{DFFCA621-6AB3-4C42-8423-43C2E5D2F330}"/>
              </a:ext>
            </a:extLst>
          </p:cNvPr>
          <p:cNvSpPr>
            <a:spLocks xmlns:a="http://schemas.openxmlformats.org/drawingml/2006/main" noGrp="1"/>
          </p:cNvSpPr>
          <p:nvPr/>
        </p:nvSpPr>
        <p:spPr>
          <a:xfrm xmlns:a="http://schemas.openxmlformats.org/drawingml/2006/main">
            <a:off x="1115568" y="227685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user starts one visible nightly session.</a:t>
            </a:r>
          </a:p>
        </p:txBody>
      </p:sp>
      <p:sp>
        <p:nvSpPr>
          <p:cNvPr id="8" name="Shape 6">
            <a:extLst xmlns:a="http://schemas.openxmlformats.org/drawingml/2006/main">
              <a:ext uri="{FF2B5EF4-FFF2-40B4-BE49-F238E27FC236}">
                <a16:creationId xmlns:a16="http://schemas.microsoft.com/office/drawing/2014/main" id="{1941ED88-7D31-4D21-8DE7-145974F10473}"/>
              </a:ext>
            </a:extLst>
          </p:cNvPr>
          <p:cNvSpPr>
            <a:spLocks xmlns:a="http://schemas.openxmlformats.org/drawingml/2006/main" noGrp="1"/>
          </p:cNvSpPr>
          <p:nvPr/>
        </p:nvSpPr>
        <p:spPr>
          <a:xfrm xmlns:a="http://schemas.openxmlformats.org/drawingml/2006/main">
            <a:off x="548640" y="3063240"/>
            <a:ext cx="402336" cy="402336"/>
          </a:xfrm>
          <a:prstGeom xmlns:a="http://schemas.openxmlformats.org/drawingml/2006/main" prst="ellipse">
            <a:avLst/>
          </a:prstGeom>
          <a:solidFill xmlns:a="http://schemas.openxmlformats.org/drawingml/2006/main">
            <a:srgbClr val="5B6CE8"/>
          </a:solidFill>
        </p:spPr>
      </p:sp>
      <p:sp>
        <p:nvSpPr>
          <p:cNvPr id="9" name="Text 7">
            <a:extLst xmlns:a="http://schemas.openxmlformats.org/drawingml/2006/main">
              <a:ext uri="{FF2B5EF4-FFF2-40B4-BE49-F238E27FC236}">
                <a16:creationId xmlns:a16="http://schemas.microsoft.com/office/drawing/2014/main" id="{972ED5D4-A68D-4CF4-AD23-CC6A568AB994}"/>
              </a:ext>
            </a:extLst>
          </p:cNvPr>
          <p:cNvSpPr>
            <a:spLocks xmlns:a="http://schemas.openxmlformats.org/drawingml/2006/main" noGrp="1"/>
          </p:cNvSpPr>
          <p:nvPr/>
        </p:nvSpPr>
        <p:spPr>
          <a:xfrm xmlns:a="http://schemas.openxmlformats.org/drawingml/2006/main">
            <a:off x="548640" y="30632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0" name="Text 8">
            <a:extLst xmlns:a="http://schemas.openxmlformats.org/drawingml/2006/main">
              <a:ext uri="{FF2B5EF4-FFF2-40B4-BE49-F238E27FC236}">
                <a16:creationId xmlns:a16="http://schemas.microsoft.com/office/drawing/2014/main" id="{47DB2679-B067-41BE-98AC-570624B14401}"/>
              </a:ext>
            </a:extLst>
          </p:cNvPr>
          <p:cNvSpPr>
            <a:spLocks xmlns:a="http://schemas.openxmlformats.org/drawingml/2006/main" noGrp="1"/>
          </p:cNvSpPr>
          <p:nvPr/>
        </p:nvSpPr>
        <p:spPr>
          <a:xfrm xmlns:a="http://schemas.openxmlformats.org/drawingml/2006/main">
            <a:off x="1115568" y="300837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Estimate onset</a:t>
            </a:r>
          </a:p>
        </p:txBody>
      </p:sp>
      <p:sp>
        <p:nvSpPr>
          <p:cNvPr id="11" name="Text 9">
            <a:extLst xmlns:a="http://schemas.openxmlformats.org/drawingml/2006/main">
              <a:ext uri="{FF2B5EF4-FFF2-40B4-BE49-F238E27FC236}">
                <a16:creationId xmlns:a16="http://schemas.microsoft.com/office/drawing/2014/main" id="{B73D2D0E-59DF-43A4-9BF2-9CA8B596C271}"/>
              </a:ext>
            </a:extLst>
          </p:cNvPr>
          <p:cNvSpPr>
            <a:spLocks xmlns:a="http://schemas.openxmlformats.org/drawingml/2006/main" noGrp="1"/>
          </p:cNvSpPr>
          <p:nvPr/>
        </p:nvSpPr>
        <p:spPr>
          <a:xfrm xmlns:a="http://schemas.openxmlformats.org/drawingml/2006/main">
            <a:off x="1115568" y="337413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Stillness, heart rate, quality, and time identify likely sleep.</a:t>
            </a:r>
          </a:p>
        </p:txBody>
      </p:sp>
      <p:sp>
        <p:nvSpPr>
          <p:cNvPr id="12" name="Shape 10">
            <a:extLst xmlns:a="http://schemas.openxmlformats.org/drawingml/2006/main">
              <a:ext uri="{FF2B5EF4-FFF2-40B4-BE49-F238E27FC236}">
                <a16:creationId xmlns:a16="http://schemas.microsoft.com/office/drawing/2014/main" id="{CC7C1CBE-AD90-45A1-9DE2-8CB30DEB1352}"/>
              </a:ext>
            </a:extLst>
          </p:cNvPr>
          <p:cNvSpPr>
            <a:spLocks xmlns:a="http://schemas.openxmlformats.org/drawingml/2006/main" noGrp="1"/>
          </p:cNvSpPr>
          <p:nvPr/>
        </p:nvSpPr>
        <p:spPr>
          <a:xfrm xmlns:a="http://schemas.openxmlformats.org/drawingml/2006/main">
            <a:off x="548640" y="4160520"/>
            <a:ext cx="402336" cy="402336"/>
          </a:xfrm>
          <a:prstGeom xmlns:a="http://schemas.openxmlformats.org/drawingml/2006/main" prst="ellipse">
            <a:avLst/>
          </a:prstGeom>
          <a:solidFill xmlns:a="http://schemas.openxmlformats.org/drawingml/2006/main">
            <a:srgbClr val="5B6CE8"/>
          </a:solidFill>
        </p:spPr>
      </p:sp>
      <p:sp>
        <p:nvSpPr>
          <p:cNvPr id="13" name="Text 11">
            <a:extLst xmlns:a="http://schemas.openxmlformats.org/drawingml/2006/main">
              <a:ext uri="{FF2B5EF4-FFF2-40B4-BE49-F238E27FC236}">
                <a16:creationId xmlns:a16="http://schemas.microsoft.com/office/drawing/2014/main" id="{7AF96CE4-CA70-40BC-A3B0-D1CD216E05AD}"/>
              </a:ext>
            </a:extLst>
          </p:cNvPr>
          <p:cNvSpPr>
            <a:spLocks xmlns:a="http://schemas.openxmlformats.org/drawingml/2006/main" noGrp="1"/>
          </p:cNvSpPr>
          <p:nvPr/>
        </p:nvSpPr>
        <p:spPr>
          <a:xfrm xmlns:a="http://schemas.openxmlformats.org/drawingml/2006/main">
            <a:off x="548640" y="416052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4" name="Text 12">
            <a:extLst xmlns:a="http://schemas.openxmlformats.org/drawingml/2006/main">
              <a:ext uri="{FF2B5EF4-FFF2-40B4-BE49-F238E27FC236}">
                <a16:creationId xmlns:a16="http://schemas.microsoft.com/office/drawing/2014/main" id="{E94E7CD1-BAEE-4C33-8DEB-1924E05DD7FE}"/>
              </a:ext>
            </a:extLst>
          </p:cNvPr>
          <p:cNvSpPr>
            <a:spLocks xmlns:a="http://schemas.openxmlformats.org/drawingml/2006/main" noGrp="1"/>
          </p:cNvSpPr>
          <p:nvPr/>
        </p:nvSpPr>
        <p:spPr>
          <a:xfrm xmlns:a="http://schemas.openxmlformats.org/drawingml/2006/main">
            <a:off x="1115568" y="410565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Require stability</a:t>
            </a:r>
          </a:p>
        </p:txBody>
      </p:sp>
      <p:sp>
        <p:nvSpPr>
          <p:cNvPr id="15" name="Text 13">
            <a:extLst xmlns:a="http://schemas.openxmlformats.org/drawingml/2006/main">
              <a:ext uri="{FF2B5EF4-FFF2-40B4-BE49-F238E27FC236}">
                <a16:creationId xmlns:a16="http://schemas.microsoft.com/office/drawing/2014/main" id="{8562D5C5-B222-40B8-8C30-2BD429048D92}"/>
              </a:ext>
            </a:extLst>
          </p:cNvPr>
          <p:cNvSpPr>
            <a:spLocks xmlns:a="http://schemas.openxmlformats.org/drawingml/2006/main" noGrp="1"/>
          </p:cNvSpPr>
          <p:nvPr/>
        </p:nvSpPr>
        <p:spPr>
          <a:xfrm xmlns:a="http://schemas.openxmlformats.org/drawingml/2006/main">
            <a:off x="1115568" y="447141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Confidence must hold before an unexpired cue is allowed.</a:t>
            </a:r>
          </a:p>
        </p:txBody>
      </p:sp>
      <p:sp>
        <p:nvSpPr>
          <p:cNvPr id="16" name="Shape 14">
            <a:extLst xmlns:a="http://schemas.openxmlformats.org/drawingml/2006/main">
              <a:ext uri="{FF2B5EF4-FFF2-40B4-BE49-F238E27FC236}">
                <a16:creationId xmlns:a16="http://schemas.microsoft.com/office/drawing/2014/main" id="{45E0CB28-7FA8-46AB-8891-F595A6A97150}"/>
              </a:ext>
            </a:extLst>
          </p:cNvPr>
          <p:cNvSpPr>
            <a:spLocks xmlns:a="http://schemas.openxmlformats.org/drawingml/2006/main" noGrp="1"/>
          </p:cNvSpPr>
          <p:nvPr/>
        </p:nvSpPr>
        <p:spPr>
          <a:xfrm xmlns:a="http://schemas.openxmlformats.org/drawingml/2006/main">
            <a:off x="548640" y="5257800"/>
            <a:ext cx="402336" cy="402336"/>
          </a:xfrm>
          <a:prstGeom xmlns:a="http://schemas.openxmlformats.org/drawingml/2006/main" prst="ellipse">
            <a:avLst/>
          </a:prstGeom>
          <a:solidFill xmlns:a="http://schemas.openxmlformats.org/drawingml/2006/main">
            <a:srgbClr val="5B6CE8"/>
          </a:solidFill>
        </p:spPr>
      </p:sp>
      <p:sp>
        <p:nvSpPr>
          <p:cNvPr id="17" name="Text 15">
            <a:extLst xmlns:a="http://schemas.openxmlformats.org/drawingml/2006/main">
              <a:ext uri="{FF2B5EF4-FFF2-40B4-BE49-F238E27FC236}">
                <a16:creationId xmlns:a16="http://schemas.microsoft.com/office/drawing/2014/main" id="{BAF3E79B-58DB-41DB-81C4-1AAE895FD1C9}"/>
              </a:ext>
            </a:extLst>
          </p:cNvPr>
          <p:cNvSpPr>
            <a:spLocks xmlns:a="http://schemas.openxmlformats.org/drawingml/2006/main" noGrp="1"/>
          </p:cNvSpPr>
          <p:nvPr/>
        </p:nvSpPr>
        <p:spPr>
          <a:xfrm xmlns:a="http://schemas.openxmlformats.org/drawingml/2006/main">
            <a:off x="548640" y="525780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4</a:t>
            </a:r>
          </a:p>
        </p:txBody>
      </p:sp>
      <p:sp>
        <p:nvSpPr>
          <p:cNvPr id="18" name="Text 16">
            <a:extLst xmlns:a="http://schemas.openxmlformats.org/drawingml/2006/main">
              <a:ext uri="{FF2B5EF4-FFF2-40B4-BE49-F238E27FC236}">
                <a16:creationId xmlns:a16="http://schemas.microsoft.com/office/drawing/2014/main" id="{29A103AC-867B-47E6-8A7B-DF2B051F0DC5}"/>
              </a:ext>
            </a:extLst>
          </p:cNvPr>
          <p:cNvSpPr>
            <a:spLocks xmlns:a="http://schemas.openxmlformats.org/drawingml/2006/main" noGrp="1"/>
          </p:cNvSpPr>
          <p:nvPr/>
        </p:nvSpPr>
        <p:spPr>
          <a:xfrm xmlns:a="http://schemas.openxmlformats.org/drawingml/2006/main">
            <a:off x="1115568" y="520293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Stop on arousal</a:t>
            </a:r>
          </a:p>
        </p:txBody>
      </p:sp>
      <p:sp>
        <p:nvSpPr>
          <p:cNvPr id="19" name="Text 17">
            <a:extLst xmlns:a="http://schemas.openxmlformats.org/drawingml/2006/main">
              <a:ext uri="{FF2B5EF4-FFF2-40B4-BE49-F238E27FC236}">
                <a16:creationId xmlns:a16="http://schemas.microsoft.com/office/drawing/2014/main" id="{D7CBF133-88AA-4164-A7C6-2AC5FA03996A}"/>
              </a:ext>
            </a:extLst>
          </p:cNvPr>
          <p:cNvSpPr>
            <a:spLocks xmlns:a="http://schemas.openxmlformats.org/drawingml/2006/main" noGrp="1"/>
          </p:cNvSpPr>
          <p:nvPr/>
        </p:nvSpPr>
        <p:spPr>
          <a:xfrm xmlns:a="http://schemas.openxmlformats.org/drawingml/2006/main">
            <a:off x="1115568" y="556869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first cue-linked wake signal disables cues for the night.</a:t>
            </a:r>
          </a:p>
        </p:txBody>
      </p:sp>
      <p:sp>
        <p:nvSpPr>
          <p:cNvPr id="20" name="Text 18">
            <a:extLst xmlns:a="http://schemas.openxmlformats.org/drawingml/2006/main">
              <a:ext uri="{FF2B5EF4-FFF2-40B4-BE49-F238E27FC236}">
                <a16:creationId xmlns:a16="http://schemas.microsoft.com/office/drawing/2014/main" id="{2383B348-071B-4C0A-89D2-69DA9920EC98}"/>
              </a:ext>
            </a:extLst>
          </p:cNvPr>
          <p:cNvSpPr>
            <a:spLocks xmlns:a="http://schemas.openxmlformats.org/drawingml/2006/main" noGrp="1"/>
          </p:cNvSpPr>
          <p:nvPr/>
        </p:nvSpPr>
        <p:spPr>
          <a:xfrm xmlns:a="http://schemas.openxmlformats.org/drawingml/2006/main">
            <a:off x="6492240" y="1874520"/>
            <a:ext cx="50749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E2247"/>
                </a:solidFill>
                <a:latin typeface="Calibri"/>
                <a:ea typeface="Calibri"/>
                <a:cs typeface="Calibri"/>
              </a:rPr>
              <a:t>Protection flow: stable sleep → possible arousal → quiet recovery</a:t>
            </a:r>
          </a:p>
        </p:txBody>
      </p:sp>
      <p:sp>
        <p:nvSpPr>
          <p:cNvPr id="21" name="Shape 19">
            <a:extLst xmlns:a="http://schemas.openxmlformats.org/drawingml/2006/main">
              <a:ext uri="{FF2B5EF4-FFF2-40B4-BE49-F238E27FC236}">
                <a16:creationId xmlns:a16="http://schemas.microsoft.com/office/drawing/2014/main" id="{8B228A22-FA86-4AC1-B6A8-5D2192274C78}"/>
              </a:ext>
            </a:extLst>
          </p:cNvPr>
          <p:cNvSpPr>
            <a:spLocks xmlns:a="http://schemas.openxmlformats.org/drawingml/2006/main" noGrp="1"/>
          </p:cNvSpPr>
          <p:nvPr/>
        </p:nvSpPr>
        <p:spPr>
          <a:xfrm xmlns:a="http://schemas.openxmlformats.org/drawingml/2006/main">
            <a:off x="6492240" y="5074920"/>
            <a:ext cx="5074920" cy="0"/>
          </a:xfrm>
          <a:prstGeom xmlns:a="http://schemas.openxmlformats.org/drawingml/2006/main" prst="line">
            <a:avLst/>
          </a:prstGeom>
          <a:noFill xmlns:a="http://schemas.openxmlformats.org/drawingml/2006/main"/>
          <a:ln xmlns:a="http://schemas.openxmlformats.org/drawingml/2006/main" w="12700">
            <a:solidFill>
              <a:srgbClr val="C9CEDF"/>
            </a:solidFill>
            <a:prstDash val="solid"/>
          </a:ln>
        </p:spPr>
      </p:sp>
      <p:sp>
        <p:nvSpPr>
          <p:cNvPr id="22" name="Shape 20">
            <a:extLst xmlns:a="http://schemas.openxmlformats.org/drawingml/2006/main">
              <a:ext uri="{FF2B5EF4-FFF2-40B4-BE49-F238E27FC236}">
                <a16:creationId xmlns:a16="http://schemas.microsoft.com/office/drawing/2014/main" id="{1CC00AD2-7CA9-4EBA-8A0C-265F3B7F7DAC}"/>
              </a:ext>
            </a:extLst>
          </p:cNvPr>
          <p:cNvSpPr>
            <a:spLocks xmlns:a="http://schemas.openxmlformats.org/drawingml/2006/main" noGrp="1"/>
          </p:cNvSpPr>
          <p:nvPr/>
        </p:nvSpPr>
        <p:spPr>
          <a:xfrm xmlns:a="http://schemas.openxmlformats.org/drawingml/2006/main">
            <a:off x="6629400" y="3520440"/>
            <a:ext cx="457200" cy="1554480"/>
          </a:xfrm>
          <a:prstGeom xmlns:a="http://schemas.openxmlformats.org/drawingml/2006/main" prst="rect">
            <a:avLst/>
          </a:prstGeom>
          <a:solidFill xmlns:a="http://schemas.openxmlformats.org/drawingml/2006/main">
            <a:srgbClr val="5B6CE8"/>
          </a:solidFill>
        </p:spPr>
      </p:sp>
      <p:sp>
        <p:nvSpPr>
          <p:cNvPr id="23" name="Shape 21">
            <a:extLst xmlns:a="http://schemas.openxmlformats.org/drawingml/2006/main">
              <a:ext uri="{FF2B5EF4-FFF2-40B4-BE49-F238E27FC236}">
                <a16:creationId xmlns:a16="http://schemas.microsoft.com/office/drawing/2014/main" id="{615B89A7-F08B-4ADD-8362-1B8F1FA560EB}"/>
              </a:ext>
            </a:extLst>
          </p:cNvPr>
          <p:cNvSpPr>
            <a:spLocks xmlns:a="http://schemas.openxmlformats.org/drawingml/2006/main" noGrp="1"/>
          </p:cNvSpPr>
          <p:nvPr/>
        </p:nvSpPr>
        <p:spPr>
          <a:xfrm xmlns:a="http://schemas.openxmlformats.org/drawingml/2006/main">
            <a:off x="7196328" y="3840480"/>
            <a:ext cx="457200" cy="1234440"/>
          </a:xfrm>
          <a:prstGeom xmlns:a="http://schemas.openxmlformats.org/drawingml/2006/main" prst="rect">
            <a:avLst/>
          </a:prstGeom>
          <a:solidFill xmlns:a="http://schemas.openxmlformats.org/drawingml/2006/main">
            <a:srgbClr val="5B6CE8"/>
          </a:solidFill>
        </p:spPr>
      </p:sp>
      <p:sp>
        <p:nvSpPr>
          <p:cNvPr id="24" name="Shape 22">
            <a:extLst xmlns:a="http://schemas.openxmlformats.org/drawingml/2006/main">
              <a:ext uri="{FF2B5EF4-FFF2-40B4-BE49-F238E27FC236}">
                <a16:creationId xmlns:a16="http://schemas.microsoft.com/office/drawing/2014/main" id="{8B16E53B-09E7-4A40-8043-DE4685A0F5DF}"/>
              </a:ext>
            </a:extLst>
          </p:cNvPr>
          <p:cNvSpPr>
            <a:spLocks xmlns:a="http://schemas.openxmlformats.org/drawingml/2006/main" noGrp="1"/>
          </p:cNvSpPr>
          <p:nvPr/>
        </p:nvSpPr>
        <p:spPr>
          <a:xfrm xmlns:a="http://schemas.openxmlformats.org/drawingml/2006/main">
            <a:off x="7763256" y="4206240"/>
            <a:ext cx="457200" cy="868680"/>
          </a:xfrm>
          <a:prstGeom xmlns:a="http://schemas.openxmlformats.org/drawingml/2006/main" prst="rect">
            <a:avLst/>
          </a:prstGeom>
          <a:solidFill xmlns:a="http://schemas.openxmlformats.org/drawingml/2006/main">
            <a:srgbClr val="5B6CE8"/>
          </a:solidFill>
        </p:spPr>
      </p:sp>
      <p:sp>
        <p:nvSpPr>
          <p:cNvPr id="25" name="Shape 23">
            <a:extLst xmlns:a="http://schemas.openxmlformats.org/drawingml/2006/main">
              <a:ext uri="{FF2B5EF4-FFF2-40B4-BE49-F238E27FC236}">
                <a16:creationId xmlns:a16="http://schemas.microsoft.com/office/drawing/2014/main" id="{17BF38FE-0A6E-4D39-B151-5B7CC2E07034}"/>
              </a:ext>
            </a:extLst>
          </p:cNvPr>
          <p:cNvSpPr>
            <a:spLocks xmlns:a="http://schemas.openxmlformats.org/drawingml/2006/main" noGrp="1"/>
          </p:cNvSpPr>
          <p:nvPr/>
        </p:nvSpPr>
        <p:spPr>
          <a:xfrm xmlns:a="http://schemas.openxmlformats.org/drawingml/2006/main">
            <a:off x="8330184" y="4572000"/>
            <a:ext cx="457200" cy="502920"/>
          </a:xfrm>
          <a:prstGeom xmlns:a="http://schemas.openxmlformats.org/drawingml/2006/main" prst="rect">
            <a:avLst/>
          </a:prstGeom>
          <a:solidFill xmlns:a="http://schemas.openxmlformats.org/drawingml/2006/main">
            <a:srgbClr val="5B6CE8"/>
          </a:solidFill>
        </p:spPr>
      </p:sp>
      <p:sp>
        <p:nvSpPr>
          <p:cNvPr id="26" name="Shape 24">
            <a:extLst xmlns:a="http://schemas.openxmlformats.org/drawingml/2006/main">
              <a:ext uri="{FF2B5EF4-FFF2-40B4-BE49-F238E27FC236}">
                <a16:creationId xmlns:a16="http://schemas.microsoft.com/office/drawing/2014/main" id="{090EA405-BC2D-4DB8-BB47-71F489231AA4}"/>
              </a:ext>
            </a:extLst>
          </p:cNvPr>
          <p:cNvSpPr>
            <a:spLocks xmlns:a="http://schemas.openxmlformats.org/drawingml/2006/main" noGrp="1"/>
          </p:cNvSpPr>
          <p:nvPr/>
        </p:nvSpPr>
        <p:spPr>
          <a:xfrm xmlns:a="http://schemas.openxmlformats.org/drawingml/2006/main">
            <a:off x="9235440" y="4617720"/>
            <a:ext cx="457200" cy="457200"/>
          </a:xfrm>
          <a:prstGeom xmlns:a="http://schemas.openxmlformats.org/drawingml/2006/main" prst="rect">
            <a:avLst/>
          </a:prstGeom>
          <a:solidFill xmlns:a="http://schemas.openxmlformats.org/drawingml/2006/main">
            <a:srgbClr val="818CF8"/>
          </a:solidFill>
        </p:spPr>
      </p:sp>
      <p:sp>
        <p:nvSpPr>
          <p:cNvPr id="27" name="Shape 25">
            <a:extLst xmlns:a="http://schemas.openxmlformats.org/drawingml/2006/main">
              <a:ext uri="{FF2B5EF4-FFF2-40B4-BE49-F238E27FC236}">
                <a16:creationId xmlns:a16="http://schemas.microsoft.com/office/drawing/2014/main" id="{564737E6-ECBC-4D31-B4CD-87696FCB999A}"/>
              </a:ext>
            </a:extLst>
          </p:cNvPr>
          <p:cNvSpPr>
            <a:spLocks xmlns:a="http://schemas.openxmlformats.org/drawingml/2006/main" noGrp="1"/>
          </p:cNvSpPr>
          <p:nvPr/>
        </p:nvSpPr>
        <p:spPr>
          <a:xfrm xmlns:a="http://schemas.openxmlformats.org/drawingml/2006/main">
            <a:off x="9802368" y="4343400"/>
            <a:ext cx="457200" cy="731520"/>
          </a:xfrm>
          <a:prstGeom xmlns:a="http://schemas.openxmlformats.org/drawingml/2006/main" prst="rect">
            <a:avLst/>
          </a:prstGeom>
          <a:solidFill xmlns:a="http://schemas.openxmlformats.org/drawingml/2006/main">
            <a:srgbClr val="818CF8"/>
          </a:solidFill>
        </p:spPr>
      </p:sp>
      <p:sp>
        <p:nvSpPr>
          <p:cNvPr id="28" name="Shape 26">
            <a:extLst xmlns:a="http://schemas.openxmlformats.org/drawingml/2006/main">
              <a:ext uri="{FF2B5EF4-FFF2-40B4-BE49-F238E27FC236}">
                <a16:creationId xmlns:a16="http://schemas.microsoft.com/office/drawing/2014/main" id="{451037C1-E539-47C8-930B-A828658CF270}"/>
              </a:ext>
            </a:extLst>
          </p:cNvPr>
          <p:cNvSpPr>
            <a:spLocks xmlns:a="http://schemas.openxmlformats.org/drawingml/2006/main" noGrp="1"/>
          </p:cNvSpPr>
          <p:nvPr/>
        </p:nvSpPr>
        <p:spPr>
          <a:xfrm xmlns:a="http://schemas.openxmlformats.org/drawingml/2006/main">
            <a:off x="10369296" y="4023360"/>
            <a:ext cx="457200" cy="1051560"/>
          </a:xfrm>
          <a:prstGeom xmlns:a="http://schemas.openxmlformats.org/drawingml/2006/main" prst="rect">
            <a:avLst/>
          </a:prstGeom>
          <a:solidFill xmlns:a="http://schemas.openxmlformats.org/drawingml/2006/main">
            <a:srgbClr val="818CF8"/>
          </a:solidFill>
        </p:spPr>
      </p:sp>
      <p:sp>
        <p:nvSpPr>
          <p:cNvPr id="29" name="Shape 27">
            <a:extLst xmlns:a="http://schemas.openxmlformats.org/drawingml/2006/main">
              <a:ext uri="{FF2B5EF4-FFF2-40B4-BE49-F238E27FC236}">
                <a16:creationId xmlns:a16="http://schemas.microsoft.com/office/drawing/2014/main" id="{6CCC3F91-DDB7-47FF-8D80-694200C3D5F2}"/>
              </a:ext>
            </a:extLst>
          </p:cNvPr>
          <p:cNvSpPr>
            <a:spLocks xmlns:a="http://schemas.openxmlformats.org/drawingml/2006/main" noGrp="1"/>
          </p:cNvSpPr>
          <p:nvPr/>
        </p:nvSpPr>
        <p:spPr>
          <a:xfrm xmlns:a="http://schemas.openxmlformats.org/drawingml/2006/main">
            <a:off x="10936224" y="3703320"/>
            <a:ext cx="457200" cy="1371600"/>
          </a:xfrm>
          <a:prstGeom xmlns:a="http://schemas.openxmlformats.org/drawingml/2006/main" prst="rect">
            <a:avLst/>
          </a:prstGeom>
          <a:solidFill xmlns:a="http://schemas.openxmlformats.org/drawingml/2006/main">
            <a:srgbClr val="818CF8"/>
          </a:solidFill>
        </p:spPr>
      </p:sp>
      <p:sp>
        <p:nvSpPr>
          <p:cNvPr id="30" name="Text 28">
            <a:extLst xmlns:a="http://schemas.openxmlformats.org/drawingml/2006/main">
              <a:ext uri="{FF2B5EF4-FFF2-40B4-BE49-F238E27FC236}">
                <a16:creationId xmlns:a16="http://schemas.microsoft.com/office/drawing/2014/main" id="{14610720-A35E-48D4-992A-0FA59607BA2B}"/>
              </a:ext>
            </a:extLst>
          </p:cNvPr>
          <p:cNvSpPr>
            <a:spLocks xmlns:a="http://schemas.openxmlformats.org/drawingml/2006/main" noGrp="1"/>
          </p:cNvSpPr>
          <p:nvPr/>
        </p:nvSpPr>
        <p:spPr>
          <a:xfrm xmlns:a="http://schemas.openxmlformats.org/drawingml/2006/main">
            <a:off x="6537960" y="5166360"/>
            <a:ext cx="2286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B6CE8"/>
                </a:solidFill>
                <a:latin typeface="Calibri"/>
                <a:ea typeface="Calibri"/>
                <a:cs typeface="Calibri"/>
              </a:rPr>
              <a:t>Stable sleep</a:t>
            </a:r>
          </a:p>
        </p:txBody>
      </p:sp>
      <p:sp>
        <p:nvSpPr>
          <p:cNvPr id="31" name="Text 29">
            <a:extLst xmlns:a="http://schemas.openxmlformats.org/drawingml/2006/main">
              <a:ext uri="{FF2B5EF4-FFF2-40B4-BE49-F238E27FC236}">
                <a16:creationId xmlns:a16="http://schemas.microsoft.com/office/drawing/2014/main" id="{340CF805-0774-4589-9ABC-ED54820E451B}"/>
              </a:ext>
            </a:extLst>
          </p:cNvPr>
          <p:cNvSpPr>
            <a:spLocks xmlns:a="http://schemas.openxmlformats.org/drawingml/2006/main" noGrp="1"/>
          </p:cNvSpPr>
          <p:nvPr/>
        </p:nvSpPr>
        <p:spPr>
          <a:xfrm xmlns:a="http://schemas.openxmlformats.org/drawingml/2006/main">
            <a:off x="9189720" y="5166360"/>
            <a:ext cx="2286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00" b="1">
                <a:solidFill>
                  <a:srgbClr val="818CF8"/>
                </a:solidFill>
                <a:latin typeface="Calibri"/>
                <a:ea typeface="Calibri"/>
                <a:cs typeface="Calibri"/>
              </a:rPr>
              <a:t>Possible arousal</a:t>
            </a:r>
          </a:p>
        </p:txBody>
      </p:sp>
      <p:sp>
        <p:nvSpPr>
          <p:cNvPr id="32" name="Text 30">
            <a:extLst xmlns:a="http://schemas.openxmlformats.org/drawingml/2006/main">
              <a:ext uri="{FF2B5EF4-FFF2-40B4-BE49-F238E27FC236}">
                <a16:creationId xmlns:a16="http://schemas.microsoft.com/office/drawing/2014/main" id="{1A32BD29-56EC-4DD2-A6A5-8E1F4521947E}"/>
              </a:ext>
            </a:extLst>
          </p:cNvPr>
          <p:cNvSpPr>
            <a:spLocks xmlns:a="http://schemas.openxmlformats.org/drawingml/2006/main" noGrp="1"/>
          </p:cNvSpPr>
          <p:nvPr/>
        </p:nvSpPr>
        <p:spPr>
          <a:xfrm xmlns:a="http://schemas.openxmlformats.org/drawingml/2006/main">
            <a:off x="6492240" y="5486400"/>
            <a:ext cx="548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B6178"/>
                </a:solidFill>
                <a:latin typeface="Calibri"/>
                <a:ea typeface="Calibri"/>
                <a:cs typeface="Calibri"/>
              </a:rPr>
              <a:t>Onset</a:t>
            </a:r>
          </a:p>
        </p:txBody>
      </p:sp>
      <p:sp>
        <p:nvSpPr>
          <p:cNvPr id="33" name="Text 31">
            <a:extLst xmlns:a="http://schemas.openxmlformats.org/drawingml/2006/main">
              <a:ext uri="{FF2B5EF4-FFF2-40B4-BE49-F238E27FC236}">
                <a16:creationId xmlns:a16="http://schemas.microsoft.com/office/drawing/2014/main" id="{9A26A72B-9A7D-48F7-B6CB-882081EB7570}"/>
              </a:ext>
            </a:extLst>
          </p:cNvPr>
          <p:cNvSpPr>
            <a:spLocks xmlns:a="http://schemas.openxmlformats.org/drawingml/2006/main" noGrp="1"/>
          </p:cNvSpPr>
          <p:nvPr/>
        </p:nvSpPr>
        <p:spPr>
          <a:xfrm xmlns:a="http://schemas.openxmlformats.org/drawingml/2006/main">
            <a:off x="11018520" y="5486400"/>
            <a:ext cx="548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178"/>
                </a:solidFill>
                <a:latin typeface="Calibri"/>
                <a:ea typeface="Calibri"/>
                <a:cs typeface="Calibri"/>
              </a:rPr>
              <a:t>~8 h</a:t>
            </a:r>
          </a:p>
        </p:txBody>
      </p:sp>
      <p:sp>
        <p:nvSpPr>
          <p:cNvPr id="34" name="Shape 32">
            <a:extLst xmlns:a="http://schemas.openxmlformats.org/drawingml/2006/main">
              <a:ext uri="{FF2B5EF4-FFF2-40B4-BE49-F238E27FC236}">
                <a16:creationId xmlns:a16="http://schemas.microsoft.com/office/drawing/2014/main" id="{0285540F-EA9F-4522-A15A-BB2F02A031B7}"/>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35" name="Shape 33">
            <a:extLst xmlns:a="http://schemas.openxmlformats.org/drawingml/2006/main">
              <a:ext uri="{FF2B5EF4-FFF2-40B4-BE49-F238E27FC236}">
                <a16:creationId xmlns:a16="http://schemas.microsoft.com/office/drawing/2014/main" id="{C46C7A89-6D3B-4174-B67A-A42FEC53DBA2}"/>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36" name="Text 34">
            <a:extLst xmlns:a="http://schemas.openxmlformats.org/drawingml/2006/main">
              <a:ext uri="{FF2B5EF4-FFF2-40B4-BE49-F238E27FC236}">
                <a16:creationId xmlns:a16="http://schemas.microsoft.com/office/drawing/2014/main" id="{608A63CA-8A8A-4FFF-BBF0-07CAFE1927C3}"/>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37" name="Text 35">
            <a:extLst xmlns:a="http://schemas.openxmlformats.org/drawingml/2006/main">
              <a:ext uri="{FF2B5EF4-FFF2-40B4-BE49-F238E27FC236}">
                <a16:creationId xmlns:a16="http://schemas.microsoft.com/office/drawing/2014/main" id="{C19B7CC0-93E8-4E4B-B06C-F9853D713C15}"/>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7</a:t>
            </a:r>
          </a:p>
        </p:txBody>
      </p:sp>
    </p:spTree>
    <p:extLst>
      <p:ext uri="{BB962C8B-B14F-4D97-AF65-F5344CB8AC3E}">
        <p14:creationId xmlns:p14="http://schemas.microsoft.com/office/powerpoint/2010/main" val="3121191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3565D3-E856-4A0A-BCF4-AF924D276A1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Compatibility follows capability</a:t>
            </a:r>
          </a:p>
        </p:txBody>
      </p:sp>
      <p:sp>
        <p:nvSpPr>
          <p:cNvPr id="3" name="Text 1">
            <a:extLst xmlns:a="http://schemas.openxmlformats.org/drawingml/2006/main">
              <a:ext uri="{FF2B5EF4-FFF2-40B4-BE49-F238E27FC236}">
                <a16:creationId xmlns:a16="http://schemas.microsoft.com/office/drawing/2014/main" id="{8A0A66DB-BD91-4903-B9C6-A8258A5976C7}"/>
              </a:ext>
            </a:extLst>
          </p:cNvPr>
          <p:cNvSpPr>
            <a:spLocks xmlns:a="http://schemas.openxmlformats.org/drawingml/2006/main" noGrp="1"/>
          </p:cNvSpPr>
          <p:nvPr/>
        </p:nvSpPr>
        <p:spPr>
          <a:xfrm xmlns:a="http://schemas.openxmlformats.org/drawingml/2006/main">
            <a:off x="548640" y="1188720"/>
            <a:ext cx="1097280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DreamSync checks model, sensors, software, permissions, and on-wrist status.</a:t>
            </a:r>
          </a:p>
        </p:txBody>
      </p:sp>
      <p:sp>
        <p:nvSpPr>
          <p:cNvPr id="4" name="Shape 2">
            <a:extLst xmlns:a="http://schemas.openxmlformats.org/drawingml/2006/main">
              <a:ext uri="{FF2B5EF4-FFF2-40B4-BE49-F238E27FC236}">
                <a16:creationId xmlns:a16="http://schemas.microsoft.com/office/drawing/2014/main" id="{D675A9E5-2A8D-4EA5-824F-DE49A67A779D}"/>
              </a:ext>
            </a:extLst>
          </p:cNvPr>
          <p:cNvSpPr>
            <a:spLocks xmlns:a="http://schemas.openxmlformats.org/drawingml/2006/main" noGrp="1"/>
          </p:cNvSpPr>
          <p:nvPr/>
        </p:nvSpPr>
        <p:spPr>
          <a:xfrm xmlns:a="http://schemas.openxmlformats.org/drawingml/2006/main">
            <a:off x="548640" y="1965960"/>
            <a:ext cx="5394960" cy="1828800"/>
          </a:xfrm>
          <a:prstGeom xmlns:a="http://schemas.openxmlformats.org/drawingml/2006/main" prst="roundRect">
            <a:avLst>
              <a:gd name="adj" fmla="val 4500"/>
            </a:avLst>
          </a:prstGeom>
          <a:solidFill xmlns:a="http://schemas.openxmlformats.org/drawingml/2006/main">
            <a:srgbClr val="E9F4EE"/>
          </a:solidFill>
          <a:ln xmlns:a="http://schemas.openxmlformats.org/drawingml/2006/main" w="12700">
            <a:solidFill>
              <a:srgbClr val="CDE6D9"/>
            </a:solidFill>
            <a:prstDash val="solid"/>
          </a:ln>
        </p:spPr>
      </p:sp>
      <p:sp>
        <p:nvSpPr>
          <p:cNvPr id="5" name="Text 3">
            <a:extLst xmlns:a="http://schemas.openxmlformats.org/drawingml/2006/main">
              <a:ext uri="{FF2B5EF4-FFF2-40B4-BE49-F238E27FC236}">
                <a16:creationId xmlns:a16="http://schemas.microsoft.com/office/drawing/2014/main" id="{D865AA09-54DB-41F2-BBA6-10C1CB540280}"/>
              </a:ext>
            </a:extLst>
          </p:cNvPr>
          <p:cNvSpPr>
            <a:spLocks xmlns:a="http://schemas.openxmlformats.org/drawingml/2006/main" noGrp="1"/>
          </p:cNvSpPr>
          <p:nvPr/>
        </p:nvSpPr>
        <p:spPr>
          <a:xfrm xmlns:a="http://schemas.openxmlformats.org/drawingml/2006/main">
            <a:off x="548640" y="2148840"/>
            <a:ext cx="5394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b="1">
                <a:solidFill>
                  <a:srgbClr val="2E7D5B"/>
                </a:solidFill>
                <a:latin typeface="Cambria"/>
                <a:ea typeface="Cambria"/>
                <a:cs typeface="Cambria"/>
              </a:rPr>
              <a:t>ULTRA</a:t>
            </a:r>
          </a:p>
        </p:txBody>
      </p:sp>
      <p:sp>
        <p:nvSpPr>
          <p:cNvPr id="6" name="Text 4">
            <a:extLst xmlns:a="http://schemas.openxmlformats.org/drawingml/2006/main">
              <a:ext uri="{FF2B5EF4-FFF2-40B4-BE49-F238E27FC236}">
                <a16:creationId xmlns:a16="http://schemas.microsoft.com/office/drawing/2014/main" id="{7BAC16F8-EEA4-4221-9895-2FE436D19FE2}"/>
              </a:ext>
            </a:extLst>
          </p:cNvPr>
          <p:cNvSpPr>
            <a:spLocks xmlns:a="http://schemas.openxmlformats.org/drawingml/2006/main" noGrp="1"/>
          </p:cNvSpPr>
          <p:nvPr/>
        </p:nvSpPr>
        <p:spPr>
          <a:xfrm xmlns:a="http://schemas.openxmlformats.org/drawingml/2006/main">
            <a:off x="822960" y="3017520"/>
            <a:ext cx="484632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2E5B47"/>
                </a:solidFill>
                <a:latin typeface="Calibri"/>
                <a:ea typeface="Calibri"/>
                <a:cs typeface="Calibri"/>
              </a:rPr>
              <a:t>First validation:</a:t>
            </a:r>
          </a:p>
          <a:p xmlns:a="http://schemas.openxmlformats.org/drawingml/2006/main">
            <a:pPr marL="0" indent="0" algn="ctr">
              <a:buNone/>
            </a:pPr>
            <a:r>
              <a:rPr sz="1350">
                <a:solidFill>
                  <a:srgbClr val="2E5B47"/>
                </a:solidFill>
                <a:latin typeface="Calibri"/>
                <a:ea typeface="Calibri"/>
                <a:cs typeface="Calibri"/>
              </a:rPr>
              <a:t>Galaxy Watch Ultra 2024 and 2025</a:t>
            </a:r>
          </a:p>
        </p:txBody>
      </p:sp>
      <p:sp>
        <p:nvSpPr>
          <p:cNvPr id="7" name="Shape 5">
            <a:extLst xmlns:a="http://schemas.openxmlformats.org/drawingml/2006/main">
              <a:ext uri="{FF2B5EF4-FFF2-40B4-BE49-F238E27FC236}">
                <a16:creationId xmlns:a16="http://schemas.microsoft.com/office/drawing/2014/main" id="{025ECE99-9F08-4B54-9F8C-6F38D04D9587}"/>
              </a:ext>
            </a:extLst>
          </p:cNvPr>
          <p:cNvSpPr>
            <a:spLocks xmlns:a="http://schemas.openxmlformats.org/drawingml/2006/main" noGrp="1"/>
          </p:cNvSpPr>
          <p:nvPr/>
        </p:nvSpPr>
        <p:spPr>
          <a:xfrm xmlns:a="http://schemas.openxmlformats.org/drawingml/2006/main">
            <a:off x="6263640" y="1965960"/>
            <a:ext cx="5394960" cy="1828800"/>
          </a:xfrm>
          <a:prstGeom xmlns:a="http://schemas.openxmlformats.org/drawingml/2006/main" prst="roundRect">
            <a:avLst>
              <a:gd name="adj" fmla="val 4500"/>
            </a:avLst>
          </a:prstGeom>
          <a:solidFill xmlns:a="http://schemas.openxmlformats.org/drawingml/2006/main">
            <a:srgbClr val="FBF0E1"/>
          </a:solidFill>
          <a:ln xmlns:a="http://schemas.openxmlformats.org/drawingml/2006/main" w="12700">
            <a:solidFill>
              <a:srgbClr val="EAD8BE"/>
            </a:solidFill>
            <a:prstDash val="solid"/>
          </a:ln>
        </p:spPr>
      </p:sp>
      <p:sp>
        <p:nvSpPr>
          <p:cNvPr id="8" name="Text 6">
            <a:extLst xmlns:a="http://schemas.openxmlformats.org/drawingml/2006/main">
              <a:ext uri="{FF2B5EF4-FFF2-40B4-BE49-F238E27FC236}">
                <a16:creationId xmlns:a16="http://schemas.microsoft.com/office/drawing/2014/main" id="{FCE100EE-6564-4AE4-8150-941EA4129032}"/>
              </a:ext>
            </a:extLst>
          </p:cNvPr>
          <p:cNvSpPr>
            <a:spLocks xmlns:a="http://schemas.openxmlformats.org/drawingml/2006/main" noGrp="1"/>
          </p:cNvSpPr>
          <p:nvPr/>
        </p:nvSpPr>
        <p:spPr>
          <a:xfrm xmlns:a="http://schemas.openxmlformats.org/drawingml/2006/main">
            <a:off x="6263640" y="2148840"/>
            <a:ext cx="5394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b="1">
                <a:solidFill>
                  <a:srgbClr val="B5722A"/>
                </a:solidFill>
                <a:latin typeface="Cambria"/>
                <a:ea typeface="Cambria"/>
                <a:cs typeface="Cambria"/>
              </a:rPr>
              <a:t>WATCH4+</a:t>
            </a:r>
          </a:p>
        </p:txBody>
      </p:sp>
      <p:sp>
        <p:nvSpPr>
          <p:cNvPr id="9" name="Text 7">
            <a:extLst xmlns:a="http://schemas.openxmlformats.org/drawingml/2006/main">
              <a:ext uri="{FF2B5EF4-FFF2-40B4-BE49-F238E27FC236}">
                <a16:creationId xmlns:a16="http://schemas.microsoft.com/office/drawing/2014/main" id="{D9C02E06-8BB6-4D60-A632-4945E12F9325}"/>
              </a:ext>
            </a:extLst>
          </p:cNvPr>
          <p:cNvSpPr>
            <a:spLocks xmlns:a="http://schemas.openxmlformats.org/drawingml/2006/main" noGrp="1"/>
          </p:cNvSpPr>
          <p:nvPr/>
        </p:nvSpPr>
        <p:spPr>
          <a:xfrm xmlns:a="http://schemas.openxmlformats.org/drawingml/2006/main">
            <a:off x="6537960" y="3017520"/>
            <a:ext cx="484632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6E5327"/>
                </a:solidFill>
                <a:latin typeface="Calibri"/>
                <a:ea typeface="Calibri"/>
                <a:cs typeface="Calibri"/>
              </a:rPr>
              <a:t>Conditional support:</a:t>
            </a:r>
          </a:p>
          <a:p xmlns:a="http://schemas.openxmlformats.org/drawingml/2006/main">
            <a:pPr marL="0" indent="0" algn="ctr">
              <a:buNone/>
            </a:pPr>
            <a:r>
              <a:rPr sz="1350">
                <a:solidFill>
                  <a:srgbClr val="6E5327"/>
                </a:solidFill>
                <a:latin typeface="Calibri"/>
                <a:ea typeface="Calibri"/>
                <a:cs typeface="Calibri"/>
              </a:rPr>
              <a:t>Galaxy Watch4–Watch8 families after self-test</a:t>
            </a:r>
          </a:p>
        </p:txBody>
      </p:sp>
      <p:sp>
        <p:nvSpPr>
          <p:cNvPr id="10" name="Shape 8">
            <a:extLst xmlns:a="http://schemas.openxmlformats.org/drawingml/2006/main">
              <a:ext uri="{FF2B5EF4-FFF2-40B4-BE49-F238E27FC236}">
                <a16:creationId xmlns:a16="http://schemas.microsoft.com/office/drawing/2014/main" id="{62878606-EEC4-4C3A-B4BB-6624F392DDDD}"/>
              </a:ext>
            </a:extLst>
          </p:cNvPr>
          <p:cNvSpPr>
            <a:spLocks xmlns:a="http://schemas.openxmlformats.org/drawingml/2006/main" noGrp="1"/>
          </p:cNvSpPr>
          <p:nvPr/>
        </p:nvSpPr>
        <p:spPr>
          <a:xfrm xmlns:a="http://schemas.openxmlformats.org/drawingml/2006/main">
            <a:off x="548640" y="4114800"/>
            <a:ext cx="11109960" cy="1600200"/>
          </a:xfrm>
          <a:prstGeom xmlns:a="http://schemas.openxmlformats.org/drawingml/2006/main" prst="roundRect">
            <a:avLst>
              <a:gd name="adj" fmla="val 5143"/>
            </a:avLst>
          </a:prstGeom>
          <a:solidFill xmlns:a="http://schemas.openxmlformats.org/drawingml/2006/main">
            <a:srgbClr val="1E2247"/>
          </a:solidFill>
          <a:ln xmlns:a="http://schemas.openxmlformats.org/drawingml/2006/main" w="12700">
            <a:solidFill>
              <a:srgbClr val="1E2247"/>
            </a:solidFill>
            <a:prstDash val="solid"/>
          </a:ln>
        </p:spPr>
      </p:sp>
      <p:sp>
        <p:nvSpPr>
          <p:cNvPr id="11" name="Text 9">
            <a:extLst xmlns:a="http://schemas.openxmlformats.org/drawingml/2006/main">
              <a:ext uri="{FF2B5EF4-FFF2-40B4-BE49-F238E27FC236}">
                <a16:creationId xmlns:a16="http://schemas.microsoft.com/office/drawing/2014/main" id="{584660B1-71AE-46AB-920D-78B0D9DDA51C}"/>
              </a:ext>
            </a:extLst>
          </p:cNvPr>
          <p:cNvSpPr>
            <a:spLocks xmlns:a="http://schemas.openxmlformats.org/drawingml/2006/main" noGrp="1"/>
          </p:cNvSpPr>
          <p:nvPr/>
        </p:nvSpPr>
        <p:spPr>
          <a:xfrm xmlns:a="http://schemas.openxmlformats.org/drawingml/2006/main">
            <a:off x="914400" y="429768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F0E1"/>
                </a:solidFill>
                <a:latin typeface="Calibri"/>
                <a:ea typeface="Calibri"/>
                <a:cs typeface="Calibri"/>
              </a:rPr>
              <a:t>CURRENT BOUNDARIES</a:t>
            </a:r>
          </a:p>
        </p:txBody>
      </p:sp>
      <p:sp>
        <p:nvSpPr>
          <p:cNvPr id="12" name="Text 10">
            <a:extLst xmlns:a="http://schemas.openxmlformats.org/drawingml/2006/main">
              <a:ext uri="{FF2B5EF4-FFF2-40B4-BE49-F238E27FC236}">
                <a16:creationId xmlns:a16="http://schemas.microsoft.com/office/drawing/2014/main" id="{FEC2F14B-18AF-405D-B131-3CF754EB62C0}"/>
              </a:ext>
            </a:extLst>
          </p:cNvPr>
          <p:cNvSpPr>
            <a:spLocks xmlns:a="http://schemas.openxmlformats.org/drawingml/2006/main" noGrp="1"/>
          </p:cNvSpPr>
          <p:nvPr/>
        </p:nvSpPr>
        <p:spPr>
          <a:xfrm xmlns:a="http://schemas.openxmlformats.org/drawingml/2006/main">
            <a:off x="914400" y="4709160"/>
            <a:ext cx="104241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50">
                <a:solidFill>
                  <a:srgbClr val="CADCFC"/>
                </a:solidFill>
                <a:latin typeface="Calibri"/>
                <a:ea typeface="Calibri"/>
                <a:cs typeface="Calibri"/>
              </a:rPr>
              <a:t>Basic monitoring if full sensor gates fail. Apple Watch, Pixel Watch, Fitbit, and Garmin are not supported.</a:t>
            </a:r>
          </a:p>
        </p:txBody>
      </p:sp>
      <p:sp>
        <p:nvSpPr>
          <p:cNvPr id="13" name="Text 11">
            <a:extLst xmlns:a="http://schemas.openxmlformats.org/drawingml/2006/main">
              <a:ext uri="{FF2B5EF4-FFF2-40B4-BE49-F238E27FC236}">
                <a16:creationId xmlns:a16="http://schemas.microsoft.com/office/drawing/2014/main" id="{51163E57-81D4-4EEC-9A99-E8A3337B0700}"/>
              </a:ext>
            </a:extLst>
          </p:cNvPr>
          <p:cNvSpPr>
            <a:spLocks xmlns:a="http://schemas.openxmlformats.org/drawingml/2006/main" noGrp="1"/>
          </p:cNvSpPr>
          <p:nvPr/>
        </p:nvSpPr>
        <p:spPr>
          <a:xfrm xmlns:a="http://schemas.openxmlformats.org/drawingml/2006/main">
            <a:off x="548640" y="580644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8A90A6"/>
                </a:solidFill>
                <a:latin typeface="Calibri"/>
                <a:ea typeface="Calibri"/>
                <a:cs typeface="Calibri"/>
              </a:rPr>
              <a:t>Apple Watch is a separate future Swift + HealthKit project.</a:t>
            </a:r>
          </a:p>
        </p:txBody>
      </p:sp>
      <p:sp>
        <p:nvSpPr>
          <p:cNvPr id="14" name="Shape 12">
            <a:extLst xmlns:a="http://schemas.openxmlformats.org/drawingml/2006/main">
              <a:ext uri="{FF2B5EF4-FFF2-40B4-BE49-F238E27FC236}">
                <a16:creationId xmlns:a16="http://schemas.microsoft.com/office/drawing/2014/main" id="{866C0E75-4393-4719-8696-69018350DF22}"/>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5" name="Shape 13">
            <a:extLst xmlns:a="http://schemas.openxmlformats.org/drawingml/2006/main">
              <a:ext uri="{FF2B5EF4-FFF2-40B4-BE49-F238E27FC236}">
                <a16:creationId xmlns:a16="http://schemas.microsoft.com/office/drawing/2014/main" id="{F247B948-DCC1-4C66-9DEA-06DB6B79EF58}"/>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16" name="Text 14">
            <a:extLst xmlns:a="http://schemas.openxmlformats.org/drawingml/2006/main">
              <a:ext uri="{FF2B5EF4-FFF2-40B4-BE49-F238E27FC236}">
                <a16:creationId xmlns:a16="http://schemas.microsoft.com/office/drawing/2014/main" id="{4634BE1C-6022-49A5-B5AA-D0A23F5F0812}"/>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17" name="Text 15">
            <a:extLst xmlns:a="http://schemas.openxmlformats.org/drawingml/2006/main">
              <a:ext uri="{FF2B5EF4-FFF2-40B4-BE49-F238E27FC236}">
                <a16:creationId xmlns:a16="http://schemas.microsoft.com/office/drawing/2014/main" id="{9CA823B5-0BC4-4185-B241-82C162481674}"/>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8</a:t>
            </a:r>
          </a:p>
        </p:txBody>
      </p:sp>
    </p:spTree>
    <p:extLst>
      <p:ext uri="{BB962C8B-B14F-4D97-AF65-F5344CB8AC3E}">
        <p14:creationId xmlns:p14="http://schemas.microsoft.com/office/powerpoint/2010/main" val="12448398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DE7198-E09C-46E5-96F4-0EE87CEC6A3F}"/>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Success means fewer disturbances</a:t>
            </a:r>
          </a:p>
        </p:txBody>
      </p:sp>
      <p:sp>
        <p:nvSpPr>
          <p:cNvPr id="3" name="Shape 1">
            <a:extLst xmlns:a="http://schemas.openxmlformats.org/drawingml/2006/main">
              <a:ext uri="{FF2B5EF4-FFF2-40B4-BE49-F238E27FC236}">
                <a16:creationId xmlns:a16="http://schemas.microsoft.com/office/drawing/2014/main" id="{9A3CA3F3-AE5C-484C-8025-09A21F226AEA}"/>
              </a:ext>
            </a:extLst>
          </p:cNvPr>
          <p:cNvSpPr>
            <a:spLocks xmlns:a="http://schemas.openxmlformats.org/drawingml/2006/main" noGrp="1"/>
          </p:cNvSpPr>
          <p:nvPr/>
        </p:nvSpPr>
        <p:spPr>
          <a:xfrm xmlns:a="http://schemas.openxmlformats.org/drawingml/2006/main">
            <a:off x="548640" y="1371600"/>
            <a:ext cx="5394960" cy="4480560"/>
          </a:xfrm>
          <a:prstGeom xmlns:a="http://schemas.openxmlformats.org/drawingml/2006/main" prst="roundRect">
            <a:avLst>
              <a:gd name="adj" fmla="val 1837"/>
            </a:avLst>
          </a:prstGeom>
          <a:solidFill xmlns:a="http://schemas.openxmlformats.org/drawingml/2006/main">
            <a:srgbClr val="E9F4EE"/>
          </a:solidFill>
          <a:ln xmlns:a="http://schemas.openxmlformats.org/drawingml/2006/main" w="12700">
            <a:solidFill>
              <a:srgbClr val="CDE6D9"/>
            </a:solidFill>
            <a:prstDash val="solid"/>
          </a:ln>
        </p:spPr>
      </p:sp>
      <p:sp>
        <p:nvSpPr>
          <p:cNvPr id="4" name="Text 2">
            <a:extLst xmlns:a="http://schemas.openxmlformats.org/drawingml/2006/main">
              <a:ext uri="{FF2B5EF4-FFF2-40B4-BE49-F238E27FC236}">
                <a16:creationId xmlns:a16="http://schemas.microsoft.com/office/drawing/2014/main" id="{B3C35134-99EF-4B88-B1C9-CEBE4E10F7A7}"/>
              </a:ext>
            </a:extLst>
          </p:cNvPr>
          <p:cNvSpPr>
            <a:spLocks xmlns:a="http://schemas.openxmlformats.org/drawingml/2006/main" noGrp="1"/>
          </p:cNvSpPr>
          <p:nvPr/>
        </p:nvSpPr>
        <p:spPr>
          <a:xfrm xmlns:a="http://schemas.openxmlformats.org/drawingml/2006/main">
            <a:off x="868680" y="1554480"/>
            <a:ext cx="47548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2E7D5B"/>
                </a:solidFill>
                <a:latin typeface="Calibri"/>
                <a:ea typeface="Calibri"/>
                <a:cs typeface="Calibri"/>
              </a:rPr>
              <a:t>MEASURED TONIGHT</a:t>
            </a:r>
          </a:p>
        </p:txBody>
      </p:sp>
      <p:sp>
        <p:nvSpPr>
          <p:cNvPr id="5" name="Text 3">
            <a:extLst xmlns:a="http://schemas.openxmlformats.org/drawingml/2006/main">
              <a:ext uri="{FF2B5EF4-FFF2-40B4-BE49-F238E27FC236}">
                <a16:creationId xmlns:a16="http://schemas.microsoft.com/office/drawing/2014/main" id="{A0AC793A-A6F3-4E47-B644-C94CD6304932}"/>
              </a:ext>
            </a:extLst>
          </p:cNvPr>
          <p:cNvSpPr>
            <a:spLocks xmlns:a="http://schemas.openxmlformats.org/drawingml/2006/main" noGrp="1"/>
          </p:cNvSpPr>
          <p:nvPr/>
        </p:nvSpPr>
        <p:spPr>
          <a:xfrm xmlns:a="http://schemas.openxmlformats.org/drawingml/2006/main">
            <a:off x="868680" y="2148840"/>
            <a:ext cx="480060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Awakenings</a:t>
            </a:r>
          </a:p>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Wake after sleep onset</a:t>
            </a:r>
          </a:p>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Longest uninterrupted bout</a:t>
            </a:r>
          </a:p>
          <a:p xmlns:a="http://schemas.openxmlformats.org/drawingml/2006/main">
            <a:pPr marL="342900" indent="-342900">
              <a:buSzPct val="100000"/>
              <a:buChar char="•"/>
            </a:pPr>
            <a:r>
              <a:rPr sz="1350">
                <a:solidFill>
                  <a:srgbClr val="2E5B47"/>
                </a:solidFill>
                <a:latin typeface="Calibri"/>
                <a:ea typeface="Calibri"/>
                <a:cs typeface="Calibri"/>
              </a:rPr>
              <a:t>Cue-linked arousal rate</a:t>
            </a:r>
          </a:p>
          <a:p xmlns:a="http://schemas.openxmlformats.org/drawingml/2006/main">
            <a:pPr marL="342900" indent="-342900">
              <a:buSzPct val="100000"/>
              <a:buChar char="•"/>
            </a:pPr>
            <a:r>
              <a:rPr sz="1350">
                <a:solidFill>
                  <a:srgbClr val="2E5B47"/>
                </a:solidFill>
                <a:latin typeface="Calibri"/>
                <a:ea typeface="Calibri"/>
                <a:cs typeface="Calibri"/>
              </a:rPr>
              <a:t>Morning disturbance</a:t>
            </a:r>
          </a:p>
        </p:txBody>
      </p:sp>
      <p:sp>
        <p:nvSpPr>
          <p:cNvPr id="6" name="Shape 4">
            <a:extLst xmlns:a="http://schemas.openxmlformats.org/drawingml/2006/main">
              <a:ext uri="{FF2B5EF4-FFF2-40B4-BE49-F238E27FC236}">
                <a16:creationId xmlns:a16="http://schemas.microsoft.com/office/drawing/2014/main" id="{7DE539F6-6FB4-48E7-8FE5-A39BFDAE2A37}"/>
              </a:ext>
            </a:extLst>
          </p:cNvPr>
          <p:cNvSpPr>
            <a:spLocks xmlns:a="http://schemas.openxmlformats.org/drawingml/2006/main" noGrp="1"/>
          </p:cNvSpPr>
          <p:nvPr/>
        </p:nvSpPr>
        <p:spPr>
          <a:xfrm xmlns:a="http://schemas.openxmlformats.org/drawingml/2006/main">
            <a:off x="6263640" y="1371600"/>
            <a:ext cx="5394960" cy="4480560"/>
          </a:xfrm>
          <a:prstGeom xmlns:a="http://schemas.openxmlformats.org/drawingml/2006/main" prst="roundRect">
            <a:avLst>
              <a:gd name="adj" fmla="val 1837"/>
            </a:avLst>
          </a:prstGeom>
          <a:solidFill xmlns:a="http://schemas.openxmlformats.org/drawingml/2006/main">
            <a:srgbClr val="F2F4FD"/>
          </a:solidFill>
          <a:ln xmlns:a="http://schemas.openxmlformats.org/drawingml/2006/main" w="12700">
            <a:solidFill>
              <a:srgbClr val="DDE2F7"/>
            </a:solidFill>
            <a:prstDash val="solid"/>
          </a:ln>
        </p:spPr>
      </p:sp>
      <p:sp>
        <p:nvSpPr>
          <p:cNvPr id="7" name="Text 5">
            <a:extLst xmlns:a="http://schemas.openxmlformats.org/drawingml/2006/main">
              <a:ext uri="{FF2B5EF4-FFF2-40B4-BE49-F238E27FC236}">
                <a16:creationId xmlns:a16="http://schemas.microsoft.com/office/drawing/2014/main" id="{5FB675F1-E159-4F40-B259-069973252453}"/>
              </a:ext>
            </a:extLst>
          </p:cNvPr>
          <p:cNvSpPr>
            <a:spLocks xmlns:a="http://schemas.openxmlformats.org/drawingml/2006/main" noGrp="1"/>
          </p:cNvSpPr>
          <p:nvPr/>
        </p:nvSpPr>
        <p:spPr>
          <a:xfrm xmlns:a="http://schemas.openxmlformats.org/drawingml/2006/main">
            <a:off x="6583680" y="1554480"/>
            <a:ext cx="47548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5B6178"/>
                </a:solidFill>
                <a:latin typeface="Calibri"/>
                <a:ea typeface="Calibri"/>
                <a:cs typeface="Calibri"/>
              </a:rPr>
              <a:t>NOT CLAIMED</a:t>
            </a:r>
          </a:p>
        </p:txBody>
      </p:sp>
      <p:sp>
        <p:nvSpPr>
          <p:cNvPr id="8" name="Text 6">
            <a:extLst xmlns:a="http://schemas.openxmlformats.org/drawingml/2006/main">
              <a:ext uri="{FF2B5EF4-FFF2-40B4-BE49-F238E27FC236}">
                <a16:creationId xmlns:a16="http://schemas.microsoft.com/office/drawing/2014/main" id="{4DE4F76F-0B61-43B6-9D97-0441D547A3D5}"/>
              </a:ext>
            </a:extLst>
          </p:cNvPr>
          <p:cNvSpPr>
            <a:spLocks xmlns:a="http://schemas.openxmlformats.org/drawingml/2006/main" noGrp="1"/>
          </p:cNvSpPr>
          <p:nvPr/>
        </p:nvSpPr>
        <p:spPr>
          <a:xfrm xmlns:a="http://schemas.openxmlformats.org/drawingml/2006/main">
            <a:off x="6583680" y="2148840"/>
            <a:ext cx="480060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Guaranteed uninterrupted sleep</a:t>
            </a:r>
          </a:p>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Medical treatment</a:t>
            </a:r>
          </a:p>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EEG staging</a:t>
            </a:r>
          </a:p>
          <a:p xmlns:a="http://schemas.openxmlformats.org/drawingml/2006/main">
            <a:pPr marL="342900" indent="-342900">
              <a:buSzPct val="100000"/>
              <a:buChar char="•"/>
            </a:pPr>
            <a:r>
              <a:rPr sz="1350">
                <a:solidFill>
                  <a:srgbClr val="5B6178"/>
                </a:solidFill>
                <a:latin typeface="Calibri"/>
                <a:ea typeface="Calibri"/>
                <a:cs typeface="Calibri"/>
              </a:rPr>
              <a:t>Improved memory, deep sleep, or lucid dreaming</a:t>
            </a:r>
          </a:p>
        </p:txBody>
      </p:sp>
      <p:sp>
        <p:nvSpPr>
          <p:cNvPr id="9" name="Shape 7">
            <a:extLst xmlns:a="http://schemas.openxmlformats.org/drawingml/2006/main">
              <a:ext uri="{FF2B5EF4-FFF2-40B4-BE49-F238E27FC236}">
                <a16:creationId xmlns:a16="http://schemas.microsoft.com/office/drawing/2014/main" id="{618A8412-ACFE-4781-BFEE-147E74652200}"/>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61AD999B-1EE3-47AC-A03B-5A4C198B4916}"/>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5509C9AE-DF86-43DD-A689-6B6A23D1B533}"/>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12" name="Text 10">
            <a:extLst xmlns:a="http://schemas.openxmlformats.org/drawingml/2006/main">
              <a:ext uri="{FF2B5EF4-FFF2-40B4-BE49-F238E27FC236}">
                <a16:creationId xmlns:a16="http://schemas.microsoft.com/office/drawing/2014/main" id="{0EC15D15-C09E-40C5-8EEC-7132AE5A7C67}"/>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9</a:t>
            </a:r>
          </a:p>
        </p:txBody>
      </p:sp>
    </p:spTree>
    <p:extLst>
      <p:ext uri="{BB962C8B-B14F-4D97-AF65-F5344CB8AC3E}">
        <p14:creationId xmlns:p14="http://schemas.microsoft.com/office/powerpoint/2010/main" val="20918861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2C91A0-B51A-4290-B578-488132DFA28A}"/>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Verified in code; hardware proof is next</a:t>
            </a:r>
          </a:p>
        </p:txBody>
      </p:sp>
      <p:sp>
        <p:nvSpPr>
          <p:cNvPr id="3" name="Shape 1">
            <a:extLst xmlns:a="http://schemas.openxmlformats.org/drawingml/2006/main">
              <a:ext uri="{FF2B5EF4-FFF2-40B4-BE49-F238E27FC236}">
                <a16:creationId xmlns:a16="http://schemas.microsoft.com/office/drawing/2014/main" id="{5D6875C4-D235-49B4-B57E-CF6EC3826D5A}"/>
              </a:ext>
            </a:extLst>
          </p:cNvPr>
          <p:cNvSpPr>
            <a:spLocks xmlns:a="http://schemas.openxmlformats.org/drawingml/2006/main" noGrp="1"/>
          </p:cNvSpPr>
          <p:nvPr/>
        </p:nvSpPr>
        <p:spPr>
          <a:xfrm xmlns:a="http://schemas.openxmlformats.org/drawingml/2006/main">
            <a:off x="548640" y="1463040"/>
            <a:ext cx="402336" cy="402336"/>
          </a:xfrm>
          <a:prstGeom xmlns:a="http://schemas.openxmlformats.org/drawingml/2006/main" prst="ellipse">
            <a:avLst/>
          </a:prstGeom>
          <a:solidFill xmlns:a="http://schemas.openxmlformats.org/drawingml/2006/main">
            <a:srgbClr val="5B6CE8"/>
          </a:solidFill>
        </p:spPr>
      </p:sp>
      <p:sp>
        <p:nvSpPr>
          <p:cNvPr id="4" name="Text 2">
            <a:extLst xmlns:a="http://schemas.openxmlformats.org/drawingml/2006/main">
              <a:ext uri="{FF2B5EF4-FFF2-40B4-BE49-F238E27FC236}">
                <a16:creationId xmlns:a16="http://schemas.microsoft.com/office/drawing/2014/main" id="{92F12225-98E7-4886-8E7D-14F08B9F6C42}"/>
              </a:ext>
            </a:extLst>
          </p:cNvPr>
          <p:cNvSpPr>
            <a:spLocks xmlns:a="http://schemas.openxmlformats.org/drawingml/2006/main" noGrp="1"/>
          </p:cNvSpPr>
          <p:nvPr/>
        </p:nvSpPr>
        <p:spPr>
          <a:xfrm xmlns:a="http://schemas.openxmlformats.org/drawingml/2006/main">
            <a:off x="548640" y="14630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5" name="Text 3">
            <a:extLst xmlns:a="http://schemas.openxmlformats.org/drawingml/2006/main">
              <a:ext uri="{FF2B5EF4-FFF2-40B4-BE49-F238E27FC236}">
                <a16:creationId xmlns:a16="http://schemas.microsoft.com/office/drawing/2014/main" id="{214C49B8-DE93-4C68-9C5C-597A008DECB7}"/>
              </a:ext>
            </a:extLst>
          </p:cNvPr>
          <p:cNvSpPr>
            <a:spLocks xmlns:a="http://schemas.openxmlformats.org/drawingml/2006/main" noGrp="1"/>
          </p:cNvSpPr>
          <p:nvPr/>
        </p:nvSpPr>
        <p:spPr>
          <a:xfrm xmlns:a="http://schemas.openxmlformats.org/drawingml/2006/main">
            <a:off x="1115568" y="140817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LOCAL VERIFICATION</a:t>
            </a:r>
          </a:p>
        </p:txBody>
      </p:sp>
      <p:sp>
        <p:nvSpPr>
          <p:cNvPr id="6" name="Text 4">
            <a:extLst xmlns:a="http://schemas.openxmlformats.org/drawingml/2006/main">
              <a:ext uri="{FF2B5EF4-FFF2-40B4-BE49-F238E27FC236}">
                <a16:creationId xmlns:a16="http://schemas.microsoft.com/office/drawing/2014/main" id="{6F71249D-E451-4FFF-A357-4F0B52F95340}"/>
              </a:ext>
            </a:extLst>
          </p:cNvPr>
          <p:cNvSpPr>
            <a:spLocks xmlns:a="http://schemas.openxmlformats.org/drawingml/2006/main" noGrp="1"/>
          </p:cNvSpPr>
          <p:nvPr/>
        </p:nvSpPr>
        <p:spPr>
          <a:xfrm xmlns:a="http://schemas.openxmlformats.org/drawingml/2006/main">
            <a:off x="1115568" y="177393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33 deterministic tests pass. Lint, signed bundles, and Android test packages compile.</a:t>
            </a:r>
          </a:p>
        </p:txBody>
      </p:sp>
      <p:sp>
        <p:nvSpPr>
          <p:cNvPr id="7" name="Shape 5">
            <a:extLst xmlns:a="http://schemas.openxmlformats.org/drawingml/2006/main">
              <a:ext uri="{FF2B5EF4-FFF2-40B4-BE49-F238E27FC236}">
                <a16:creationId xmlns:a16="http://schemas.microsoft.com/office/drawing/2014/main" id="{56A33FAD-2F3D-4C0A-844C-6E9CED0EFAB3}"/>
              </a:ext>
            </a:extLst>
          </p:cNvPr>
          <p:cNvSpPr>
            <a:spLocks xmlns:a="http://schemas.openxmlformats.org/drawingml/2006/main" noGrp="1"/>
          </p:cNvSpPr>
          <p:nvPr/>
        </p:nvSpPr>
        <p:spPr>
          <a:xfrm xmlns:a="http://schemas.openxmlformats.org/drawingml/2006/main">
            <a:off x="548640" y="2880360"/>
            <a:ext cx="402336" cy="402336"/>
          </a:xfrm>
          <a:prstGeom xmlns:a="http://schemas.openxmlformats.org/drawingml/2006/main" prst="ellipse">
            <a:avLst/>
          </a:prstGeom>
          <a:solidFill xmlns:a="http://schemas.openxmlformats.org/drawingml/2006/main">
            <a:srgbClr val="5B6CE8"/>
          </a:solidFill>
        </p:spPr>
      </p:sp>
      <p:sp>
        <p:nvSpPr>
          <p:cNvPr id="8" name="Text 6">
            <a:extLst xmlns:a="http://schemas.openxmlformats.org/drawingml/2006/main">
              <a:ext uri="{FF2B5EF4-FFF2-40B4-BE49-F238E27FC236}">
                <a16:creationId xmlns:a16="http://schemas.microsoft.com/office/drawing/2014/main" id="{5F3DFC4A-E681-466A-9B32-A3A25B2FF7A5}"/>
              </a:ext>
            </a:extLst>
          </p:cNvPr>
          <p:cNvSpPr>
            <a:spLocks xmlns:a="http://schemas.openxmlformats.org/drawingml/2006/main" noGrp="1"/>
          </p:cNvSpPr>
          <p:nvPr/>
        </p:nvSpPr>
        <p:spPr>
          <a:xfrm xmlns:a="http://schemas.openxmlformats.org/drawingml/2006/main">
            <a:off x="548640" y="28803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9" name="Text 7">
            <a:extLst xmlns:a="http://schemas.openxmlformats.org/drawingml/2006/main">
              <a:ext uri="{FF2B5EF4-FFF2-40B4-BE49-F238E27FC236}">
                <a16:creationId xmlns:a16="http://schemas.microsoft.com/office/drawing/2014/main" id="{0F0429D5-E49C-463B-8E12-25D03577E32D}"/>
              </a:ext>
            </a:extLst>
          </p:cNvPr>
          <p:cNvSpPr>
            <a:spLocks xmlns:a="http://schemas.openxmlformats.org/drawingml/2006/main" noGrp="1"/>
          </p:cNvSpPr>
          <p:nvPr/>
        </p:nvSpPr>
        <p:spPr>
          <a:xfrm xmlns:a="http://schemas.openxmlformats.org/drawingml/2006/main">
            <a:off x="1115568" y="282549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INTERNAL TEST BUILDS</a:t>
            </a:r>
          </a:p>
        </p:txBody>
      </p:sp>
      <p:sp>
        <p:nvSpPr>
          <p:cNvPr id="10" name="Text 8">
            <a:extLst xmlns:a="http://schemas.openxmlformats.org/drawingml/2006/main">
              <a:ext uri="{FF2B5EF4-FFF2-40B4-BE49-F238E27FC236}">
                <a16:creationId xmlns:a16="http://schemas.microsoft.com/office/drawing/2014/main" id="{EDB31E21-AC8E-40E8-974B-A04432D88070}"/>
              </a:ext>
            </a:extLst>
          </p:cNvPr>
          <p:cNvSpPr>
            <a:spLocks xmlns:a="http://schemas.openxmlformats.org/drawingml/2006/main" noGrp="1"/>
          </p:cNvSpPr>
          <p:nvPr/>
        </p:nvSpPr>
        <p:spPr>
          <a:xfrm xmlns:a="http://schemas.openxmlformats.org/drawingml/2006/main">
            <a:off x="1115568" y="319125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Phone 13 and Wear 14 are available to internal testers through Google Play.</a:t>
            </a:r>
          </a:p>
        </p:txBody>
      </p:sp>
      <p:sp>
        <p:nvSpPr>
          <p:cNvPr id="11" name="Shape 9">
            <a:extLst xmlns:a="http://schemas.openxmlformats.org/drawingml/2006/main">
              <a:ext uri="{FF2B5EF4-FFF2-40B4-BE49-F238E27FC236}">
                <a16:creationId xmlns:a16="http://schemas.microsoft.com/office/drawing/2014/main" id="{261EDD28-77FF-4C0B-B357-404638887FB7}"/>
              </a:ext>
            </a:extLst>
          </p:cNvPr>
          <p:cNvSpPr>
            <a:spLocks xmlns:a="http://schemas.openxmlformats.org/drawingml/2006/main" noGrp="1"/>
          </p:cNvSpPr>
          <p:nvPr/>
        </p:nvSpPr>
        <p:spPr>
          <a:xfrm xmlns:a="http://schemas.openxmlformats.org/drawingml/2006/main">
            <a:off x="548640" y="4297680"/>
            <a:ext cx="402336" cy="402336"/>
          </a:xfrm>
          <a:prstGeom xmlns:a="http://schemas.openxmlformats.org/drawingml/2006/main" prst="ellipse">
            <a:avLst/>
          </a:prstGeom>
          <a:solidFill xmlns:a="http://schemas.openxmlformats.org/drawingml/2006/main">
            <a:srgbClr val="5B6CE8"/>
          </a:solidFill>
        </p:spPr>
      </p:sp>
      <p:sp>
        <p:nvSpPr>
          <p:cNvPr id="12" name="Text 10">
            <a:extLst xmlns:a="http://schemas.openxmlformats.org/drawingml/2006/main">
              <a:ext uri="{FF2B5EF4-FFF2-40B4-BE49-F238E27FC236}">
                <a16:creationId xmlns:a16="http://schemas.microsoft.com/office/drawing/2014/main" id="{A2DF8670-F3EA-4058-AC42-132B02F15DE5}"/>
              </a:ext>
            </a:extLst>
          </p:cNvPr>
          <p:cNvSpPr>
            <a:spLocks xmlns:a="http://schemas.openxmlformats.org/drawingml/2006/main" noGrp="1"/>
          </p:cNvSpPr>
          <p:nvPr/>
        </p:nvSpPr>
        <p:spPr>
          <a:xfrm xmlns:a="http://schemas.openxmlformats.org/drawingml/2006/main">
            <a:off x="548640" y="429768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3" name="Text 11">
            <a:extLst xmlns:a="http://schemas.openxmlformats.org/drawingml/2006/main">
              <a:ext uri="{FF2B5EF4-FFF2-40B4-BE49-F238E27FC236}">
                <a16:creationId xmlns:a16="http://schemas.microsoft.com/office/drawing/2014/main" id="{04D19AE8-6CF5-4D79-BCCF-EBFC75538A06}"/>
              </a:ext>
            </a:extLst>
          </p:cNvPr>
          <p:cNvSpPr>
            <a:spLocks xmlns:a="http://schemas.openxmlformats.org/drawingml/2006/main" noGrp="1"/>
          </p:cNvSpPr>
          <p:nvPr/>
        </p:nvSpPr>
        <p:spPr>
          <a:xfrm xmlns:a="http://schemas.openxmlformats.org/drawingml/2006/main">
            <a:off x="1115568" y="424281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STILL REQUIRED</a:t>
            </a:r>
          </a:p>
        </p:txBody>
      </p:sp>
      <p:sp>
        <p:nvSpPr>
          <p:cNvPr id="14" name="Text 12">
            <a:extLst xmlns:a="http://schemas.openxmlformats.org/drawingml/2006/main">
              <a:ext uri="{FF2B5EF4-FFF2-40B4-BE49-F238E27FC236}">
                <a16:creationId xmlns:a16="http://schemas.microsoft.com/office/drawing/2014/main" id="{B2C46B43-6082-461C-B2C5-3E7C2B9D1CC6}"/>
              </a:ext>
            </a:extLst>
          </p:cNvPr>
          <p:cNvSpPr>
            <a:spLocks xmlns:a="http://schemas.openxmlformats.org/drawingml/2006/main" noGrp="1"/>
          </p:cNvSpPr>
          <p:nvPr/>
        </p:nvSpPr>
        <p:spPr>
          <a:xfrm xmlns:a="http://schemas.openxmlformats.org/drawingml/2006/main">
            <a:off x="1115568" y="460857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Watch Ultra nights, fault tests, battery/audio checks, PSG validation, and a 12–20-night experiment.</a:t>
            </a:r>
          </a:p>
        </p:txBody>
      </p:sp>
      <p:sp>
        <p:nvSpPr>
          <p:cNvPr id="15" name="Text 13">
            <a:extLst xmlns:a="http://schemas.openxmlformats.org/drawingml/2006/main">
              <a:ext uri="{FF2B5EF4-FFF2-40B4-BE49-F238E27FC236}">
                <a16:creationId xmlns:a16="http://schemas.microsoft.com/office/drawing/2014/main" id="{1FF16992-58DC-4381-8886-2E2ED8668C8F}"/>
              </a:ext>
            </a:extLst>
          </p:cNvPr>
          <p:cNvSpPr>
            <a:spLocks xmlns:a="http://schemas.openxmlformats.org/drawingml/2006/main" noGrp="1"/>
          </p:cNvSpPr>
          <p:nvPr/>
        </p:nvSpPr>
        <p:spPr>
          <a:xfrm xmlns:a="http://schemas.openxmlformats.org/drawingml/2006/main">
            <a:off x="1115568" y="5230368"/>
            <a:ext cx="104973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Samsung SDK approval and provenance remain external gates.</a:t>
            </a:r>
          </a:p>
        </p:txBody>
      </p:sp>
      <p:sp>
        <p:nvSpPr>
          <p:cNvPr id="16" name="Shape 14">
            <a:extLst xmlns:a="http://schemas.openxmlformats.org/drawingml/2006/main">
              <a:ext uri="{FF2B5EF4-FFF2-40B4-BE49-F238E27FC236}">
                <a16:creationId xmlns:a16="http://schemas.microsoft.com/office/drawing/2014/main" id="{3B313F06-2FEA-470D-88D7-BF96928D3ADC}"/>
              </a:ext>
            </a:extLst>
          </p:cNvPr>
          <p:cNvSpPr>
            <a:spLocks xmlns:a="http://schemas.openxmlformats.org/drawingml/2006/main" noGrp="1"/>
          </p:cNvSpPr>
          <p:nvPr/>
        </p:nvSpPr>
        <p:spPr>
          <a:xfrm xmlns:a="http://schemas.openxmlformats.org/drawingml/2006/main">
            <a:off x="548640" y="5577840"/>
            <a:ext cx="11109960" cy="502920"/>
          </a:xfrm>
          <a:prstGeom xmlns:a="http://schemas.openxmlformats.org/drawingml/2006/main" prst="roundRect">
            <a:avLst>
              <a:gd name="adj" fmla="val 16364"/>
            </a:avLst>
          </a:prstGeom>
          <a:solidFill xmlns:a="http://schemas.openxmlformats.org/drawingml/2006/main">
            <a:srgbClr val="1E2247"/>
          </a:solidFill>
          <a:ln xmlns:a="http://schemas.openxmlformats.org/drawingml/2006/main" w="12700">
            <a:solidFill>
              <a:srgbClr val="1E2247"/>
            </a:solidFill>
            <a:prstDash val="solid"/>
          </a:ln>
        </p:spPr>
      </p:sp>
      <p:sp>
        <p:nvSpPr>
          <p:cNvPr id="17" name="Text 15">
            <a:extLst xmlns:a="http://schemas.openxmlformats.org/drawingml/2006/main">
              <a:ext uri="{FF2B5EF4-FFF2-40B4-BE49-F238E27FC236}">
                <a16:creationId xmlns:a16="http://schemas.microsoft.com/office/drawing/2014/main" id="{E2D6585F-386C-4146-BFED-4413C2C0583F}"/>
              </a:ext>
            </a:extLst>
          </p:cNvPr>
          <p:cNvSpPr>
            <a:spLocks xmlns:a="http://schemas.openxmlformats.org/drawingml/2006/main" noGrp="1"/>
          </p:cNvSpPr>
          <p:nvPr/>
        </p:nvSpPr>
        <p:spPr>
          <a:xfrm xmlns:a="http://schemas.openxmlformats.org/drawingml/2006/main">
            <a:off x="731520" y="5577840"/>
            <a:ext cx="107899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5F0E1"/>
                </a:solidFill>
                <a:latin typeface="Calibri"/>
                <a:ea typeface="Calibri"/>
                <a:cs typeface="Calibri"/>
              </a:rPr>
              <a:t>No sleep-effect claim until controlled validation is complete.</a:t>
            </a:r>
          </a:p>
        </p:txBody>
      </p:sp>
      <p:sp>
        <p:nvSpPr>
          <p:cNvPr id="18" name="Shape 16">
            <a:extLst xmlns:a="http://schemas.openxmlformats.org/drawingml/2006/main">
              <a:ext uri="{FF2B5EF4-FFF2-40B4-BE49-F238E27FC236}">
                <a16:creationId xmlns:a16="http://schemas.microsoft.com/office/drawing/2014/main" id="{50FF1D9B-3360-4802-863A-395DBDE6A361}"/>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9" name="Shape 17">
            <a:extLst xmlns:a="http://schemas.openxmlformats.org/drawingml/2006/main">
              <a:ext uri="{FF2B5EF4-FFF2-40B4-BE49-F238E27FC236}">
                <a16:creationId xmlns:a16="http://schemas.microsoft.com/office/drawing/2014/main" id="{EB4CB344-9C66-4D34-9A4C-C7C1017E20B3}"/>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0" name="Text 18">
            <a:extLst xmlns:a="http://schemas.openxmlformats.org/drawingml/2006/main">
              <a:ext uri="{FF2B5EF4-FFF2-40B4-BE49-F238E27FC236}">
                <a16:creationId xmlns:a16="http://schemas.microsoft.com/office/drawing/2014/main" id="{2C961D58-F90C-4619-A976-25B4B75FE903}"/>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DreamSync</a:t>
            </a:r>
          </a:p>
        </p:txBody>
      </p:sp>
      <p:sp>
        <p:nvSpPr>
          <p:cNvPr id="21" name="Text 19">
            <a:extLst xmlns:a="http://schemas.openxmlformats.org/drawingml/2006/main">
              <a:ext uri="{FF2B5EF4-FFF2-40B4-BE49-F238E27FC236}">
                <a16:creationId xmlns:a16="http://schemas.microsoft.com/office/drawing/2014/main" id="{23D4AD3B-290F-4333-9EA0-9A978740AB0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10</a:t>
            </a:r>
          </a:p>
        </p:txBody>
      </p:sp>
    </p:spTree>
    <p:extLst>
      <p:ext uri="{BB962C8B-B14F-4D97-AF65-F5344CB8AC3E}">
        <p14:creationId xmlns:p14="http://schemas.microsoft.com/office/powerpoint/2010/main" val="757996599"/>
      </p:ext>
    </p:extLst>
  </p:cSld>
</p:sld>
</file>

<file path=ppt/slides/slide11.xml><?xml version="1.0" encoding="utf-8"?>
<p:sld xmlns:p="http://schemas.openxmlformats.org/presentationml/2006/main">
  <p:cSld>
    <p:bg>
      <p:bgPr>
        <a:solidFill xmlns:a="http://schemas.openxmlformats.org/drawingml/2006/main">
          <a:srgbClr val="1E224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87B586D-BEF7-4FEA-A248-329D502156E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247"/>
          </a:solidFill>
        </p:spPr>
      </p:sp>
      <p:sp>
        <p:nvSpPr>
          <p:cNvPr id="3" name="Shape 1">
            <a:extLst xmlns:a="http://schemas.openxmlformats.org/drawingml/2006/main">
              <a:ext uri="{FF2B5EF4-FFF2-40B4-BE49-F238E27FC236}">
                <a16:creationId xmlns:a16="http://schemas.microsoft.com/office/drawing/2014/main" id="{E6F0FD9A-1E8C-4223-BA02-978116A764AD}"/>
              </a:ext>
            </a:extLst>
          </p:cNvPr>
          <p:cNvSpPr>
            <a:spLocks xmlns:a="http://schemas.openxmlformats.org/drawingml/2006/main" noGrp="1"/>
          </p:cNvSpPr>
          <p:nvPr/>
        </p:nvSpPr>
        <p:spPr>
          <a:xfrm xmlns:a="http://schemas.openxmlformats.org/drawingml/2006/main">
            <a:off x="9144000" y="3840480"/>
            <a:ext cx="1828800" cy="1828800"/>
          </a:xfrm>
          <a:prstGeom xmlns:a="http://schemas.openxmlformats.org/drawingml/2006/main" prst="ellipse">
            <a:avLst/>
          </a:prstGeom>
          <a:solidFill xmlns:a="http://schemas.openxmlformats.org/drawingml/2006/main">
            <a:srgbClr val="F5F0E1"/>
          </a:solidFill>
        </p:spPr>
      </p:sp>
      <p:sp>
        <p:nvSpPr>
          <p:cNvPr id="4" name="Shape 2">
            <a:extLst xmlns:a="http://schemas.openxmlformats.org/drawingml/2006/main">
              <a:ext uri="{FF2B5EF4-FFF2-40B4-BE49-F238E27FC236}">
                <a16:creationId xmlns:a16="http://schemas.microsoft.com/office/drawing/2014/main" id="{2C9B6562-57F0-4DE2-904C-6EC7E409A134}"/>
              </a:ext>
            </a:extLst>
          </p:cNvPr>
          <p:cNvSpPr>
            <a:spLocks xmlns:a="http://schemas.openxmlformats.org/drawingml/2006/main" noGrp="1"/>
          </p:cNvSpPr>
          <p:nvPr/>
        </p:nvSpPr>
        <p:spPr>
          <a:xfrm xmlns:a="http://schemas.openxmlformats.org/drawingml/2006/main">
            <a:off x="9710928" y="3712464"/>
            <a:ext cx="1828800" cy="1828800"/>
          </a:xfrm>
          <a:prstGeom xmlns:a="http://schemas.openxmlformats.org/drawingml/2006/main" prst="ellipse">
            <a:avLst/>
          </a:prstGeom>
          <a:solidFill xmlns:a="http://schemas.openxmlformats.org/drawingml/2006/main">
            <a:srgbClr val="1E2247"/>
          </a:solidFill>
        </p:spPr>
      </p:sp>
      <p:sp>
        <p:nvSpPr>
          <p:cNvPr id="5" name="Shape 3">
            <a:extLst xmlns:a="http://schemas.openxmlformats.org/drawingml/2006/main">
              <a:ext uri="{FF2B5EF4-FFF2-40B4-BE49-F238E27FC236}">
                <a16:creationId xmlns:a16="http://schemas.microsoft.com/office/drawing/2014/main" id="{3264D625-5719-4004-A785-FD915CC97324}"/>
              </a:ext>
            </a:extLst>
          </p:cNvPr>
          <p:cNvSpPr>
            <a:spLocks xmlns:a="http://schemas.openxmlformats.org/drawingml/2006/main" noGrp="1"/>
          </p:cNvSpPr>
          <p:nvPr/>
        </p:nvSpPr>
        <p:spPr>
          <a:xfrm xmlns:a="http://schemas.openxmlformats.org/drawingml/2006/main">
            <a:off x="10424160" y="4114800"/>
            <a:ext cx="502920" cy="1005840"/>
          </a:xfrm>
          <a:prstGeom xmlns:a="http://schemas.openxmlformats.org/drawingml/2006/main" prst="arc">
            <a:avLst>
              <a:gd name="adj1" fmla="val 18000000"/>
              <a:gd name="adj2" fmla="val 3600000"/>
            </a:avLst>
          </a:prstGeom>
          <a:ln xmlns:a="http://schemas.openxmlformats.org/drawingml/2006/main" w="31750">
            <a:solidFill>
              <a:srgbClr val="CADCFC"/>
            </a:solidFill>
            <a:prstDash val="solid"/>
          </a:ln>
        </p:spPr>
      </p:sp>
      <p:sp>
        <p:nvSpPr>
          <p:cNvPr id="6" name="Shape 4">
            <a:extLst xmlns:a="http://schemas.openxmlformats.org/drawingml/2006/main">
              <a:ext uri="{FF2B5EF4-FFF2-40B4-BE49-F238E27FC236}">
                <a16:creationId xmlns:a16="http://schemas.microsoft.com/office/drawing/2014/main" id="{2AF8AA0B-0A8F-4A12-BDCF-D05B6D3333BC}"/>
              </a:ext>
            </a:extLst>
          </p:cNvPr>
          <p:cNvSpPr>
            <a:spLocks xmlns:a="http://schemas.openxmlformats.org/drawingml/2006/main" noGrp="1"/>
          </p:cNvSpPr>
          <p:nvPr/>
        </p:nvSpPr>
        <p:spPr>
          <a:xfrm xmlns:a="http://schemas.openxmlformats.org/drawingml/2006/main">
            <a:off x="10424160" y="3794760"/>
            <a:ext cx="822960" cy="1645920"/>
          </a:xfrm>
          <a:prstGeom xmlns:a="http://schemas.openxmlformats.org/drawingml/2006/main" prst="arc">
            <a:avLst>
              <a:gd name="adj1" fmla="val 18000000"/>
              <a:gd name="adj2" fmla="val 3600000"/>
            </a:avLst>
          </a:prstGeom>
          <a:ln xmlns:a="http://schemas.openxmlformats.org/drawingml/2006/main" w="31750">
            <a:solidFill>
              <a:srgbClr val="818CF8"/>
            </a:solidFill>
            <a:prstDash val="solid"/>
          </a:ln>
        </p:spPr>
      </p:sp>
      <p:sp>
        <p:nvSpPr>
          <p:cNvPr id="7" name="Shape 5">
            <a:extLst xmlns:a="http://schemas.openxmlformats.org/drawingml/2006/main">
              <a:ext uri="{FF2B5EF4-FFF2-40B4-BE49-F238E27FC236}">
                <a16:creationId xmlns:a16="http://schemas.microsoft.com/office/drawing/2014/main" id="{469D0DE0-15FB-4918-977B-5FE0AB31C761}"/>
              </a:ext>
            </a:extLst>
          </p:cNvPr>
          <p:cNvSpPr>
            <a:spLocks xmlns:a="http://schemas.openxmlformats.org/drawingml/2006/main" noGrp="1"/>
          </p:cNvSpPr>
          <p:nvPr/>
        </p:nvSpPr>
        <p:spPr>
          <a:xfrm xmlns:a="http://schemas.openxmlformats.org/drawingml/2006/main">
            <a:off x="10424160" y="3474720"/>
            <a:ext cx="1143000" cy="2286000"/>
          </a:xfrm>
          <a:prstGeom xmlns:a="http://schemas.openxmlformats.org/drawingml/2006/main" prst="arc">
            <a:avLst>
              <a:gd name="adj1" fmla="val 18000000"/>
              <a:gd name="adj2" fmla="val 3600000"/>
            </a:avLst>
          </a:prstGeom>
          <a:ln xmlns:a="http://schemas.openxmlformats.org/drawingml/2006/main" w="31750">
            <a:solidFill>
              <a:srgbClr val="5B6CE8"/>
            </a:solidFill>
            <a:prstDash val="solid"/>
          </a:ln>
        </p:spPr>
      </p:sp>
      <p:sp>
        <p:nvSpPr>
          <p:cNvPr id="8" name="Shape 6">
            <a:extLst xmlns:a="http://schemas.openxmlformats.org/drawingml/2006/main">
              <a:ext uri="{FF2B5EF4-FFF2-40B4-BE49-F238E27FC236}">
                <a16:creationId xmlns:a16="http://schemas.microsoft.com/office/drawing/2014/main" id="{CC474424-39C9-4927-8357-97FBAFF7AE4A}"/>
              </a:ext>
            </a:extLst>
          </p:cNvPr>
          <p:cNvSpPr>
            <a:spLocks xmlns:a="http://schemas.openxmlformats.org/drawingml/2006/main" noGrp="1"/>
          </p:cNvSpPr>
          <p:nvPr/>
        </p:nvSpPr>
        <p:spPr>
          <a:xfrm xmlns:a="http://schemas.openxmlformats.org/drawingml/2006/main">
            <a:off x="8778240" y="914400"/>
            <a:ext cx="73152" cy="73152"/>
          </a:xfrm>
          <a:prstGeom xmlns:a="http://schemas.openxmlformats.org/drawingml/2006/main" prst="ellipse">
            <a:avLst/>
          </a:prstGeom>
          <a:solidFill xmlns:a="http://schemas.openxmlformats.org/drawingml/2006/main">
            <a:srgbClr val="F5F0E1"/>
          </a:solidFill>
        </p:spPr>
      </p:sp>
      <p:sp>
        <p:nvSpPr>
          <p:cNvPr id="9" name="Shape 7">
            <a:extLst xmlns:a="http://schemas.openxmlformats.org/drawingml/2006/main">
              <a:ext uri="{FF2B5EF4-FFF2-40B4-BE49-F238E27FC236}">
                <a16:creationId xmlns:a16="http://schemas.microsoft.com/office/drawing/2014/main" id="{53272B81-2C86-4E72-BDE7-E4FA547C713C}"/>
              </a:ext>
            </a:extLst>
          </p:cNvPr>
          <p:cNvSpPr>
            <a:spLocks xmlns:a="http://schemas.openxmlformats.org/drawingml/2006/main" noGrp="1"/>
          </p:cNvSpPr>
          <p:nvPr/>
        </p:nvSpPr>
        <p:spPr>
          <a:xfrm xmlns:a="http://schemas.openxmlformats.org/drawingml/2006/main">
            <a:off x="11155680" y="1280160"/>
            <a:ext cx="54864" cy="54864"/>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F69B61F7-4C9E-44B5-A486-6509E2A2BCEC}"/>
              </a:ext>
            </a:extLst>
          </p:cNvPr>
          <p:cNvSpPr>
            <a:spLocks xmlns:a="http://schemas.openxmlformats.org/drawingml/2006/main" noGrp="1"/>
          </p:cNvSpPr>
          <p:nvPr/>
        </p:nvSpPr>
        <p:spPr>
          <a:xfrm xmlns:a="http://schemas.openxmlformats.org/drawingml/2006/main">
            <a:off x="9326880" y="5852160"/>
            <a:ext cx="64008" cy="64008"/>
          </a:xfrm>
          <a:prstGeom xmlns:a="http://schemas.openxmlformats.org/drawingml/2006/main" prst="ellipse">
            <a:avLst/>
          </a:prstGeom>
          <a:solidFill xmlns:a="http://schemas.openxmlformats.org/drawingml/2006/main">
            <a:srgbClr val="F5F0E1"/>
          </a:solidFill>
        </p:spPr>
      </p:sp>
      <p:sp>
        <p:nvSpPr>
          <p:cNvPr id="11" name="Text 9">
            <a:extLst xmlns:a="http://schemas.openxmlformats.org/drawingml/2006/main">
              <a:ext uri="{FF2B5EF4-FFF2-40B4-BE49-F238E27FC236}">
                <a16:creationId xmlns:a16="http://schemas.microsoft.com/office/drawing/2014/main" id="{EF13DC48-8391-4E50-8F63-8176E4256B6C}"/>
              </a:ext>
            </a:extLst>
          </p:cNvPr>
          <p:cNvSpPr>
            <a:spLocks xmlns:a="http://schemas.openxmlformats.org/drawingml/2006/main" noGrp="1"/>
          </p:cNvSpPr>
          <p:nvPr/>
        </p:nvSpPr>
        <p:spPr>
          <a:xfrm xmlns:a="http://schemas.openxmlformats.org/drawingml/2006/main">
            <a:off x="822960" y="1005840"/>
            <a:ext cx="7315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a:solidFill>
                  <a:srgbClr val="CADCFC"/>
                </a:solidFill>
                <a:latin typeface="Calibri"/>
                <a:ea typeface="Calibri"/>
                <a:cs typeface="Calibri"/>
              </a:rPr>
              <a:t>THE MISSION</a:t>
            </a:r>
          </a:p>
        </p:txBody>
      </p:sp>
      <p:sp>
        <p:nvSpPr>
          <p:cNvPr id="12" name="Text 10">
            <a:extLst xmlns:a="http://schemas.openxmlformats.org/drawingml/2006/main">
              <a:ext uri="{FF2B5EF4-FFF2-40B4-BE49-F238E27FC236}">
                <a16:creationId xmlns:a16="http://schemas.microsoft.com/office/drawing/2014/main" id="{DB37AA6F-3378-4AC5-86FE-451A363028DE}"/>
              </a:ext>
            </a:extLst>
          </p:cNvPr>
          <p:cNvSpPr>
            <a:spLocks xmlns:a="http://schemas.openxmlformats.org/drawingml/2006/main" noGrp="1"/>
          </p:cNvSpPr>
          <p:nvPr/>
        </p:nvSpPr>
        <p:spPr>
          <a:xfrm xmlns:a="http://schemas.openxmlformats.org/drawingml/2006/main">
            <a:off x="777240" y="1417320"/>
            <a:ext cx="100584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FFFFFF"/>
                </a:solidFill>
                <a:latin typeface="Cambria"/>
                <a:ea typeface="Cambria"/>
                <a:cs typeface="Cambria"/>
              </a:rPr>
              <a:t>Dreams Redefined.</a:t>
            </a:r>
          </a:p>
        </p:txBody>
      </p:sp>
      <p:sp>
        <p:nvSpPr>
          <p:cNvPr id="13" name="Text 11">
            <a:extLst xmlns:a="http://schemas.openxmlformats.org/drawingml/2006/main">
              <a:ext uri="{FF2B5EF4-FFF2-40B4-BE49-F238E27FC236}">
                <a16:creationId xmlns:a16="http://schemas.microsoft.com/office/drawing/2014/main" id="{A634AB29-1901-4673-BDA2-F8ACCD990E25}"/>
              </a:ext>
            </a:extLst>
          </p:cNvPr>
          <p:cNvSpPr>
            <a:spLocks xmlns:a="http://schemas.openxmlformats.org/drawingml/2006/main" noGrp="1"/>
          </p:cNvSpPr>
          <p:nvPr/>
        </p:nvSpPr>
        <p:spPr>
          <a:xfrm xmlns:a="http://schemas.openxmlformats.org/drawingml/2006/main">
            <a:off x="822960" y="2697480"/>
            <a:ext cx="8503920"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Arm once. Detection stays automatic.</a:t>
            </a:r>
          </a:p>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Stay quiet when confidence is low.</a:t>
            </a:r>
          </a:p>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Stop after the first cue-linked wake signal.</a:t>
            </a:r>
          </a:p>
          <a:p xmlns:a="http://schemas.openxmlformats.org/drawingml/2006/main">
            <a:pPr marL="342900" indent="-342900">
              <a:buSzPct val="100000"/>
              <a:buChar char="•"/>
            </a:pPr>
            <a:r>
              <a:rPr sz="1500">
                <a:solidFill>
                  <a:srgbClr val="CADCFC"/>
                </a:solidFill>
                <a:latin typeface="Calibri"/>
                <a:ea typeface="Calibri"/>
                <a:cs typeface="Calibri"/>
              </a:rPr>
              <a:t>Measure continuity before claiming benefit.</a:t>
            </a:r>
          </a:p>
          <a:p xmlns:a="http://schemas.openxmlformats.org/drawingml/2006/main">
            <a:pPr marL="342900" indent="-342900">
              <a:buSzPct val="100000"/>
              <a:buChar char="•"/>
            </a:pPr>
            <a:r>
              <a:rPr sz="1500">
                <a:solidFill>
                  <a:srgbClr val="CADCFC"/>
                </a:solidFill>
                <a:latin typeface="Calibri"/>
                <a:ea typeface="Calibri"/>
                <a:cs typeface="Calibri"/>
              </a:rPr>
              <a:t>Research-informed. Stage-gated. Sleep-first.</a:t>
            </a:r>
          </a:p>
        </p:txBody>
      </p:sp>
    </p:spTree>
    <p:extLst>
      <p:ext uri="{BB962C8B-B14F-4D97-AF65-F5344CB8AC3E}">
        <p14:creationId xmlns:p14="http://schemas.microsoft.com/office/powerpoint/2010/main" val="1197651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2026-07-20T04:04:00.0220000Z</dcterms:created>
  <dcterms:modified xsi:type="dcterms:W3CDTF">2026-07-20T04:04:00.0220000Z</dcterms:modified>
</coreProperties>
</file>