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2a6d1a5f754f0c" /><Relationship Type="http://schemas.openxmlformats.org/officeDocument/2006/relationships/extended-properties" Target="/docProps/app.xml" Id="R44ebce1aa8e7496d" /><Relationship Type="http://schemas.openxmlformats.org/officeDocument/2006/relationships/officeDocument" Target="/ppt/presentation.xml" Id="Rd5f643ffe02840e1" /></Relationships>
</file>

<file path=ppt/presentation.xml><?xml version="1.0" encoding="utf-8"?>
<p:presentation xmlns:p="http://schemas.openxmlformats.org/presentationml/2006/main">
  <p:sldMasterIdLst>
    <p:sldMasterId xmlns:r="http://schemas.openxmlformats.org/officeDocument/2006/relationships" id="2147483648" r:id="Ra499683e55ee4411"/>
  </p:sldMasterIdLst>
  <p:notesMasterIdLst>
    <p:notesMasterId xmlns:r="http://schemas.openxmlformats.org/officeDocument/2006/relationships" r:id="Re2a7ca09fe1a4cd9"/>
  </p:notesMasterIdLst>
  <p:sldIdLst>
    <p:sldId xmlns:r="http://schemas.openxmlformats.org/officeDocument/2006/relationships" id="256" r:id="R35760c9f655e4c70"/>
    <p:sldId xmlns:r="http://schemas.openxmlformats.org/officeDocument/2006/relationships" id="257" r:id="R0d25e9e387c74035"/>
    <p:sldId xmlns:r="http://schemas.openxmlformats.org/officeDocument/2006/relationships" id="258" r:id="R775541418d894916"/>
    <p:sldId xmlns:r="http://schemas.openxmlformats.org/officeDocument/2006/relationships" id="259" r:id="R788e6f6890e64d89"/>
    <p:sldId xmlns:r="http://schemas.openxmlformats.org/officeDocument/2006/relationships" id="260" r:id="R8badb5b0f42c41ba"/>
    <p:sldId xmlns:r="http://schemas.openxmlformats.org/officeDocument/2006/relationships" id="261" r:id="Radbf114006144a0e"/>
    <p:sldId xmlns:r="http://schemas.openxmlformats.org/officeDocument/2006/relationships" id="262" r:id="Rdb97b71ffb87435a"/>
    <p:sldId xmlns:r="http://schemas.openxmlformats.org/officeDocument/2006/relationships" id="263" r:id="Rffebc6ca86d24bc9"/>
    <p:sldId xmlns:r="http://schemas.openxmlformats.org/officeDocument/2006/relationships" id="264" r:id="R6b3a8792fca544eb"/>
    <p:sldId xmlns:r="http://schemas.openxmlformats.org/officeDocument/2006/relationships" id="265" r:id="R5e5d8894f2594b15"/>
    <p:sldId xmlns:r="http://schemas.openxmlformats.org/officeDocument/2006/relationships" id="266" r:id="Rf6f40f2b568840b4"/>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4ce5383b5404bb9" /><Relationship Type="http://schemas.openxmlformats.org/officeDocument/2006/relationships/slideMaster" Target="/ppt/slideMasters/slideMaster1.xml" Id="Ra499683e55ee4411" /><Relationship Type="http://schemas.openxmlformats.org/officeDocument/2006/relationships/notesMaster" Target="/ppt/notesMasters/notesMaster1.xml" Id="Re2a7ca09fe1a4cd9" /><Relationship Type="http://schemas.openxmlformats.org/officeDocument/2006/relationships/presProps" Target="/ppt/presProps.xml" Id="Ra18911f8eb45432a" /><Relationship Type="http://schemas.openxmlformats.org/officeDocument/2006/relationships/viewProps" Target="/ppt/viewProps.xml" Id="R7f9d65cdecd144f7" /><Relationship Type="http://schemas.openxmlformats.org/officeDocument/2006/relationships/tableStyles" Target="/ppt/tableStyles.xml" Id="R40ca6e46221e4aa1" /><Relationship Type="http://schemas.openxmlformats.org/officeDocument/2006/relationships/slide" Target="/ppt/slides/slide1.xml" Id="R35760c9f655e4c70" /><Relationship Type="http://schemas.openxmlformats.org/officeDocument/2006/relationships/slide" Target="/ppt/slides/slide2.xml" Id="R0d25e9e387c74035" /><Relationship Type="http://schemas.openxmlformats.org/officeDocument/2006/relationships/slide" Target="/ppt/slides/slide3.xml" Id="R775541418d894916" /><Relationship Type="http://schemas.openxmlformats.org/officeDocument/2006/relationships/slide" Target="/ppt/slides/slide4.xml" Id="R788e6f6890e64d89" /><Relationship Type="http://schemas.openxmlformats.org/officeDocument/2006/relationships/slide" Target="/ppt/slides/slide5.xml" Id="R8badb5b0f42c41ba" /><Relationship Type="http://schemas.openxmlformats.org/officeDocument/2006/relationships/slide" Target="/ppt/slides/slide6.xml" Id="Radbf114006144a0e" /><Relationship Type="http://schemas.openxmlformats.org/officeDocument/2006/relationships/slide" Target="/ppt/slides/slide7.xml" Id="Rdb97b71ffb87435a" /><Relationship Type="http://schemas.openxmlformats.org/officeDocument/2006/relationships/slide" Target="/ppt/slides/slide8.xml" Id="Rffebc6ca86d24bc9" /><Relationship Type="http://schemas.openxmlformats.org/officeDocument/2006/relationships/slide" Target="/ppt/slides/slide9.xml" Id="R6b3a8792fca544eb" /><Relationship Type="http://schemas.openxmlformats.org/officeDocument/2006/relationships/slide" Target="/ppt/slides/slide10.xml" Id="R5e5d8894f2594b15" /><Relationship Type="http://schemas.openxmlformats.org/officeDocument/2006/relationships/slide" Target="/ppt/slides/slide11.xml" Id="Rf6f40f2b568840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fcd37bbd104b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777d8f397c4019" /><Relationship Type="http://schemas.openxmlformats.org/officeDocument/2006/relationships/notesMaster" Target="/ppt/notesMasters/notesMaster1.xml" Id="R2d5c2a51273f4d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4412ef302c437e" /><Relationship Type="http://schemas.openxmlformats.org/officeDocument/2006/relationships/notesMaster" Target="/ppt/notesMasters/notesMaster1.xml" Id="R7eb81afa667a45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91d3bdefe944bf" /><Relationship Type="http://schemas.openxmlformats.org/officeDocument/2006/relationships/notesMaster" Target="/ppt/notesMasters/notesMaster1.xml" Id="Ra6ea1f5fe6eb48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21547410b84804" /><Relationship Type="http://schemas.openxmlformats.org/officeDocument/2006/relationships/notesMaster" Target="/ppt/notesMasters/notesMaster1.xml" Id="R8adcf81c7b8c46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6123d9caaa4837" /><Relationship Type="http://schemas.openxmlformats.org/officeDocument/2006/relationships/notesMaster" Target="/ppt/notesMasters/notesMaster1.xml" Id="R8958a341dd1d43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a282829a49454f" /><Relationship Type="http://schemas.openxmlformats.org/officeDocument/2006/relationships/notesMaster" Target="/ppt/notesMasters/notesMaster1.xml" Id="R83ae91f5679a45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264fdb7aab4922" /><Relationship Type="http://schemas.openxmlformats.org/officeDocument/2006/relationships/notesMaster" Target="/ppt/notesMasters/notesMaster1.xml" Id="Rc3a830630daa4b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c5bab7fc4340a2" /><Relationship Type="http://schemas.openxmlformats.org/officeDocument/2006/relationships/notesMaster" Target="/ppt/notesMasters/notesMaster1.xml" Id="Rd7cb4e11006e467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20f2e17ac349e5" /><Relationship Type="http://schemas.openxmlformats.org/officeDocument/2006/relationships/notesMaster" Target="/ppt/notesMasters/notesMaster1.xml" Id="R6ce2458a969649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c5096596624217" /><Relationship Type="http://schemas.openxmlformats.org/officeDocument/2006/relationships/notesMaster" Target="/ppt/notesMasters/notesMaster1.xml" Id="R04109f904bb04a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703772f5982456a" /><Relationship Type="http://schemas.openxmlformats.org/officeDocument/2006/relationships/notesMaster" Target="/ppt/notesMasters/notesMaster1.xml" Id="Rc9997e10762344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 (~20s) Hi — this is Dream Sync, a research prototype that plays timed audio cues to the sleeping brain using just a phone and a smartwatch. In the next eight minutes I'll cover the problem it targets, the actual sleep science behind it, and — just as importantly — where the evidence runs out. This is deliberately an honest tour, not a sales pitch.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(~50s) We spend about a third of our lives asleep, and for most people it's completely passive time — you can't observe it, let alone shape it. The stage that matters most for recovery and memory, deep slow-wave sleep, actually shrinks as we age. Meanwhile, sleep scientists have shown you *can* act on sleep — nudging deep sleep with sound, or cueing lucid dreams — but those techniques live in EEG labs with clinical hardware. The question Dream Sync asks: can the watch already on your wrist do a useful, safe version of that at home?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it is. (~45s) It's a two-device system. The watch senses motion and heart rate, estimates your sleep stage, and decides when to cue. The phone sits by the bed and plays the actual audio at low volume. There are two interventions. Deep cues: paired pink-noise bursts during probable deep sleep. Lucid cues: a distinctive two-tone chime during probable REM. Each maps to a specific line of research — which is what the next three slides are about.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 TMR. (~50s) The underlying principle is Targeted Memory Reactivation. In 2007, Rasch and colleagues paired a task with a rose smell, replayed the smell during deep sleep, and memory improved — with hippocampal activation on fMRI. Crucially it only worked in deep sleep, not REM or waking. In 2009, Rudoy showed the same with sound. And the 2020 meta-analysis of ninety-one experiments found a small but robust benefit, effect size 0.29 — real, in NREM only. So: cueing the sleeping brain is a genuine effect, not folklore. But note that word 'small.'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 cues. (~55s) Dream Sync's deep cue rides on closed-loop acoustic stimulation. The founding 2013 study played two-click bursts locked to the slow oscillation's up-state and boosted both the brain waves and overnight word memory; out-of-phase clicks did nothing. A 2017 study replicated the physiology in older adults and roughly quadrupled recall versus sham. Now the honest caveat, on the right: the *physiology* replicates well — cues reliably move slow waves and spindles. The *memory* benefit does not. A 2023 meta-analysis pooled it at 0.14, not significant, with a clear decline as studies got better. So I present deep cues as a reliable physiological nudge with an unproven cognitive payoff.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Lucid cues. (~55s) The lucid cue comes from targeted lucidity reactivation. The landmark 2021 study is genuinely stunning — across four labs, people in verified lucid REM sleep answered questions with prearranged eye movements. Real two-way communication with a dreaming person. And cue-replay methods have induced lucid dreams in about half of participants in lab naps. But the caveat matters: a systematic review found *no* induction technique works reliably, it's highly person-dependent, and that fifty-percent figure is a best-case morning nap, not a nightly at-home number. So this is a research-inspired prompt that may raise the odds for some people — framed exactly that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(~55s) Here's what makes it defensible rather than reckless. The watch estimates the stage from stillness, heart-rate features, and time-of-night priors. It requires the stage to hold stably, for minutes, inside the right window before it cues at all. Any movement or heart-rate spike ends the block and triggers a cool-down. And it self-limits: three cue-linked awakenings and it shuts cues off for the night. The chart shows why the time windows work — deep sleep front-loads the night, REM back-loads it, so even approximate timing is a reasonable bet.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honest limit. (~50s) This is the slide I most want to land. Dream Sync reads motion and heart rate — not brain waves. Wearables like this are genuinely good, 85 to 95 percent, at telling sleep from wake. But at naming the actual stage they drop to roughly 60 to 85 percent — deep and REM get confused with light sleep. So timing cues by stage is a sound probabilistic bet, but some cues will land in the wrong stage. That's precisely why the app always says 'probable NREM' or 'probable REM' and never claims a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Potential effects. (~45s) Putting it together — what might this actually do? Plausibly: shift deep-sleep brain activity, raise lucid-dream odds for some users, and give a motivated person a real n-of-1 experimentation tool, since every night is logged. What it does *not* claim: a proven memory boost, reliable on-demand lucid dreaming, clinical staging, or any treatment. Keeping those two columns separate is the whole ethic of the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Safety. (~45s) Risks, taken seriously. Any overnight audio can fragment sleep, so cues are low-volume, brief, user-calibrated to barely audible, and auto-disable after three cue-linked awakenings. Lucid-dream practice itself can disturb sleep, so windows are separated and cues capped. And there's a real caution: frequent lucid dreaming has been linked to higher dissociation in susceptible people, which warrants an in-app advisory. Bottom line on the bar: this is a research prototype, not a medical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(~25s) So, to close: a real problem — a third of life we can barely act on. An approach that brings two evidence-based techniques out of the lab and onto consumer hardware. An honest scope — strong on physiology, unproven on memory and lucidity, approximate on staging, and transparent about all of it. And a path forward: the nightly logs are the raw material for actually finding out what works.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9b2b60d8dd4b8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df313f29304216" /><Relationship Type="http://schemas.openxmlformats.org/officeDocument/2006/relationships/slideLayout" Target="/ppt/slideLayouts/slideLayout1.xml" Id="Ra00d9fead5c943f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0d9fead5c943f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68504ba26940c2" /><Relationship Type="http://schemas.openxmlformats.org/officeDocument/2006/relationships/notesSlide" Target="/ppt/notesSlides/notesSlide1.xml" Id="Ra9e6b96e514849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6ce7dcf50f84a34" /><Relationship Type="http://schemas.openxmlformats.org/officeDocument/2006/relationships/notesSlide" Target="/ppt/notesSlides/notesSlide2.xml" Id="R0728bf2ad13e4e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a5c309d324496e" /><Relationship Type="http://schemas.openxmlformats.org/officeDocument/2006/relationships/notesSlide" Target="/ppt/notesSlides/notesSlide3.xml" Id="R5d2e272b38944c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226946e4f324522" /><Relationship Type="http://schemas.openxmlformats.org/officeDocument/2006/relationships/notesSlide" Target="/ppt/notesSlides/notesSlide4.xml" Id="Rdf40a21560c448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2dbc8199cd446a" /><Relationship Type="http://schemas.openxmlformats.org/officeDocument/2006/relationships/notesSlide" Target="/ppt/notesSlides/notesSlide5.xml" Id="Rf67960c3d3df4e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c56415d87db4aec" /><Relationship Type="http://schemas.openxmlformats.org/officeDocument/2006/relationships/notesSlide" Target="/ppt/notesSlides/notesSlide6.xml" Id="Re45d58d82b2a4c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b8b6a09a9c4257" /><Relationship Type="http://schemas.openxmlformats.org/officeDocument/2006/relationships/notesSlide" Target="/ppt/notesSlides/notesSlide7.xml" Id="R8e670807b2664e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68f8d7395c4e30" /><Relationship Type="http://schemas.openxmlformats.org/officeDocument/2006/relationships/notesSlide" Target="/ppt/notesSlides/notesSlide8.xml" Id="Ra76274db686b4a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11d122e8c3a4282" /><Relationship Type="http://schemas.openxmlformats.org/officeDocument/2006/relationships/notesSlide" Target="/ppt/notesSlides/notesSlide9.xml" Id="R7c85a34546a542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301d8c8fc744bfa" /><Relationship Type="http://schemas.openxmlformats.org/officeDocument/2006/relationships/notesSlide" Target="/ppt/notesSlides/notesSlide10.xml" Id="Rfc9a6c4fc8c5487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a852186cd01478f" /><Relationship Type="http://schemas.openxmlformats.org/officeDocument/2006/relationships/notesSlide" Target="/ppt/notesSlides/notesSlide11.xml" Id="R0c711134d64e4f73" /></Relationships>
</file>

<file path=ppt/slides/slide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9BBB26-C416-4267-A063-2BCC34CBF94F}"/>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815DB66C-FF77-42CF-91CA-A581991FED26}"/>
              </a:ext>
            </a:extLst>
          </p:cNvPr>
          <p:cNvSpPr>
            <a:spLocks xmlns:a="http://schemas.openxmlformats.org/drawingml/2006/main" noGrp="1"/>
          </p:cNvSpPr>
          <p:nvPr/>
        </p:nvSpPr>
        <p:spPr>
          <a:xfrm xmlns:a="http://schemas.openxmlformats.org/drawingml/2006/main">
            <a:off x="8732520" y="1097280"/>
            <a:ext cx="2103120" cy="210312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B26F67F8-BAB0-42BE-899D-1053C6894E96}"/>
              </a:ext>
            </a:extLst>
          </p:cNvPr>
          <p:cNvSpPr>
            <a:spLocks xmlns:a="http://schemas.openxmlformats.org/drawingml/2006/main" noGrp="1"/>
          </p:cNvSpPr>
          <p:nvPr/>
        </p:nvSpPr>
        <p:spPr>
          <a:xfrm xmlns:a="http://schemas.openxmlformats.org/drawingml/2006/main">
            <a:off x="9384487" y="950062"/>
            <a:ext cx="2103120" cy="210312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7EB1445A-8AAC-4E94-8FE6-602F5DD0B918}"/>
              </a:ext>
            </a:extLst>
          </p:cNvPr>
          <p:cNvSpPr>
            <a:spLocks xmlns:a="http://schemas.openxmlformats.org/drawingml/2006/main" noGrp="1"/>
          </p:cNvSpPr>
          <p:nvPr/>
        </p:nvSpPr>
        <p:spPr>
          <a:xfrm xmlns:a="http://schemas.openxmlformats.org/drawingml/2006/main">
            <a:off x="10195560" y="150876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8980CBDE-2CC5-46BC-86A9-28FC1F4B3F1A}"/>
              </a:ext>
            </a:extLst>
          </p:cNvPr>
          <p:cNvSpPr>
            <a:spLocks xmlns:a="http://schemas.openxmlformats.org/drawingml/2006/main" noGrp="1"/>
          </p:cNvSpPr>
          <p:nvPr/>
        </p:nvSpPr>
        <p:spPr>
          <a:xfrm xmlns:a="http://schemas.openxmlformats.org/drawingml/2006/main">
            <a:off x="10195560" y="118872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7623B021-5302-47FE-A164-29182C147543}"/>
              </a:ext>
            </a:extLst>
          </p:cNvPr>
          <p:cNvSpPr>
            <a:spLocks xmlns:a="http://schemas.openxmlformats.org/drawingml/2006/main" noGrp="1"/>
          </p:cNvSpPr>
          <p:nvPr/>
        </p:nvSpPr>
        <p:spPr>
          <a:xfrm xmlns:a="http://schemas.openxmlformats.org/drawingml/2006/main">
            <a:off x="10195560" y="86868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05C6D492-0863-414D-995D-DA29FF458507}"/>
              </a:ext>
            </a:extLst>
          </p:cNvPr>
          <p:cNvSpPr>
            <a:spLocks xmlns:a="http://schemas.openxmlformats.org/drawingml/2006/main" noGrp="1"/>
          </p:cNvSpPr>
          <p:nvPr/>
        </p:nvSpPr>
        <p:spPr>
          <a:xfrm xmlns:a="http://schemas.openxmlformats.org/drawingml/2006/main">
            <a:off x="8412480" y="1097280"/>
            <a:ext cx="82296" cy="82296"/>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FAC07491-7F03-4395-9CCE-B1A62CCC78AA}"/>
              </a:ext>
            </a:extLst>
          </p:cNvPr>
          <p:cNvSpPr>
            <a:spLocks xmlns:a="http://schemas.openxmlformats.org/drawingml/2006/main" noGrp="1"/>
          </p:cNvSpPr>
          <p:nvPr/>
        </p:nvSpPr>
        <p:spPr>
          <a:xfrm xmlns:a="http://schemas.openxmlformats.org/drawingml/2006/main">
            <a:off x="11064240" y="1371600"/>
            <a:ext cx="64008" cy="6400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D252B868-F0C8-4B66-8039-D856854DD6E1}"/>
              </a:ext>
            </a:extLst>
          </p:cNvPr>
          <p:cNvSpPr>
            <a:spLocks xmlns:a="http://schemas.openxmlformats.org/drawingml/2006/main" noGrp="1"/>
          </p:cNvSpPr>
          <p:nvPr/>
        </p:nvSpPr>
        <p:spPr>
          <a:xfrm xmlns:a="http://schemas.openxmlformats.org/drawingml/2006/main">
            <a:off x="8961120" y="3383280"/>
            <a:ext cx="54864" cy="54864"/>
          </a:xfrm>
          <a:prstGeom xmlns:a="http://schemas.openxmlformats.org/drawingml/2006/main" prst="ellipse">
            <a:avLst/>
          </a:prstGeom>
          <a:solidFill xmlns:a="http://schemas.openxmlformats.org/drawingml/2006/main">
            <a:srgbClr val="F5F0E1"/>
          </a:solidFill>
        </p:spPr>
      </p:sp>
      <p:sp>
        <p:nvSpPr>
          <p:cNvPr id="11" name="Shape 9">
            <a:extLst xmlns:a="http://schemas.openxmlformats.org/drawingml/2006/main">
              <a:ext uri="{FF2B5EF4-FFF2-40B4-BE49-F238E27FC236}">
                <a16:creationId xmlns:a16="http://schemas.microsoft.com/office/drawing/2014/main" id="{6D74713B-CBA9-4479-9D3B-EFDFA67FCA0F}"/>
              </a:ext>
            </a:extLst>
          </p:cNvPr>
          <p:cNvSpPr>
            <a:spLocks xmlns:a="http://schemas.openxmlformats.org/drawingml/2006/main" noGrp="1"/>
          </p:cNvSpPr>
          <p:nvPr/>
        </p:nvSpPr>
        <p:spPr>
          <a:xfrm xmlns:a="http://schemas.openxmlformats.org/drawingml/2006/main">
            <a:off x="10881360" y="3840480"/>
            <a:ext cx="73152" cy="73152"/>
          </a:xfrm>
          <a:prstGeom xmlns:a="http://schemas.openxmlformats.org/drawingml/2006/main" prst="ellipse">
            <a:avLst/>
          </a:prstGeom>
          <a:solidFill xmlns:a="http://schemas.openxmlformats.org/drawingml/2006/main">
            <a:srgbClr val="F5F0E1"/>
          </a:solidFill>
        </p:spPr>
      </p:sp>
      <p:sp>
        <p:nvSpPr>
          <p:cNvPr id="12" name="Text 10">
            <a:extLst xmlns:a="http://schemas.openxmlformats.org/drawingml/2006/main">
              <a:ext uri="{FF2B5EF4-FFF2-40B4-BE49-F238E27FC236}">
                <a16:creationId xmlns:a16="http://schemas.microsoft.com/office/drawing/2014/main" id="{BA333887-938A-4B26-BF5C-92AF3CE7E0FB}"/>
              </a:ext>
            </a:extLst>
          </p:cNvPr>
          <p:cNvSpPr>
            <a:spLocks xmlns:a="http://schemas.openxmlformats.org/drawingml/2006/main" noGrp="1"/>
          </p:cNvSpPr>
          <p:nvPr/>
        </p:nvSpPr>
        <p:spPr>
          <a:xfrm xmlns:a="http://schemas.openxmlformats.org/drawingml/2006/main">
            <a:off x="822960" y="196596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a:solidFill>
                  <a:srgbClr val="CADCFC"/>
                </a:solidFill>
                <a:latin typeface="Calibri"/>
                <a:ea typeface="Calibri"/>
                <a:cs typeface="Calibri"/>
              </a:rPr>
              <a:t>CAPSTONE PROTOTYPE  ·  S23+ + WATCH ULTRA</a:t>
            </a:r>
          </a:p>
        </p:txBody>
      </p:sp>
      <p:sp>
        <p:nvSpPr>
          <p:cNvPr id="13" name="Text 11">
            <a:extLst xmlns:a="http://schemas.openxmlformats.org/drawingml/2006/main">
              <a:ext uri="{FF2B5EF4-FFF2-40B4-BE49-F238E27FC236}">
                <a16:creationId xmlns:a16="http://schemas.microsoft.com/office/drawing/2014/main" id="{DBC8F246-990C-4B81-BA25-1A4449126499}"/>
              </a:ext>
            </a:extLst>
          </p:cNvPr>
          <p:cNvSpPr>
            <a:spLocks xmlns:a="http://schemas.openxmlformats.org/drawingml/2006/main" noGrp="1"/>
          </p:cNvSpPr>
          <p:nvPr/>
        </p:nvSpPr>
        <p:spPr>
          <a:xfrm xmlns:a="http://schemas.openxmlformats.org/drawingml/2006/main">
            <a:off x="777240" y="2286000"/>
            <a:ext cx="8229600" cy="1188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6000" b="1">
                <a:solidFill>
                  <a:srgbClr val="FFFFFF"/>
                </a:solidFill>
                <a:latin typeface="Cambria"/>
                <a:ea typeface="Cambria"/>
                <a:cs typeface="Cambria"/>
              </a:rPr>
              <a:t>Dream Sync</a:t>
            </a:r>
          </a:p>
        </p:txBody>
      </p:sp>
      <p:sp>
        <p:nvSpPr>
          <p:cNvPr id="14" name="Text 12">
            <a:extLst xmlns:a="http://schemas.openxmlformats.org/drawingml/2006/main">
              <a:ext uri="{FF2B5EF4-FFF2-40B4-BE49-F238E27FC236}">
                <a16:creationId xmlns:a16="http://schemas.microsoft.com/office/drawing/2014/main" id="{3C36AFBC-EFDE-489A-9CCC-4CA2081F9EC7}"/>
              </a:ext>
            </a:extLst>
          </p:cNvPr>
          <p:cNvSpPr>
            <a:spLocks xmlns:a="http://schemas.openxmlformats.org/drawingml/2006/main" noGrp="1"/>
          </p:cNvSpPr>
          <p:nvPr/>
        </p:nvSpPr>
        <p:spPr>
          <a:xfrm xmlns:a="http://schemas.openxmlformats.org/drawingml/2006/main">
            <a:off x="822960" y="3520440"/>
            <a:ext cx="822960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a:solidFill>
                  <a:srgbClr val="CADCFC"/>
                </a:solidFill>
                <a:latin typeface="Calibri"/>
                <a:ea typeface="Calibri"/>
                <a:cs typeface="Calibri"/>
              </a:rPr>
              <a:t>Safety-gated cue research — without claiming EEG</a:t>
            </a:r>
          </a:p>
        </p:txBody>
      </p:sp>
      <p:sp>
        <p:nvSpPr>
          <p:cNvPr id="15" name="Text 13">
            <a:extLst xmlns:a="http://schemas.openxmlformats.org/drawingml/2006/main">
              <a:ext uri="{FF2B5EF4-FFF2-40B4-BE49-F238E27FC236}">
                <a16:creationId xmlns:a16="http://schemas.microsoft.com/office/drawing/2014/main" id="{86DB1818-CDEE-4550-9275-8042A8B1CFB5}"/>
              </a:ext>
            </a:extLst>
          </p:cNvPr>
          <p:cNvSpPr>
            <a:spLocks xmlns:a="http://schemas.openxmlformats.org/drawingml/2006/main" noGrp="1"/>
          </p:cNvSpPr>
          <p:nvPr/>
        </p:nvSpPr>
        <p:spPr>
          <a:xfrm xmlns:a="http://schemas.openxmlformats.org/drawingml/2006/main">
            <a:off x="822960" y="5212080"/>
            <a:ext cx="9144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300" i="1">
                <a:solidFill>
                  <a:srgbClr val="9AA0C4"/>
                </a:solidFill>
                <a:latin typeface="Calibri"/>
                <a:ea typeface="Calibri"/>
                <a:cs typeface="Calibri"/>
              </a:rPr>
              <a:t>Implemented and tested locally · paired-device validation is next</a:t>
            </a:r>
          </a:p>
        </p:txBody>
      </p:sp>
    </p:spTree>
    <p:extLst>
      <p:ext uri="{BB962C8B-B14F-4D97-AF65-F5344CB8AC3E}">
        <p14:creationId xmlns:p14="http://schemas.microsoft.com/office/powerpoint/2010/main" val="3331026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466902-5611-4691-924A-4F805CE3F6EC}"/>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At-home cueing fails when timing and safety are guesses</a:t>
            </a:r>
          </a:p>
        </p:txBody>
      </p:sp>
      <p:sp>
        <p:nvSpPr>
          <p:cNvPr id="3" name="Text 1">
            <a:extLst xmlns:a="http://schemas.openxmlformats.org/drawingml/2006/main">
              <a:ext uri="{FF2B5EF4-FFF2-40B4-BE49-F238E27FC236}">
                <a16:creationId xmlns:a16="http://schemas.microsoft.com/office/drawing/2014/main" id="{08ED3A9A-C318-4E40-B3E8-B97F15003F78}"/>
              </a:ext>
            </a:extLst>
          </p:cNvPr>
          <p:cNvSpPr>
            <a:spLocks xmlns:a="http://schemas.openxmlformats.org/drawingml/2006/main" noGrp="1"/>
          </p:cNvSpPr>
          <p:nvPr/>
        </p:nvSpPr>
        <p:spPr>
          <a:xfrm xmlns:a="http://schemas.openxmlformats.org/drawingml/2006/main">
            <a:off x="548640" y="1234440"/>
            <a:ext cx="676656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500">
                <a:solidFill>
                  <a:srgbClr val="5B6178"/>
                </a:solidFill>
                <a:latin typeface="Calibri"/>
                <a:ea typeface="Calibri"/>
                <a:cs typeface="Calibri"/>
              </a:rPr>
              <a:t>The capstone problem is not just playing sound. It is proving when sound was eligible, delivered once, and stopped safely.</a:t>
            </a:r>
          </a:p>
        </p:txBody>
      </p:sp>
      <p:sp>
        <p:nvSpPr>
          <p:cNvPr id="4" name="Shape 2">
            <a:extLst xmlns:a="http://schemas.openxmlformats.org/drawingml/2006/main">
              <a:ext uri="{FF2B5EF4-FFF2-40B4-BE49-F238E27FC236}">
                <a16:creationId xmlns:a16="http://schemas.microsoft.com/office/drawing/2014/main" id="{2344D700-EDAB-4EA4-8E36-9A16B1B6FAA9}"/>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1AAD774F-9078-4007-89F7-BC6605CD0664}"/>
              </a:ext>
            </a:extLst>
          </p:cNvPr>
          <p:cNvSpPr>
            <a:spLocks xmlns:a="http://schemas.openxmlformats.org/drawingml/2006/main" noGrp="1"/>
          </p:cNvSpPr>
          <p:nvPr/>
        </p:nvSpPr>
        <p:spPr>
          <a:xfrm xmlns:a="http://schemas.openxmlformats.org/drawingml/2006/main">
            <a:off x="548640" y="22860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AD005FEB-AAFF-4552-9A96-57ECEA7F513E}"/>
              </a:ext>
            </a:extLst>
          </p:cNvPr>
          <p:cNvSpPr>
            <a:spLocks xmlns:a="http://schemas.openxmlformats.org/drawingml/2006/main" noGrp="1"/>
          </p:cNvSpPr>
          <p:nvPr/>
        </p:nvSpPr>
        <p:spPr>
          <a:xfrm xmlns:a="http://schemas.openxmlformats.org/drawingml/2006/main">
            <a:off x="1115568" y="223113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No EEG at home</a:t>
            </a:r>
          </a:p>
        </p:txBody>
      </p:sp>
      <p:sp>
        <p:nvSpPr>
          <p:cNvPr id="7" name="Text 5">
            <a:extLst xmlns:a="http://schemas.openxmlformats.org/drawingml/2006/main">
              <a:ext uri="{FF2B5EF4-FFF2-40B4-BE49-F238E27FC236}">
                <a16:creationId xmlns:a16="http://schemas.microsoft.com/office/drawing/2014/main" id="{F764A171-FB27-441B-A88C-D24A66CFF7DD}"/>
              </a:ext>
            </a:extLst>
          </p:cNvPr>
          <p:cNvSpPr>
            <a:spLocks xmlns:a="http://schemas.openxmlformats.org/drawingml/2006/main" noGrp="1"/>
          </p:cNvSpPr>
          <p:nvPr/>
        </p:nvSpPr>
        <p:spPr>
          <a:xfrm xmlns:a="http://schemas.openxmlformats.org/drawingml/2006/main">
            <a:off x="1115568" y="259689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watch sees motion and optical heart rate, so it can estimate eligibility — not brain phase.</a:t>
            </a:r>
          </a:p>
        </p:txBody>
      </p:sp>
      <p:sp>
        <p:nvSpPr>
          <p:cNvPr id="8" name="Shape 6">
            <a:extLst xmlns:a="http://schemas.openxmlformats.org/drawingml/2006/main">
              <a:ext uri="{FF2B5EF4-FFF2-40B4-BE49-F238E27FC236}">
                <a16:creationId xmlns:a16="http://schemas.microsoft.com/office/drawing/2014/main" id="{E0806DDA-6F5C-4B9C-8A17-CD6094BD7805}"/>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E48E809A-84E7-4CBA-BD74-A52A9F177B00}"/>
              </a:ext>
            </a:extLst>
          </p:cNvPr>
          <p:cNvSpPr>
            <a:spLocks xmlns:a="http://schemas.openxmlformats.org/drawingml/2006/main" noGrp="1"/>
          </p:cNvSpPr>
          <p:nvPr/>
        </p:nvSpPr>
        <p:spPr>
          <a:xfrm xmlns:a="http://schemas.openxmlformats.org/drawingml/2006/main">
            <a:off x="548640" y="35204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09189509-DAB4-4708-AED7-DB4E5D9BA59D}"/>
              </a:ext>
            </a:extLst>
          </p:cNvPr>
          <p:cNvSpPr>
            <a:spLocks xmlns:a="http://schemas.openxmlformats.org/drawingml/2006/main" noGrp="1"/>
          </p:cNvSpPr>
          <p:nvPr/>
        </p:nvSpPr>
        <p:spPr>
          <a:xfrm xmlns:a="http://schemas.openxmlformats.org/drawingml/2006/main">
            <a:off x="1115568" y="346557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Audio can wake the user</a:t>
            </a:r>
          </a:p>
        </p:txBody>
      </p:sp>
      <p:sp>
        <p:nvSpPr>
          <p:cNvPr id="11" name="Text 9">
            <a:extLst xmlns:a="http://schemas.openxmlformats.org/drawingml/2006/main">
              <a:ext uri="{FF2B5EF4-FFF2-40B4-BE49-F238E27FC236}">
                <a16:creationId xmlns:a16="http://schemas.microsoft.com/office/drawing/2014/main" id="{D98CB99A-0828-496F-BCF0-B13CD5B287FF}"/>
              </a:ext>
            </a:extLst>
          </p:cNvPr>
          <p:cNvSpPr>
            <a:spLocks xmlns:a="http://schemas.openxmlformats.org/drawingml/2006/main" noGrp="1"/>
          </p:cNvSpPr>
          <p:nvPr/>
        </p:nvSpPr>
        <p:spPr>
          <a:xfrm xmlns:a="http://schemas.openxmlformats.org/drawingml/2006/main">
            <a:off x="1115568" y="383133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Mute, wrong route, interruptions, stale sensors, or repeated cues turn a prototype into a sleep disruptor.</a:t>
            </a:r>
          </a:p>
        </p:txBody>
      </p:sp>
      <p:sp>
        <p:nvSpPr>
          <p:cNvPr id="12" name="Shape 10">
            <a:extLst xmlns:a="http://schemas.openxmlformats.org/drawingml/2006/main">
              <a:ext uri="{FF2B5EF4-FFF2-40B4-BE49-F238E27FC236}">
                <a16:creationId xmlns:a16="http://schemas.microsoft.com/office/drawing/2014/main" id="{BCB78D49-5509-4777-9AA7-92567DA00248}"/>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32F14F78-31DA-4883-8875-661D3E6F4F66}"/>
              </a:ext>
            </a:extLst>
          </p:cNvPr>
          <p:cNvSpPr>
            <a:spLocks xmlns:a="http://schemas.openxmlformats.org/drawingml/2006/main" noGrp="1"/>
          </p:cNvSpPr>
          <p:nvPr/>
        </p:nvSpPr>
        <p:spPr>
          <a:xfrm xmlns:a="http://schemas.openxmlformats.org/drawingml/2006/main">
            <a:off x="548640" y="47548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2D006308-687A-48AF-9472-6532CB46E5E1}"/>
              </a:ext>
            </a:extLst>
          </p:cNvPr>
          <p:cNvSpPr>
            <a:spLocks xmlns:a="http://schemas.openxmlformats.org/drawingml/2006/main" noGrp="1"/>
          </p:cNvSpPr>
          <p:nvPr/>
        </p:nvSpPr>
        <p:spPr>
          <a:xfrm xmlns:a="http://schemas.openxmlformats.org/drawingml/2006/main">
            <a:off x="1115568" y="4700016"/>
            <a:ext cx="61996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Missing evidence ruins the experiment</a:t>
            </a:r>
          </a:p>
        </p:txBody>
      </p:sp>
      <p:sp>
        <p:nvSpPr>
          <p:cNvPr id="15" name="Text 13">
            <a:extLst xmlns:a="http://schemas.openxmlformats.org/drawingml/2006/main">
              <a:ext uri="{FF2B5EF4-FFF2-40B4-BE49-F238E27FC236}">
                <a16:creationId xmlns:a16="http://schemas.microsoft.com/office/drawing/2014/main" id="{AC219991-269A-41E9-A44B-B93D0A2E904F}"/>
              </a:ext>
            </a:extLst>
          </p:cNvPr>
          <p:cNvSpPr>
            <a:spLocks xmlns:a="http://schemas.openxmlformats.org/drawingml/2006/main" noGrp="1"/>
          </p:cNvSpPr>
          <p:nvPr/>
        </p:nvSpPr>
        <p:spPr>
          <a:xfrm xmlns:a="http://schemas.openxmlformats.org/drawingml/2006/main">
            <a:off x="1115568" y="5065776"/>
            <a:ext cx="619963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Without sham nights, lifecycle logs, terminal states, and a survey, an outcome cannot be interpreted.</a:t>
            </a:r>
          </a:p>
        </p:txBody>
      </p:sp>
      <p:sp>
        <p:nvSpPr>
          <p:cNvPr id="16" name="Shape 14">
            <a:extLst xmlns:a="http://schemas.openxmlformats.org/drawingml/2006/main">
              <a:ext uri="{FF2B5EF4-FFF2-40B4-BE49-F238E27FC236}">
                <a16:creationId xmlns:a16="http://schemas.microsoft.com/office/drawing/2014/main" id="{7F5C6C3B-ED10-4A7A-BDF7-D092B0E3DAC5}"/>
              </a:ext>
            </a:extLst>
          </p:cNvPr>
          <p:cNvSpPr>
            <a:spLocks xmlns:a="http://schemas.openxmlformats.org/drawingml/2006/main" noGrp="1"/>
          </p:cNvSpPr>
          <p:nvPr/>
        </p:nvSpPr>
        <p:spPr>
          <a:xfrm xmlns:a="http://schemas.openxmlformats.org/drawingml/2006/main">
            <a:off x="7772400" y="1463040"/>
            <a:ext cx="3840480" cy="3931920"/>
          </a:xfrm>
          <a:prstGeom xmlns:a="http://schemas.openxmlformats.org/drawingml/2006/main" prst="roundRect">
            <a:avLst>
              <a:gd name="adj" fmla="val 2143"/>
            </a:avLst>
          </a:prstGeom>
          <a:solidFill xmlns:a="http://schemas.openxmlformats.org/drawingml/2006/main">
            <a:srgbClr val="1E2247"/>
          </a:solidFill>
          <a:ln xmlns:a="http://schemas.openxmlformats.org/drawingml/2006/main" w="12700">
            <a:solidFill>
              <a:srgbClr val="1E2247"/>
            </a:solidFill>
            <a:prstDash val="solid"/>
          </a:ln>
        </p:spPr>
      </p:sp>
      <p:sp>
        <p:nvSpPr>
          <p:cNvPr id="17" name="Shape 15">
            <a:extLst xmlns:a="http://schemas.openxmlformats.org/drawingml/2006/main">
              <a:ext uri="{FF2B5EF4-FFF2-40B4-BE49-F238E27FC236}">
                <a16:creationId xmlns:a16="http://schemas.microsoft.com/office/drawing/2014/main" id="{0A56431A-41E4-4987-8C6E-4718E3900CE0}"/>
              </a:ext>
            </a:extLst>
          </p:cNvPr>
          <p:cNvSpPr>
            <a:spLocks xmlns:a="http://schemas.openxmlformats.org/drawingml/2006/main" noGrp="1"/>
          </p:cNvSpPr>
          <p:nvPr/>
        </p:nvSpPr>
        <p:spPr>
          <a:xfrm xmlns:a="http://schemas.openxmlformats.org/drawingml/2006/main">
            <a:off x="10625328" y="1709928"/>
            <a:ext cx="512064" cy="512064"/>
          </a:xfrm>
          <a:prstGeom xmlns:a="http://schemas.openxmlformats.org/drawingml/2006/main" prst="ellipse">
            <a:avLst/>
          </a:prstGeom>
          <a:solidFill xmlns:a="http://schemas.openxmlformats.org/drawingml/2006/main">
            <a:srgbClr val="F5F0E1"/>
          </a:solidFill>
        </p:spPr>
      </p:sp>
      <p:sp>
        <p:nvSpPr>
          <p:cNvPr id="18" name="Shape 16">
            <a:extLst xmlns:a="http://schemas.openxmlformats.org/drawingml/2006/main">
              <a:ext uri="{FF2B5EF4-FFF2-40B4-BE49-F238E27FC236}">
                <a16:creationId xmlns:a16="http://schemas.microsoft.com/office/drawing/2014/main" id="{D9E9A533-A5B4-4D55-999F-1312350EFD44}"/>
              </a:ext>
            </a:extLst>
          </p:cNvPr>
          <p:cNvSpPr>
            <a:spLocks xmlns:a="http://schemas.openxmlformats.org/drawingml/2006/main" noGrp="1"/>
          </p:cNvSpPr>
          <p:nvPr/>
        </p:nvSpPr>
        <p:spPr>
          <a:xfrm xmlns:a="http://schemas.openxmlformats.org/drawingml/2006/main">
            <a:off x="10784068" y="1674084"/>
            <a:ext cx="512064" cy="512064"/>
          </a:xfrm>
          <a:prstGeom xmlns:a="http://schemas.openxmlformats.org/drawingml/2006/main" prst="ellipse">
            <a:avLst/>
          </a:prstGeom>
          <a:solidFill xmlns:a="http://schemas.openxmlformats.org/drawingml/2006/main">
            <a:srgbClr val="1E2247"/>
          </a:solidFill>
        </p:spPr>
      </p:sp>
      <p:sp>
        <p:nvSpPr>
          <p:cNvPr id="19" name="Text 17">
            <a:extLst xmlns:a="http://schemas.openxmlformats.org/drawingml/2006/main">
              <a:ext uri="{FF2B5EF4-FFF2-40B4-BE49-F238E27FC236}">
                <a16:creationId xmlns:a16="http://schemas.microsoft.com/office/drawing/2014/main" id="{3AA5082A-469F-4F40-B39C-5F6BD3942CB1}"/>
              </a:ext>
            </a:extLst>
          </p:cNvPr>
          <p:cNvSpPr>
            <a:spLocks xmlns:a="http://schemas.openxmlformats.org/drawingml/2006/main" noGrp="1"/>
          </p:cNvSpPr>
          <p:nvPr/>
        </p:nvSpPr>
        <p:spPr>
          <a:xfrm xmlns:a="http://schemas.openxmlformats.org/drawingml/2006/main">
            <a:off x="7772400" y="2148840"/>
            <a:ext cx="3840480" cy="10972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600" b="1">
                <a:solidFill>
                  <a:srgbClr val="F5F0E1"/>
                </a:solidFill>
                <a:latin typeface="Cambria"/>
                <a:ea typeface="Cambria"/>
                <a:cs typeface="Cambria"/>
              </a:rPr>
              <a:t>1 → ≤1</a:t>
            </a:r>
          </a:p>
        </p:txBody>
      </p:sp>
      <p:sp>
        <p:nvSpPr>
          <p:cNvPr id="20" name="Text 18">
            <a:extLst xmlns:a="http://schemas.openxmlformats.org/drawingml/2006/main">
              <a:ext uri="{FF2B5EF4-FFF2-40B4-BE49-F238E27FC236}">
                <a16:creationId xmlns:a16="http://schemas.microsoft.com/office/drawing/2014/main" id="{ACBC2ABF-D7F4-4D87-992B-9B8A38157CAD}"/>
              </a:ext>
            </a:extLst>
          </p:cNvPr>
          <p:cNvSpPr>
            <a:spLocks xmlns:a="http://schemas.openxmlformats.org/drawingml/2006/main" noGrp="1"/>
          </p:cNvSpPr>
          <p:nvPr/>
        </p:nvSpPr>
        <p:spPr>
          <a:xfrm xmlns:a="http://schemas.openxmlformats.org/drawingml/2006/main">
            <a:off x="7955280" y="3246120"/>
            <a:ext cx="347472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a:solidFill>
                  <a:srgbClr val="CADCFC"/>
                </a:solidFill>
                <a:latin typeface="Calibri"/>
                <a:ea typeface="Calibri"/>
                <a:cs typeface="Calibri"/>
              </a:rPr>
              <a:t>playback per valid cue request</a:t>
            </a:r>
          </a:p>
        </p:txBody>
      </p:sp>
      <p:sp>
        <p:nvSpPr>
          <p:cNvPr id="21" name="Text 19">
            <a:extLst xmlns:a="http://schemas.openxmlformats.org/drawingml/2006/main">
              <a:ext uri="{FF2B5EF4-FFF2-40B4-BE49-F238E27FC236}">
                <a16:creationId xmlns:a16="http://schemas.microsoft.com/office/drawing/2014/main" id="{36B5806C-66E4-41D0-8B6A-B53C0D56B782}"/>
              </a:ext>
            </a:extLst>
          </p:cNvPr>
          <p:cNvSpPr>
            <a:spLocks xmlns:a="http://schemas.openxmlformats.org/drawingml/2006/main" noGrp="1"/>
          </p:cNvSpPr>
          <p:nvPr/>
        </p:nvSpPr>
        <p:spPr>
          <a:xfrm xmlns:a="http://schemas.openxmlformats.org/drawingml/2006/main">
            <a:off x="8046720" y="3977640"/>
            <a:ext cx="329184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i="1">
                <a:solidFill>
                  <a:srgbClr val="C7CDF0"/>
                </a:solidFill>
                <a:latin typeface="Calibri"/>
                <a:ea typeface="Calibri"/>
                <a:cs typeface="Calibri"/>
              </a:rPr>
              <a:t>Core invariant: every invalid request produces zero playback.</a:t>
            </a:r>
          </a:p>
        </p:txBody>
      </p:sp>
      <p:sp>
        <p:nvSpPr>
          <p:cNvPr id="22" name="Shape 20">
            <a:extLst xmlns:a="http://schemas.openxmlformats.org/drawingml/2006/main">
              <a:ext uri="{FF2B5EF4-FFF2-40B4-BE49-F238E27FC236}">
                <a16:creationId xmlns:a16="http://schemas.microsoft.com/office/drawing/2014/main" id="{B22EFEAE-8130-4C63-9099-07740658A03A}"/>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3" name="Shape 21">
            <a:extLst xmlns:a="http://schemas.openxmlformats.org/drawingml/2006/main">
              <a:ext uri="{FF2B5EF4-FFF2-40B4-BE49-F238E27FC236}">
                <a16:creationId xmlns:a16="http://schemas.microsoft.com/office/drawing/2014/main" id="{88AA4A14-4660-4792-8F97-61D44A454881}"/>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4" name="Text 22">
            <a:extLst xmlns:a="http://schemas.openxmlformats.org/drawingml/2006/main">
              <a:ext uri="{FF2B5EF4-FFF2-40B4-BE49-F238E27FC236}">
                <a16:creationId xmlns:a16="http://schemas.microsoft.com/office/drawing/2014/main" id="{AE28DDDB-89F2-4A46-ABAE-EFDCE5676AA4}"/>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5" name="Text 23">
            <a:extLst xmlns:a="http://schemas.openxmlformats.org/drawingml/2006/main">
              <a:ext uri="{FF2B5EF4-FFF2-40B4-BE49-F238E27FC236}">
                <a16:creationId xmlns:a16="http://schemas.microsoft.com/office/drawing/2014/main" id="{C76945B0-CF61-4D7F-9464-71C60BC94347}"/>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2</a:t>
            </a:r>
          </a:p>
        </p:txBody>
      </p:sp>
    </p:spTree>
    <p:extLst>
      <p:ext uri="{BB962C8B-B14F-4D97-AF65-F5344CB8AC3E}">
        <p14:creationId xmlns:p14="http://schemas.microsoft.com/office/powerpoint/2010/main" val="14258893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0A11E86-1576-4E9F-A9F5-5E0DD18FA2B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The capstone now runs as one controlled workflow</a:t>
            </a:r>
          </a:p>
        </p:txBody>
      </p:sp>
      <p:sp>
        <p:nvSpPr>
          <p:cNvPr id="3" name="Text 1">
            <a:extLst xmlns:a="http://schemas.openxmlformats.org/drawingml/2006/main">
              <a:ext uri="{FF2B5EF4-FFF2-40B4-BE49-F238E27FC236}">
                <a16:creationId xmlns:a16="http://schemas.microsoft.com/office/drawing/2014/main" id="{EAE77DA8-3AAA-484C-8279-1946BBD46F12}"/>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1600">
                <a:solidFill>
                  <a:srgbClr val="5B6178"/>
                </a:solidFill>
                <a:latin typeface="Calibri"/>
                <a:ea typeface="Calibri"/>
                <a:cs typeface="Calibri"/>
              </a:rPr>
              <a:t>The watch decides eligibility; the bound phone verifies audio; both persist evidence for a blinded morning review.</a:t>
            </a:r>
          </a:p>
        </p:txBody>
      </p:sp>
      <p:sp>
        <p:nvSpPr>
          <p:cNvPr id="4" name="Shape 2">
            <a:extLst xmlns:a="http://schemas.openxmlformats.org/drawingml/2006/main">
              <a:ext uri="{FF2B5EF4-FFF2-40B4-BE49-F238E27FC236}">
                <a16:creationId xmlns:a16="http://schemas.microsoft.com/office/drawing/2014/main" id="{C470C2FB-80BE-4B32-8403-E59D2062F8C0}"/>
              </a:ext>
            </a:extLst>
          </p:cNvPr>
          <p:cNvSpPr>
            <a:spLocks xmlns:a="http://schemas.openxmlformats.org/drawingml/2006/main" noGrp="1"/>
          </p:cNvSpPr>
          <p:nvPr/>
        </p:nvSpPr>
        <p:spPr>
          <a:xfrm xmlns:a="http://schemas.openxmlformats.org/drawingml/2006/main">
            <a:off x="548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5" name="Shape 3">
            <a:extLst xmlns:a="http://schemas.openxmlformats.org/drawingml/2006/main">
              <a:ext uri="{FF2B5EF4-FFF2-40B4-BE49-F238E27FC236}">
                <a16:creationId xmlns:a16="http://schemas.microsoft.com/office/drawing/2014/main" id="{C80984A5-6604-480D-AC10-E177559D2278}"/>
              </a:ext>
            </a:extLst>
          </p:cNvPr>
          <p:cNvSpPr>
            <a:spLocks xmlns:a="http://schemas.openxmlformats.org/drawingml/2006/main" noGrp="1"/>
          </p:cNvSpPr>
          <p:nvPr/>
        </p:nvSpPr>
        <p:spPr>
          <a:xfrm xmlns:a="http://schemas.openxmlformats.org/drawingml/2006/main">
            <a:off x="868680" y="2377440"/>
            <a:ext cx="457200" cy="457200"/>
          </a:xfrm>
          <a:prstGeom xmlns:a="http://schemas.openxmlformats.org/drawingml/2006/main" prst="ellipse">
            <a:avLst/>
          </a:prstGeom>
          <a:solidFill xmlns:a="http://schemas.openxmlformats.org/drawingml/2006/main">
            <a:srgbClr val="5B6CE8"/>
          </a:solidFill>
        </p:spPr>
      </p:sp>
      <p:sp>
        <p:nvSpPr>
          <p:cNvPr id="6" name="Text 4">
            <a:extLst xmlns:a="http://schemas.openxmlformats.org/drawingml/2006/main">
              <a:ext uri="{FF2B5EF4-FFF2-40B4-BE49-F238E27FC236}">
                <a16:creationId xmlns:a16="http://schemas.microsoft.com/office/drawing/2014/main" id="{0FA695B3-A867-4E1B-9CC4-536D75CADB00}"/>
              </a:ext>
            </a:extLst>
          </p:cNvPr>
          <p:cNvSpPr>
            <a:spLocks xmlns:a="http://schemas.openxmlformats.org/drawingml/2006/main" noGrp="1"/>
          </p:cNvSpPr>
          <p:nvPr/>
        </p:nvSpPr>
        <p:spPr>
          <a:xfrm xmlns:a="http://schemas.openxmlformats.org/drawingml/2006/main">
            <a:off x="1508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NREM-eligible</a:t>
            </a:r>
          </a:p>
        </p:txBody>
      </p:sp>
      <p:sp>
        <p:nvSpPr>
          <p:cNvPr id="7" name="Text 5">
            <a:extLst xmlns:a="http://schemas.openxmlformats.org/drawingml/2006/main">
              <a:ext uri="{FF2B5EF4-FFF2-40B4-BE49-F238E27FC236}">
                <a16:creationId xmlns:a16="http://schemas.microsoft.com/office/drawing/2014/main" id="{E8866C06-CEB3-4D1A-8F18-0200271BA5BD}"/>
              </a:ext>
            </a:extLst>
          </p:cNvPr>
          <p:cNvSpPr>
            <a:spLocks xmlns:a="http://schemas.openxmlformats.org/drawingml/2006/main" noGrp="1"/>
          </p:cNvSpPr>
          <p:nvPr/>
        </p:nvSpPr>
        <p:spPr>
          <a:xfrm xmlns:a="http://schemas.openxmlformats.org/drawingml/2006/main">
            <a:off x="868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Fresh motion, estimated sleep onset, early-night timing, sustained quiet, and arousal back-off gate the paired pink-noise cue.</a:t>
            </a:r>
          </a:p>
        </p:txBody>
      </p:sp>
      <p:sp>
        <p:nvSpPr>
          <p:cNvPr id="8" name="Shape 6">
            <a:extLst xmlns:a="http://schemas.openxmlformats.org/drawingml/2006/main">
              <a:ext uri="{FF2B5EF4-FFF2-40B4-BE49-F238E27FC236}">
                <a16:creationId xmlns:a16="http://schemas.microsoft.com/office/drawing/2014/main" id="{870B9D2F-C28B-469B-9FEC-7CA04EF3E57E}"/>
              </a:ext>
            </a:extLst>
          </p:cNvPr>
          <p:cNvSpPr>
            <a:spLocks xmlns:a="http://schemas.openxmlformats.org/drawingml/2006/main" noGrp="1"/>
          </p:cNvSpPr>
          <p:nvPr/>
        </p:nvSpPr>
        <p:spPr>
          <a:xfrm xmlns:a="http://schemas.openxmlformats.org/drawingml/2006/main">
            <a:off x="6263640" y="2057400"/>
            <a:ext cx="5394960" cy="2423160"/>
          </a:xfrm>
          <a:prstGeom xmlns:a="http://schemas.openxmlformats.org/drawingml/2006/main" prst="roundRect">
            <a:avLst>
              <a:gd name="adj" fmla="val 3396"/>
            </a:avLst>
          </a:prstGeom>
          <a:solidFill xmlns:a="http://schemas.openxmlformats.org/drawingml/2006/main">
            <a:srgbClr val="F2F4FD"/>
          </a:solidFill>
          <a:ln xmlns:a="http://schemas.openxmlformats.org/drawingml/2006/main" w="12700">
            <a:solidFill>
              <a:srgbClr val="DDE2F7"/>
            </a:solidFill>
            <a:prstDash val="solid"/>
          </a:ln>
        </p:spPr>
      </p:sp>
      <p:sp>
        <p:nvSpPr>
          <p:cNvPr id="9" name="Shape 7">
            <a:extLst xmlns:a="http://schemas.openxmlformats.org/drawingml/2006/main">
              <a:ext uri="{FF2B5EF4-FFF2-40B4-BE49-F238E27FC236}">
                <a16:creationId xmlns:a16="http://schemas.microsoft.com/office/drawing/2014/main" id="{05223D09-7619-40D3-AAA8-E01687E4FDC1}"/>
              </a:ext>
            </a:extLst>
          </p:cNvPr>
          <p:cNvSpPr>
            <a:spLocks xmlns:a="http://schemas.openxmlformats.org/drawingml/2006/main" noGrp="1"/>
          </p:cNvSpPr>
          <p:nvPr/>
        </p:nvSpPr>
        <p:spPr>
          <a:xfrm xmlns:a="http://schemas.openxmlformats.org/drawingml/2006/main">
            <a:off x="6583680" y="2377440"/>
            <a:ext cx="457200" cy="457200"/>
          </a:xfrm>
          <a:prstGeom xmlns:a="http://schemas.openxmlformats.org/drawingml/2006/main" prst="ellipse">
            <a:avLst/>
          </a:prstGeom>
          <a:solidFill xmlns:a="http://schemas.openxmlformats.org/drawingml/2006/main">
            <a:srgbClr val="818CF8"/>
          </a:solidFill>
        </p:spPr>
      </p:sp>
      <p:sp>
        <p:nvSpPr>
          <p:cNvPr id="10" name="Text 8">
            <a:extLst xmlns:a="http://schemas.openxmlformats.org/drawingml/2006/main">
              <a:ext uri="{FF2B5EF4-FFF2-40B4-BE49-F238E27FC236}">
                <a16:creationId xmlns:a16="http://schemas.microsoft.com/office/drawing/2014/main" id="{1034D976-4CC0-430F-A65D-4A4CAF419DC8}"/>
              </a:ext>
            </a:extLst>
          </p:cNvPr>
          <p:cNvSpPr>
            <a:spLocks xmlns:a="http://schemas.openxmlformats.org/drawingml/2006/main" noGrp="1"/>
          </p:cNvSpPr>
          <p:nvPr/>
        </p:nvSpPr>
        <p:spPr>
          <a:xfrm xmlns:a="http://schemas.openxmlformats.org/drawingml/2006/main">
            <a:off x="7223760" y="2331720"/>
            <a:ext cx="41148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1E2247"/>
                </a:solidFill>
                <a:latin typeface="Calibri"/>
                <a:ea typeface="Calibri"/>
                <a:cs typeface="Calibri"/>
              </a:rPr>
              <a:t>REM-like eligible</a:t>
            </a:r>
          </a:p>
        </p:txBody>
      </p:sp>
      <p:sp>
        <p:nvSpPr>
          <p:cNvPr id="11" name="Text 9">
            <a:extLst xmlns:a="http://schemas.openxmlformats.org/drawingml/2006/main">
              <a:ext uri="{FF2B5EF4-FFF2-40B4-BE49-F238E27FC236}">
                <a16:creationId xmlns:a16="http://schemas.microsoft.com/office/drawing/2014/main" id="{3BD026E7-4C36-4FF1-85B8-F84844A02B14}"/>
              </a:ext>
            </a:extLst>
          </p:cNvPr>
          <p:cNvSpPr>
            <a:spLocks xmlns:a="http://schemas.openxmlformats.org/drawingml/2006/main" noGrp="1"/>
          </p:cNvSpPr>
          <p:nvPr/>
        </p:nvSpPr>
        <p:spPr>
          <a:xfrm xmlns:a="http://schemas.openxmlformats.org/drawingml/2006/main">
            <a:off x="6583680" y="3063240"/>
            <a:ext cx="47548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5B6178"/>
                </a:solidFill>
                <a:latin typeface="Calibri"/>
                <a:ea typeface="Calibri"/>
                <a:cs typeface="Calibri"/>
              </a:rPr>
              <a:t>Late-night timing plus reliable cardiac data gate the conditioned chime. Motion-only mode logs but cannot trigger it.</a:t>
            </a:r>
          </a:p>
        </p:txBody>
      </p:sp>
      <p:sp>
        <p:nvSpPr>
          <p:cNvPr id="12" name="Shape 10">
            <a:extLst xmlns:a="http://schemas.openxmlformats.org/drawingml/2006/main">
              <a:ext uri="{FF2B5EF4-FFF2-40B4-BE49-F238E27FC236}">
                <a16:creationId xmlns:a16="http://schemas.microsoft.com/office/drawing/2014/main" id="{121CFFF7-60D7-4529-A2CF-2E9E0F0534C7}"/>
              </a:ext>
            </a:extLst>
          </p:cNvPr>
          <p:cNvSpPr>
            <a:spLocks xmlns:a="http://schemas.openxmlformats.org/drawingml/2006/main" noGrp="1"/>
          </p:cNvSpPr>
          <p:nvPr/>
        </p:nvSpPr>
        <p:spPr>
          <a:xfrm xmlns:a="http://schemas.openxmlformats.org/drawingml/2006/main">
            <a:off x="548640" y="4800600"/>
            <a:ext cx="11109960" cy="1051560"/>
          </a:xfrm>
          <a:prstGeom xmlns:a="http://schemas.openxmlformats.org/drawingml/2006/main" prst="roundRect">
            <a:avLst>
              <a:gd name="adj" fmla="val 7826"/>
            </a:avLst>
          </a:prstGeom>
          <a:solidFill xmlns:a="http://schemas.openxmlformats.org/drawingml/2006/main">
            <a:srgbClr val="1E2247"/>
          </a:solidFill>
          <a:ln xmlns:a="http://schemas.openxmlformats.org/drawingml/2006/main" w="12700">
            <a:solidFill>
              <a:srgbClr val="1E2247"/>
            </a:solidFill>
            <a:prstDash val="solid"/>
          </a:ln>
        </p:spPr>
      </p:sp>
      <p:sp>
        <p:nvSpPr>
          <p:cNvPr id="13" name="Text 11">
            <a:extLst xmlns:a="http://schemas.openxmlformats.org/drawingml/2006/main">
              <a:ext uri="{FF2B5EF4-FFF2-40B4-BE49-F238E27FC236}">
                <a16:creationId xmlns:a16="http://schemas.microsoft.com/office/drawing/2014/main" id="{2A47DEFF-C8D5-4180-9A58-1F33DF38CD51}"/>
              </a:ext>
            </a:extLst>
          </p:cNvPr>
          <p:cNvSpPr>
            <a:spLocks xmlns:a="http://schemas.openxmlformats.org/drawingml/2006/main" noGrp="1"/>
          </p:cNvSpPr>
          <p:nvPr/>
        </p:nvSpPr>
        <p:spPr>
          <a:xfrm xmlns:a="http://schemas.openxmlformats.org/drawingml/2006/main">
            <a:off x="9144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Watch</a:t>
            </a:r>
          </a:p>
        </p:txBody>
      </p:sp>
      <p:sp>
        <p:nvSpPr>
          <p:cNvPr id="14" name="Text 12">
            <a:extLst xmlns:a="http://schemas.openxmlformats.org/drawingml/2006/main">
              <a:ext uri="{FF2B5EF4-FFF2-40B4-BE49-F238E27FC236}">
                <a16:creationId xmlns:a16="http://schemas.microsoft.com/office/drawing/2014/main" id="{1F95ECDE-E163-4EE4-864E-DFFA66D66770}"/>
              </a:ext>
            </a:extLst>
          </p:cNvPr>
          <p:cNvSpPr>
            <a:spLocks xmlns:a="http://schemas.openxmlformats.org/drawingml/2006/main" noGrp="1"/>
          </p:cNvSpPr>
          <p:nvPr/>
        </p:nvSpPr>
        <p:spPr>
          <a:xfrm xmlns:a="http://schemas.openxmlformats.org/drawingml/2006/main">
            <a:off x="914400" y="5321808"/>
            <a:ext cx="512064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sensor quality · sleep-onset estimate · local eligibility · sham opportunities</a:t>
            </a:r>
          </a:p>
        </p:txBody>
      </p:sp>
      <p:sp>
        <p:nvSpPr>
          <p:cNvPr id="15" name="Shape 13">
            <a:extLst xmlns:a="http://schemas.openxmlformats.org/drawingml/2006/main">
              <a:ext uri="{FF2B5EF4-FFF2-40B4-BE49-F238E27FC236}">
                <a16:creationId xmlns:a16="http://schemas.microsoft.com/office/drawing/2014/main" id="{E75E849F-D749-4A81-90E8-CF89F383FEE3}"/>
              </a:ext>
            </a:extLst>
          </p:cNvPr>
          <p:cNvSpPr>
            <a:spLocks xmlns:a="http://schemas.openxmlformats.org/drawingml/2006/main" noGrp="1"/>
          </p:cNvSpPr>
          <p:nvPr/>
        </p:nvSpPr>
        <p:spPr>
          <a:xfrm xmlns:a="http://schemas.openxmlformats.org/drawingml/2006/main">
            <a:off x="6172200" y="5120640"/>
            <a:ext cx="822960" cy="411480"/>
          </a:xfrm>
          <a:prstGeom xmlns:a="http://schemas.openxmlformats.org/drawingml/2006/main" prst="rightArrow">
            <a:avLst/>
          </a:prstGeom>
          <a:solidFill xmlns:a="http://schemas.openxmlformats.org/drawingml/2006/main">
            <a:srgbClr val="5B6CE8"/>
          </a:solidFill>
        </p:spPr>
      </p:sp>
      <p:sp>
        <p:nvSpPr>
          <p:cNvPr id="16" name="Text 14">
            <a:extLst xmlns:a="http://schemas.openxmlformats.org/drawingml/2006/main">
              <a:ext uri="{FF2B5EF4-FFF2-40B4-BE49-F238E27FC236}">
                <a16:creationId xmlns:a16="http://schemas.microsoft.com/office/drawing/2014/main" id="{D8DAE125-93CB-436B-B14E-5EFA193DCD67}"/>
              </a:ext>
            </a:extLst>
          </p:cNvPr>
          <p:cNvSpPr>
            <a:spLocks xmlns:a="http://schemas.openxmlformats.org/drawingml/2006/main" noGrp="1"/>
          </p:cNvSpPr>
          <p:nvPr/>
        </p:nvSpPr>
        <p:spPr>
          <a:xfrm xmlns:a="http://schemas.openxmlformats.org/drawingml/2006/main">
            <a:off x="7315200" y="4983480"/>
            <a:ext cx="237744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Phone</a:t>
            </a:r>
          </a:p>
        </p:txBody>
      </p:sp>
      <p:sp>
        <p:nvSpPr>
          <p:cNvPr id="17" name="Text 15">
            <a:extLst xmlns:a="http://schemas.openxmlformats.org/drawingml/2006/main">
              <a:ext uri="{FF2B5EF4-FFF2-40B4-BE49-F238E27FC236}">
                <a16:creationId xmlns:a16="http://schemas.microsoft.com/office/drawing/2014/main" id="{37CA44C7-3AFA-40ED-B09D-926911E738CC}"/>
              </a:ext>
            </a:extLst>
          </p:cNvPr>
          <p:cNvSpPr>
            <a:spLocks xmlns:a="http://schemas.openxmlformats.org/drawingml/2006/main" noGrp="1"/>
          </p:cNvSpPr>
          <p:nvPr/>
        </p:nvSpPr>
        <p:spPr>
          <a:xfrm xmlns:a="http://schemas.openxmlformats.org/drawingml/2006/main">
            <a:off x="7315200" y="5321808"/>
            <a:ext cx="41148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50">
                <a:solidFill>
                  <a:srgbClr val="CADCFC"/>
                </a:solidFill>
                <a:latin typeface="Calibri"/>
                <a:ea typeface="Calibri"/>
                <a:cs typeface="Calibri"/>
              </a:rPr>
              <a:t>speaker · ACK lifecycle · survey · export · delete</a:t>
            </a:r>
          </a:p>
        </p:txBody>
      </p:sp>
      <p:sp>
        <p:nvSpPr>
          <p:cNvPr id="18" name="Shape 16">
            <a:extLst xmlns:a="http://schemas.openxmlformats.org/drawingml/2006/main">
              <a:ext uri="{FF2B5EF4-FFF2-40B4-BE49-F238E27FC236}">
                <a16:creationId xmlns:a16="http://schemas.microsoft.com/office/drawing/2014/main" id="{F331B64F-6656-4B5D-A0BD-04BDF2E8A19F}"/>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939AF8DE-7920-4439-A862-E7B3DA0948D1}"/>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B0033E85-DB70-42E3-8DC6-C9C4E94AF8BB}"/>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1" name="Text 19">
            <a:extLst xmlns:a="http://schemas.openxmlformats.org/drawingml/2006/main">
              <a:ext uri="{FF2B5EF4-FFF2-40B4-BE49-F238E27FC236}">
                <a16:creationId xmlns:a16="http://schemas.microsoft.com/office/drawing/2014/main" id="{768FF77C-8EAF-4F06-A2CB-416F3C9923F1}"/>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3</a:t>
            </a:r>
          </a:p>
        </p:txBody>
      </p:sp>
    </p:spTree>
    <p:extLst>
      <p:ext uri="{BB962C8B-B14F-4D97-AF65-F5344CB8AC3E}">
        <p14:creationId xmlns:p14="http://schemas.microsoft.com/office/powerpoint/2010/main" val="1758242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4FAA6D-E6A4-439E-B7F2-C787ECDB8AD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Supplied study: the deep-cue benchmark</a:t>
            </a:r>
          </a:p>
        </p:txBody>
      </p:sp>
      <p:sp>
        <p:nvSpPr>
          <p:cNvPr id="3" name="Text 1">
            <a:extLst xmlns:a="http://schemas.openxmlformats.org/drawingml/2006/main">
              <a:ext uri="{FF2B5EF4-FFF2-40B4-BE49-F238E27FC236}">
                <a16:creationId xmlns:a16="http://schemas.microsoft.com/office/drawing/2014/main" id="{3066F29A-AB8A-4FD1-9D2D-B56644B52327}"/>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Dream Sync uses the exact stimulus timing as a research reference — while keeping the lab result and the home prototype clearly separate.</a:t>
            </a:r>
          </a:p>
        </p:txBody>
      </p:sp>
      <p:sp>
        <p:nvSpPr>
          <p:cNvPr id="4" name="Shape 2">
            <a:extLst xmlns:a="http://schemas.openxmlformats.org/drawingml/2006/main">
              <a:ext uri="{FF2B5EF4-FFF2-40B4-BE49-F238E27FC236}">
                <a16:creationId xmlns:a16="http://schemas.microsoft.com/office/drawing/2014/main" id="{92C90EE3-9B07-45E9-9552-64FE39274B94}"/>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94476F94-0693-43A0-A79F-1AC9B429751D}"/>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8C2A903B-2774-4304-BB0C-A8A6D76052C5}"/>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Controlled design</a:t>
            </a:r>
          </a:p>
        </p:txBody>
      </p:sp>
      <p:sp>
        <p:nvSpPr>
          <p:cNvPr id="7" name="Text 5">
            <a:extLst xmlns:a="http://schemas.openxmlformats.org/drawingml/2006/main">
              <a:ext uri="{FF2B5EF4-FFF2-40B4-BE49-F238E27FC236}">
                <a16:creationId xmlns:a16="http://schemas.microsoft.com/office/drawing/2014/main" id="{EC429101-2136-4836-A1E1-FA85C17D36A8}"/>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Fourteen healthy men completed stimulation and sham nights. EEG-triggered cueing ran for 120 minutes after consolidated NonREM began.</a:t>
            </a:r>
          </a:p>
        </p:txBody>
      </p:sp>
      <p:sp>
        <p:nvSpPr>
          <p:cNvPr id="8" name="Text 6">
            <a:extLst xmlns:a="http://schemas.openxmlformats.org/drawingml/2006/main">
              <a:ext uri="{FF2B5EF4-FFF2-40B4-BE49-F238E27FC236}">
                <a16:creationId xmlns:a16="http://schemas.microsoft.com/office/drawing/2014/main" id="{904D0BF0-94E2-409F-B8AC-F2C582C1EB9D}"/>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Besedovsky et al., 2017 · n = 14</a:t>
            </a:r>
          </a:p>
        </p:txBody>
      </p:sp>
      <p:sp>
        <p:nvSpPr>
          <p:cNvPr id="9" name="Shape 7">
            <a:extLst xmlns:a="http://schemas.openxmlformats.org/drawingml/2006/main">
              <a:ext uri="{FF2B5EF4-FFF2-40B4-BE49-F238E27FC236}">
                <a16:creationId xmlns:a16="http://schemas.microsoft.com/office/drawing/2014/main" id="{DDF0698C-BD3A-4C9B-AFCB-89347B620E08}"/>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80F329CB-74C3-43BF-99F5-1A8FBE02C6F9}"/>
              </a:ext>
            </a:extLst>
          </p:cNvPr>
          <p:cNvSpPr>
            <a:spLocks xmlns:a="http://schemas.openxmlformats.org/drawingml/2006/main" noGrp="1"/>
          </p:cNvSpPr>
          <p:nvPr/>
        </p:nvSpPr>
        <p:spPr>
          <a:xfrm xmlns:a="http://schemas.openxmlformats.org/drawingml/2006/main">
            <a:off x="548640" y="37033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90821D5C-8D71-498B-98C5-253DE345B8A8}"/>
              </a:ext>
            </a:extLst>
          </p:cNvPr>
          <p:cNvSpPr>
            <a:spLocks xmlns:a="http://schemas.openxmlformats.org/drawingml/2006/main" noGrp="1"/>
          </p:cNvSpPr>
          <p:nvPr/>
        </p:nvSpPr>
        <p:spPr>
          <a:xfrm xmlns:a="http://schemas.openxmlformats.org/drawingml/2006/main">
            <a:off x="1115568" y="364845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Exact stimulus</a:t>
            </a:r>
          </a:p>
        </p:txBody>
      </p:sp>
      <p:sp>
        <p:nvSpPr>
          <p:cNvPr id="12" name="Text 10">
            <a:extLst xmlns:a="http://schemas.openxmlformats.org/drawingml/2006/main">
              <a:ext uri="{FF2B5EF4-FFF2-40B4-BE49-F238E27FC236}">
                <a16:creationId xmlns:a16="http://schemas.microsoft.com/office/drawing/2014/main" id="{F1EB1D35-0D53-413B-BE83-7192BDAAD6B9}"/>
              </a:ext>
            </a:extLst>
          </p:cNvPr>
          <p:cNvSpPr>
            <a:spLocks xmlns:a="http://schemas.openxmlformats.org/drawingml/2006/main" noGrp="1"/>
          </p:cNvSpPr>
          <p:nvPr/>
        </p:nvSpPr>
        <p:spPr>
          <a:xfrm xmlns:a="http://schemas.openxmlformats.org/drawingml/2006/main">
            <a:off x="1115568" y="401421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Each stimulation used two 50 ms pink-noise tones at 50 dB SPL, separated by 1.075 seconds and aligned to consecutive EEG slow-oscillation peaks.</a:t>
            </a:r>
          </a:p>
        </p:txBody>
      </p:sp>
      <p:sp>
        <p:nvSpPr>
          <p:cNvPr id="13" name="Text 11">
            <a:extLst xmlns:a="http://schemas.openxmlformats.org/drawingml/2006/main">
              <a:ext uri="{FF2B5EF4-FFF2-40B4-BE49-F238E27FC236}">
                <a16:creationId xmlns:a16="http://schemas.microsoft.com/office/drawing/2014/main" id="{F309FC03-A225-40AD-9BF6-CC9D95FF51BB}"/>
              </a:ext>
            </a:extLst>
          </p:cNvPr>
          <p:cNvSpPr>
            <a:spLocks xmlns:a="http://schemas.openxmlformats.org/drawingml/2006/main" noGrp="1"/>
          </p:cNvSpPr>
          <p:nvPr/>
        </p:nvSpPr>
        <p:spPr>
          <a:xfrm xmlns:a="http://schemas.openxmlformats.org/drawingml/2006/main">
            <a:off x="1115568" y="463600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Supplied paper · Figure 1 / Methods</a:t>
            </a:r>
          </a:p>
        </p:txBody>
      </p:sp>
      <p:sp>
        <p:nvSpPr>
          <p:cNvPr id="14" name="Shape 12">
            <a:extLst xmlns:a="http://schemas.openxmlformats.org/drawingml/2006/main">
              <a:ext uri="{FF2B5EF4-FFF2-40B4-BE49-F238E27FC236}">
                <a16:creationId xmlns:a16="http://schemas.microsoft.com/office/drawing/2014/main" id="{E1BCDA23-4FE1-40BA-A662-65F1F2D567F2}"/>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2F4FD"/>
          </a:solidFill>
          <a:ln xmlns:a="http://schemas.openxmlformats.org/drawingml/2006/main" w="12700">
            <a:solidFill>
              <a:srgbClr val="DDE2F7"/>
            </a:solidFill>
            <a:prstDash val="solid"/>
          </a:ln>
        </p:spPr>
      </p:sp>
      <p:sp>
        <p:nvSpPr>
          <p:cNvPr id="15" name="Text 13">
            <a:extLst xmlns:a="http://schemas.openxmlformats.org/drawingml/2006/main">
              <a:ext uri="{FF2B5EF4-FFF2-40B4-BE49-F238E27FC236}">
                <a16:creationId xmlns:a16="http://schemas.microsoft.com/office/drawing/2014/main" id="{CB68FB73-D520-41B4-8C48-3EF633671409}"/>
              </a:ext>
            </a:extLst>
          </p:cNvPr>
          <p:cNvSpPr>
            <a:spLocks xmlns:a="http://schemas.openxmlformats.org/drawingml/2006/main" noGrp="1"/>
          </p:cNvSpPr>
          <p:nvPr/>
        </p:nvSpPr>
        <p:spPr>
          <a:xfrm xmlns:a="http://schemas.openxmlformats.org/drawingml/2006/main">
            <a:off x="7863840" y="2377440"/>
            <a:ext cx="356616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1E2247"/>
                </a:solidFill>
                <a:latin typeface="Calibri"/>
                <a:ea typeface="Calibri"/>
                <a:cs typeface="Calibri"/>
              </a:rPr>
              <a:t>Observed in the lab</a:t>
            </a:r>
          </a:p>
        </p:txBody>
      </p:sp>
      <p:sp>
        <p:nvSpPr>
          <p:cNvPr id="16" name="Text 14">
            <a:extLst xmlns:a="http://schemas.openxmlformats.org/drawingml/2006/main">
              <a:ext uri="{FF2B5EF4-FFF2-40B4-BE49-F238E27FC236}">
                <a16:creationId xmlns:a16="http://schemas.microsoft.com/office/drawing/2014/main" id="{7793C227-582D-4BA7-AD86-7F346AF176C7}"/>
              </a:ext>
            </a:extLst>
          </p:cNvPr>
          <p:cNvSpPr>
            <a:spLocks xmlns:a="http://schemas.openxmlformats.org/drawingml/2006/main" noGrp="1"/>
          </p:cNvSpPr>
          <p:nvPr/>
        </p:nvSpPr>
        <p:spPr>
          <a:xfrm xmlns:a="http://schemas.openxmlformats.org/drawingml/2006/main">
            <a:off x="7635240" y="2880360"/>
            <a:ext cx="402336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5200" b="1">
                <a:solidFill>
                  <a:srgbClr val="5B6CE8"/>
                </a:solidFill>
                <a:latin typeface="Cambria"/>
                <a:ea typeface="Cambria"/>
                <a:cs typeface="Cambria"/>
              </a:rPr>
              <a:t>n = 14</a:t>
            </a:r>
          </a:p>
        </p:txBody>
      </p:sp>
      <p:sp>
        <p:nvSpPr>
          <p:cNvPr id="17" name="Text 15">
            <a:extLst xmlns:a="http://schemas.openxmlformats.org/drawingml/2006/main">
              <a:ext uri="{FF2B5EF4-FFF2-40B4-BE49-F238E27FC236}">
                <a16:creationId xmlns:a16="http://schemas.microsoft.com/office/drawing/2014/main" id="{471BC423-83B4-47FE-8D81-D3572211B002}"/>
              </a:ext>
            </a:extLst>
          </p:cNvPr>
          <p:cNvSpPr>
            <a:spLocks xmlns:a="http://schemas.openxmlformats.org/drawingml/2006/main" noGrp="1"/>
          </p:cNvSpPr>
          <p:nvPr/>
        </p:nvSpPr>
        <p:spPr>
          <a:xfrm xmlns:a="http://schemas.openxmlformats.org/drawingml/2006/main">
            <a:off x="7955280" y="3840480"/>
            <a:ext cx="34290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00">
                <a:solidFill>
                  <a:srgbClr val="5B6178"/>
                </a:solidFill>
                <a:latin typeface="Calibri"/>
                <a:ea typeface="Calibri"/>
                <a:cs typeface="Calibri"/>
              </a:rPr>
              <a:t>172 ± 24.3 paired stimulations on average during the 120-minute interval</a:t>
            </a:r>
          </a:p>
        </p:txBody>
      </p:sp>
      <p:sp>
        <p:nvSpPr>
          <p:cNvPr id="18" name="Text 16">
            <a:extLst xmlns:a="http://schemas.openxmlformats.org/drawingml/2006/main">
              <a:ext uri="{FF2B5EF4-FFF2-40B4-BE49-F238E27FC236}">
                <a16:creationId xmlns:a16="http://schemas.microsoft.com/office/drawing/2014/main" id="{63716E4C-0987-4D7D-A39A-E6D387F35035}"/>
              </a:ext>
            </a:extLst>
          </p:cNvPr>
          <p:cNvSpPr>
            <a:spLocks xmlns:a="http://schemas.openxmlformats.org/drawingml/2006/main" noGrp="1"/>
          </p:cNvSpPr>
          <p:nvPr/>
        </p:nvSpPr>
        <p:spPr>
          <a:xfrm xmlns:a="http://schemas.openxmlformats.org/drawingml/2006/main">
            <a:off x="7955280" y="4709160"/>
            <a:ext cx="34290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b="1">
                <a:solidFill>
                  <a:srgbClr val="1E2247"/>
                </a:solidFill>
                <a:latin typeface="Calibri"/>
                <a:ea typeface="Calibri"/>
                <a:cs typeface="Calibri"/>
              </a:rPr>
              <a:t>EEG slow-oscillation power increased (p = .006).</a:t>
            </a:r>
          </a:p>
        </p:txBody>
      </p:sp>
      <p:sp>
        <p:nvSpPr>
          <p:cNvPr id="19" name="Text 17">
            <a:extLst xmlns:a="http://schemas.openxmlformats.org/drawingml/2006/main">
              <a:ext uri="{FF2B5EF4-FFF2-40B4-BE49-F238E27FC236}">
                <a16:creationId xmlns:a16="http://schemas.microsoft.com/office/drawing/2014/main" id="{F8B0D94D-3E4F-4AB8-B8E1-F447541A8273}"/>
              </a:ext>
            </a:extLst>
          </p:cNvPr>
          <p:cNvSpPr>
            <a:spLocks xmlns:a="http://schemas.openxmlformats.org/drawingml/2006/main" noGrp="1"/>
          </p:cNvSpPr>
          <p:nvPr/>
        </p:nvSpPr>
        <p:spPr>
          <a:xfrm xmlns:a="http://schemas.openxmlformats.org/drawingml/2006/main">
            <a:off x="786384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00" i="1">
                <a:solidFill>
                  <a:srgbClr val="8A90A6"/>
                </a:solidFill>
                <a:latin typeface="Calibri"/>
                <a:ea typeface="Calibri"/>
                <a:cs typeface="Calibri"/>
              </a:rPr>
              <a:t>doi:10.1038/s41467-017-02170-3</a:t>
            </a:r>
          </a:p>
        </p:txBody>
      </p:sp>
      <p:sp>
        <p:nvSpPr>
          <p:cNvPr id="20" name="Shape 18">
            <a:extLst xmlns:a="http://schemas.openxmlformats.org/drawingml/2006/main">
              <a:ext uri="{FF2B5EF4-FFF2-40B4-BE49-F238E27FC236}">
                <a16:creationId xmlns:a16="http://schemas.microsoft.com/office/drawing/2014/main" id="{243B8E28-C201-4C31-8BCB-FB077B788DF2}"/>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A586EFB2-3833-4335-B4A6-0BFC373C4A8A}"/>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76079E0D-1A4C-4D8B-B2E7-C7551EA67B3C}"/>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3" name="Text 21">
            <a:extLst xmlns:a="http://schemas.openxmlformats.org/drawingml/2006/main">
              <a:ext uri="{FF2B5EF4-FFF2-40B4-BE49-F238E27FC236}">
                <a16:creationId xmlns:a16="http://schemas.microsoft.com/office/drawing/2014/main" id="{A49B0FF2-EAE7-42C6-ABEC-2C6E52602288}"/>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4</a:t>
            </a:r>
          </a:p>
        </p:txBody>
      </p:sp>
    </p:spTree>
    <p:extLst>
      <p:ext uri="{BB962C8B-B14F-4D97-AF65-F5344CB8AC3E}">
        <p14:creationId xmlns:p14="http://schemas.microsoft.com/office/powerpoint/2010/main" val="5768809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D5A233-4C22-4FF8-A0E4-AB43E87D23C2}"/>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Dream Sync preserves timing — not EEG phase</a:t>
            </a:r>
          </a:p>
        </p:txBody>
      </p:sp>
      <p:sp>
        <p:nvSpPr>
          <p:cNvPr id="3" name="Text 1">
            <a:extLst xmlns:a="http://schemas.openxmlformats.org/drawingml/2006/main">
              <a:ext uri="{FF2B5EF4-FFF2-40B4-BE49-F238E27FC236}">
                <a16:creationId xmlns:a16="http://schemas.microsoft.com/office/drawing/2014/main" id="{3DA3A709-C324-471F-B03D-AA129E803359}"/>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The implementation translates what the phone and watch can reproduce, then labels the missing physiology as a hard limit.</a:t>
            </a:r>
          </a:p>
        </p:txBody>
      </p:sp>
      <p:sp>
        <p:nvSpPr>
          <p:cNvPr id="4" name="Shape 2">
            <a:extLst xmlns:a="http://schemas.openxmlformats.org/drawingml/2006/main">
              <a:ext uri="{FF2B5EF4-FFF2-40B4-BE49-F238E27FC236}">
                <a16:creationId xmlns:a16="http://schemas.microsoft.com/office/drawing/2014/main" id="{7B425969-14DF-49FD-BC09-3BA9E17109EB}"/>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3C40B482-8F53-45ED-80F3-7CE2CC7479AA}"/>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2D56924B-24D5-4ACD-831D-EF4CC037067F}"/>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What transfers</a:t>
            </a:r>
          </a:p>
        </p:txBody>
      </p:sp>
      <p:sp>
        <p:nvSpPr>
          <p:cNvPr id="7" name="Text 5">
            <a:extLst xmlns:a="http://schemas.openxmlformats.org/drawingml/2006/main">
              <a:ext uri="{FF2B5EF4-FFF2-40B4-BE49-F238E27FC236}">
                <a16:creationId xmlns:a16="http://schemas.microsoft.com/office/drawing/2014/main" id="{526DAFDD-8B29-4F73-8C02-CFBB93F69027}"/>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shared waveform engine reproduces two deterministic 50 ms pink-noise bursts with a 1.075-second onset separation.</a:t>
            </a:r>
          </a:p>
        </p:txBody>
      </p:sp>
      <p:sp>
        <p:nvSpPr>
          <p:cNvPr id="8" name="Text 6">
            <a:extLst xmlns:a="http://schemas.openxmlformats.org/drawingml/2006/main">
              <a:ext uri="{FF2B5EF4-FFF2-40B4-BE49-F238E27FC236}">
                <a16:creationId xmlns:a16="http://schemas.microsoft.com/office/drawing/2014/main" id="{CA98D6B0-AE21-4820-BF17-1E8AF364CE2F}"/>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CueWaveforms v1 · unit-tested sample timing</a:t>
            </a:r>
          </a:p>
        </p:txBody>
      </p:sp>
      <p:sp>
        <p:nvSpPr>
          <p:cNvPr id="9" name="Shape 7">
            <a:extLst xmlns:a="http://schemas.openxmlformats.org/drawingml/2006/main">
              <a:ext uri="{FF2B5EF4-FFF2-40B4-BE49-F238E27FC236}">
                <a16:creationId xmlns:a16="http://schemas.microsoft.com/office/drawing/2014/main" id="{2CA3DB0E-A8C5-4E5C-AC64-8CC5094C7F3D}"/>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65F96435-5FF8-4DEB-BA5A-7CBEA8E79F6E}"/>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EB146CF6-3678-4DFF-A2E5-FB5C783AE548}"/>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What changes</a:t>
            </a:r>
          </a:p>
        </p:txBody>
      </p:sp>
      <p:sp>
        <p:nvSpPr>
          <p:cNvPr id="12" name="Text 10">
            <a:extLst xmlns:a="http://schemas.openxmlformats.org/drawingml/2006/main">
              <a:ext uri="{FF2B5EF4-FFF2-40B4-BE49-F238E27FC236}">
                <a16:creationId xmlns:a16="http://schemas.microsoft.com/office/drawing/2014/main" id="{53735E2C-15C0-4E17-A899-E3498C0BCE26}"/>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Motion, heart-rate quality, estimated onset, time windows, and stability replace EEG peak detection. The app says eligible, never measured stage.</a:t>
            </a:r>
          </a:p>
        </p:txBody>
      </p:sp>
      <p:sp>
        <p:nvSpPr>
          <p:cNvPr id="13" name="Text 11">
            <a:extLst xmlns:a="http://schemas.openxmlformats.org/drawingml/2006/main">
              <a:ext uri="{FF2B5EF4-FFF2-40B4-BE49-F238E27FC236}">
                <a16:creationId xmlns:a16="http://schemas.microsoft.com/office/drawing/2014/main" id="{B7E4D75F-4BF0-43C6-8B62-B00A81AAC166}"/>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Eligibility engine v1 · deterministic replay</a:t>
            </a:r>
          </a:p>
        </p:txBody>
      </p:sp>
      <p:sp>
        <p:nvSpPr>
          <p:cNvPr id="14" name="Shape 12">
            <a:extLst xmlns:a="http://schemas.openxmlformats.org/drawingml/2006/main">
              <a:ext uri="{FF2B5EF4-FFF2-40B4-BE49-F238E27FC236}">
                <a16:creationId xmlns:a16="http://schemas.microsoft.com/office/drawing/2014/main" id="{8E9FA74B-4F87-46CE-BDCE-31BDC5CB59BB}"/>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F43C201D-927E-4E2E-A633-65983BE04FCA}"/>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392C2951-1219-4B2A-B5D4-7B340A2CFAA4}"/>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1301D83C-ACB8-4884-B4ED-70056A06D9C5}"/>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The honest caveat</a:t>
            </a:r>
          </a:p>
        </p:txBody>
      </p:sp>
      <p:sp>
        <p:nvSpPr>
          <p:cNvPr id="18" name="Text 16">
            <a:extLst xmlns:a="http://schemas.openxmlformats.org/drawingml/2006/main">
              <a:ext uri="{FF2B5EF4-FFF2-40B4-BE49-F238E27FC236}">
                <a16:creationId xmlns:a16="http://schemas.microsoft.com/office/drawing/2014/main" id="{5DEC8465-DAEF-4273-96F0-4E85C33C0C12}"/>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No EEG means no slow-oscillation phase lock. Home speaker delivery differs from in-ear 50 dB SPL.</a:t>
            </a:r>
          </a:p>
          <a:p xmlns:a="http://schemas.openxmlformats.org/drawingml/2006/main">
            <a:pPr marL="0" indent="0">
              <a:buNone/>
            </a:pPr>
            <a:r>
              <a:t/>
            </a:r>
          </a:p>
          <a:p xmlns:a="http://schemas.openxmlformats.org/drawingml/2006/main">
            <a:pPr marL="0" indent="0">
              <a:buNone/>
            </a:pPr>
            <a:r>
              <a:rPr sz="1300">
                <a:solidFill>
                  <a:srgbClr val="6E5327"/>
                </a:solidFill>
                <a:latin typeface="Calibri"/>
                <a:ea typeface="Calibri"/>
                <a:cs typeface="Calibri"/>
              </a:rPr>
              <a:t>The app can test a safe workflow — not reproduce the laboratory intervention or promise deeper sleep.</a:t>
            </a:r>
          </a:p>
        </p:txBody>
      </p:sp>
      <p:sp>
        <p:nvSpPr>
          <p:cNvPr id="19" name="Text 17">
            <a:extLst xmlns:a="http://schemas.openxmlformats.org/drawingml/2006/main">
              <a:ext uri="{FF2B5EF4-FFF2-40B4-BE49-F238E27FC236}">
                <a16:creationId xmlns:a16="http://schemas.microsoft.com/office/drawing/2014/main" id="{9776C660-AF12-4A81-AB6E-F8FA2B41F657}"/>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Source boundary: supplied 2017 study vs. Dream Sync protocol</a:t>
            </a:r>
          </a:p>
        </p:txBody>
      </p:sp>
      <p:sp>
        <p:nvSpPr>
          <p:cNvPr id="20" name="Shape 18">
            <a:extLst xmlns:a="http://schemas.openxmlformats.org/drawingml/2006/main">
              <a:ext uri="{FF2B5EF4-FFF2-40B4-BE49-F238E27FC236}">
                <a16:creationId xmlns:a16="http://schemas.microsoft.com/office/drawing/2014/main" id="{8E9971A8-48CC-4B13-919F-699B238F7F12}"/>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E9D11C9E-DF3E-4006-B20C-9BD89B144880}"/>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13481E3F-BA5A-4502-B01A-566B08B02A88}"/>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3" name="Text 21">
            <a:extLst xmlns:a="http://schemas.openxmlformats.org/drawingml/2006/main">
              <a:ext uri="{FF2B5EF4-FFF2-40B4-BE49-F238E27FC236}">
                <a16:creationId xmlns:a16="http://schemas.microsoft.com/office/drawing/2014/main" id="{8527BA18-76FC-4FF5-BEF6-F17C0DA6FF5F}"/>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5</a:t>
            </a:r>
          </a:p>
        </p:txBody>
      </p:sp>
    </p:spTree>
    <p:extLst>
      <p:ext uri="{BB962C8B-B14F-4D97-AF65-F5344CB8AC3E}">
        <p14:creationId xmlns:p14="http://schemas.microsoft.com/office/powerpoint/2010/main" val="2163879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A049F1-3E7C-4DDB-97E1-665FAB78908A}"/>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Lucid cueing stays exploratory</a:t>
            </a:r>
          </a:p>
        </p:txBody>
      </p:sp>
      <p:sp>
        <p:nvSpPr>
          <p:cNvPr id="3" name="Text 1">
            <a:extLst xmlns:a="http://schemas.openxmlformats.org/drawingml/2006/main">
              <a:ext uri="{FF2B5EF4-FFF2-40B4-BE49-F238E27FC236}">
                <a16:creationId xmlns:a16="http://schemas.microsoft.com/office/drawing/2014/main" id="{FCAA7E48-5DF2-48D4-8299-A71CAE0F15A3}"/>
              </a:ext>
            </a:extLst>
          </p:cNvPr>
          <p:cNvSpPr>
            <a:spLocks xmlns:a="http://schemas.openxmlformats.org/drawingml/2006/main" noGrp="1"/>
          </p:cNvSpPr>
          <p:nvPr/>
        </p:nvSpPr>
        <p:spPr>
          <a:xfrm xmlns:a="http://schemas.openxmlformats.org/drawingml/2006/main">
            <a:off x="548640" y="1188720"/>
            <a:ext cx="1097280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Lucid cueing is separate from the supplied deep-sleep result and stays conditioned, blinded, and heart-gated.</a:t>
            </a:r>
          </a:p>
        </p:txBody>
      </p:sp>
      <p:sp>
        <p:nvSpPr>
          <p:cNvPr id="4" name="Shape 2">
            <a:extLst xmlns:a="http://schemas.openxmlformats.org/drawingml/2006/main">
              <a:ext uri="{FF2B5EF4-FFF2-40B4-BE49-F238E27FC236}">
                <a16:creationId xmlns:a16="http://schemas.microsoft.com/office/drawing/2014/main" id="{CC12145D-88FC-42D1-A151-E8C866CDF957}"/>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8EE16FB7-AEFE-424C-87D2-48D0E0AFC365}"/>
              </a:ext>
            </a:extLst>
          </p:cNvPr>
          <p:cNvSpPr>
            <a:spLocks xmlns:a="http://schemas.openxmlformats.org/drawingml/2006/main" noGrp="1"/>
          </p:cNvSpPr>
          <p:nvPr/>
        </p:nvSpPr>
        <p:spPr>
          <a:xfrm xmlns:a="http://schemas.openxmlformats.org/drawingml/2006/main">
            <a:off x="548640" y="21488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63CA1395-4212-4272-8BE8-CA2A654B3224}"/>
              </a:ext>
            </a:extLst>
          </p:cNvPr>
          <p:cNvSpPr>
            <a:spLocks xmlns:a="http://schemas.openxmlformats.org/drawingml/2006/main" noGrp="1"/>
          </p:cNvSpPr>
          <p:nvPr/>
        </p:nvSpPr>
        <p:spPr>
          <a:xfrm xmlns:a="http://schemas.openxmlformats.org/drawingml/2006/main">
            <a:off x="1115568" y="209397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 Condition before sleep</a:t>
            </a:r>
          </a:p>
        </p:txBody>
      </p:sp>
      <p:sp>
        <p:nvSpPr>
          <p:cNvPr id="7" name="Text 5">
            <a:extLst xmlns:a="http://schemas.openxmlformats.org/drawingml/2006/main">
              <a:ext uri="{FF2B5EF4-FFF2-40B4-BE49-F238E27FC236}">
                <a16:creationId xmlns:a16="http://schemas.microsoft.com/office/drawing/2014/main" id="{C45722D7-07AE-4ADE-96B0-405485FA9F8D}"/>
              </a:ext>
            </a:extLst>
          </p:cNvPr>
          <p:cNvSpPr>
            <a:spLocks xmlns:a="http://schemas.openxmlformats.org/drawingml/2006/main" noGrp="1"/>
          </p:cNvSpPr>
          <p:nvPr/>
        </p:nvSpPr>
        <p:spPr>
          <a:xfrm xmlns:a="http://schemas.openxmlformats.org/drawingml/2006/main">
            <a:off x="1115568" y="245973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The phone records 10 completed reality-check repetitions with the same chime before REM-like cueing can be armed.</a:t>
            </a:r>
          </a:p>
        </p:txBody>
      </p:sp>
      <p:sp>
        <p:nvSpPr>
          <p:cNvPr id="8" name="Text 6">
            <a:extLst xmlns:a="http://schemas.openxmlformats.org/drawingml/2006/main">
              <a:ext uri="{FF2B5EF4-FFF2-40B4-BE49-F238E27FC236}">
                <a16:creationId xmlns:a16="http://schemas.microsoft.com/office/drawing/2014/main" id="{C7F1A8E6-8404-4A20-A815-C3A5A040C5E7}"/>
              </a:ext>
            </a:extLst>
          </p:cNvPr>
          <p:cNvSpPr>
            <a:spLocks xmlns:a="http://schemas.openxmlformats.org/drawingml/2006/main" noGrp="1"/>
          </p:cNvSpPr>
          <p:nvPr/>
        </p:nvSpPr>
        <p:spPr>
          <a:xfrm xmlns:a="http://schemas.openxmlformats.org/drawingml/2006/main">
            <a:off x="1115568" y="308152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Guided conditioning · locally counted</a:t>
            </a:r>
          </a:p>
        </p:txBody>
      </p:sp>
      <p:sp>
        <p:nvSpPr>
          <p:cNvPr id="9" name="Shape 7">
            <a:extLst xmlns:a="http://schemas.openxmlformats.org/drawingml/2006/main">
              <a:ext uri="{FF2B5EF4-FFF2-40B4-BE49-F238E27FC236}">
                <a16:creationId xmlns:a16="http://schemas.microsoft.com/office/drawing/2014/main" id="{4482630B-8F79-4825-9CEF-BDDE387E8BEE}"/>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ellipse">
            <a:avLst/>
          </a:prstGeom>
          <a:solidFill xmlns:a="http://schemas.openxmlformats.org/drawingml/2006/main">
            <a:srgbClr val="5B6CE8"/>
          </a:solidFill>
        </p:spPr>
      </p:sp>
      <p:sp>
        <p:nvSpPr>
          <p:cNvPr id="10" name="Text 8">
            <a:extLst xmlns:a="http://schemas.openxmlformats.org/drawingml/2006/main">
              <a:ext uri="{FF2B5EF4-FFF2-40B4-BE49-F238E27FC236}">
                <a16:creationId xmlns:a16="http://schemas.microsoft.com/office/drawing/2014/main" id="{275FD691-4443-4D3A-80E4-EE5C84054E82}"/>
              </a:ext>
            </a:extLst>
          </p:cNvPr>
          <p:cNvSpPr>
            <a:spLocks xmlns:a="http://schemas.openxmlformats.org/drawingml/2006/main" noGrp="1"/>
          </p:cNvSpPr>
          <p:nvPr/>
        </p:nvSpPr>
        <p:spPr>
          <a:xfrm xmlns:a="http://schemas.openxmlformats.org/drawingml/2006/main">
            <a:off x="548640" y="37947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1" name="Text 9">
            <a:extLst xmlns:a="http://schemas.openxmlformats.org/drawingml/2006/main">
              <a:ext uri="{FF2B5EF4-FFF2-40B4-BE49-F238E27FC236}">
                <a16:creationId xmlns:a16="http://schemas.microsoft.com/office/drawing/2014/main" id="{F5DC79E0-0B1A-44A4-99B4-2EB937FBD16B}"/>
              </a:ext>
            </a:extLst>
          </p:cNvPr>
          <p:cNvSpPr>
            <a:spLocks xmlns:a="http://schemas.openxmlformats.org/drawingml/2006/main" noGrp="1"/>
          </p:cNvSpPr>
          <p:nvPr/>
        </p:nvSpPr>
        <p:spPr>
          <a:xfrm xmlns:a="http://schemas.openxmlformats.org/drawingml/2006/main">
            <a:off x="1115568" y="3739896"/>
            <a:ext cx="610819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Blind the night</a:t>
            </a:r>
          </a:p>
        </p:txBody>
      </p:sp>
      <p:sp>
        <p:nvSpPr>
          <p:cNvPr id="12" name="Text 10">
            <a:extLst xmlns:a="http://schemas.openxmlformats.org/drawingml/2006/main">
              <a:ext uri="{FF2B5EF4-FFF2-40B4-BE49-F238E27FC236}">
                <a16:creationId xmlns:a16="http://schemas.microsoft.com/office/drawing/2014/main" id="{5EDC194A-8D2A-4903-9F48-D35D9C6E6AB1}"/>
              </a:ext>
            </a:extLst>
          </p:cNvPr>
          <p:cNvSpPr>
            <a:spLocks xmlns:a="http://schemas.openxmlformats.org/drawingml/2006/main" noGrp="1"/>
          </p:cNvSpPr>
          <p:nvPr/>
        </p:nvSpPr>
        <p:spPr>
          <a:xfrm xmlns:a="http://schemas.openxmlformats.org/drawingml/2006/main">
            <a:off x="1115568" y="4105656"/>
            <a:ext cx="610819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ACTIVE and SHAM nights log the same eligible opportunities. SHAM omits sound; the condition stays hidden until the survey is saved.</a:t>
            </a:r>
          </a:p>
        </p:txBody>
      </p:sp>
      <p:sp>
        <p:nvSpPr>
          <p:cNvPr id="13" name="Text 11">
            <a:extLst xmlns:a="http://schemas.openxmlformats.org/drawingml/2006/main">
              <a:ext uri="{FF2B5EF4-FFF2-40B4-BE49-F238E27FC236}">
                <a16:creationId xmlns:a16="http://schemas.microsoft.com/office/drawing/2014/main" id="{70D821DA-18DB-4A62-9A12-A0E7FF574F5D}"/>
              </a:ext>
            </a:extLst>
          </p:cNvPr>
          <p:cNvSpPr>
            <a:spLocks xmlns:a="http://schemas.openxmlformats.org/drawingml/2006/main" noGrp="1"/>
          </p:cNvSpPr>
          <p:nvPr/>
        </p:nvSpPr>
        <p:spPr>
          <a:xfrm xmlns:a="http://schemas.openxmlformats.org/drawingml/2006/main">
            <a:off x="1115568" y="4727448"/>
            <a:ext cx="610819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Random assignment · reveal after survey</a:t>
            </a:r>
          </a:p>
        </p:txBody>
      </p:sp>
      <p:sp>
        <p:nvSpPr>
          <p:cNvPr id="14" name="Shape 12">
            <a:extLst xmlns:a="http://schemas.openxmlformats.org/drawingml/2006/main">
              <a:ext uri="{FF2B5EF4-FFF2-40B4-BE49-F238E27FC236}">
                <a16:creationId xmlns:a16="http://schemas.microsoft.com/office/drawing/2014/main" id="{1F607366-CC68-446D-A3A1-F0C5B9E62A6D}"/>
              </a:ext>
            </a:extLst>
          </p:cNvPr>
          <p:cNvSpPr>
            <a:spLocks xmlns:a="http://schemas.openxmlformats.org/drawingml/2006/main" noGrp="1"/>
          </p:cNvSpPr>
          <p:nvPr/>
        </p:nvSpPr>
        <p:spPr>
          <a:xfrm xmlns:a="http://schemas.openxmlformats.org/drawingml/2006/main">
            <a:off x="7635240" y="2148840"/>
            <a:ext cx="4023360" cy="3703320"/>
          </a:xfrm>
          <a:prstGeom xmlns:a="http://schemas.openxmlformats.org/drawingml/2006/main" prst="roundRect">
            <a:avLst>
              <a:gd name="adj" fmla="val 2222"/>
            </a:avLst>
          </a:prstGeom>
          <a:solidFill xmlns:a="http://schemas.openxmlformats.org/drawingml/2006/main">
            <a:srgbClr val="FBF0E1"/>
          </a:solidFill>
          <a:ln xmlns:a="http://schemas.openxmlformats.org/drawingml/2006/main" w="12700">
            <a:solidFill>
              <a:srgbClr val="EAD8BE"/>
            </a:solidFill>
            <a:prstDash val="solid"/>
          </a:ln>
        </p:spPr>
      </p:sp>
      <p:sp>
        <p:nvSpPr>
          <p:cNvPr id="15" name="Shape 13">
            <a:extLst xmlns:a="http://schemas.openxmlformats.org/drawingml/2006/main">
              <a:ext uri="{FF2B5EF4-FFF2-40B4-BE49-F238E27FC236}">
                <a16:creationId xmlns:a16="http://schemas.microsoft.com/office/drawing/2014/main" id="{51FF3E03-A7AD-4555-94D7-FF00E6AB3ACF}"/>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ellipse">
            <a:avLst/>
          </a:prstGeom>
          <a:solidFill xmlns:a="http://schemas.openxmlformats.org/drawingml/2006/main">
            <a:srgbClr val="B5722A"/>
          </a:solidFill>
        </p:spPr>
      </p:sp>
      <p:sp>
        <p:nvSpPr>
          <p:cNvPr id="16" name="Text 14">
            <a:extLst xmlns:a="http://schemas.openxmlformats.org/drawingml/2006/main">
              <a:ext uri="{FF2B5EF4-FFF2-40B4-BE49-F238E27FC236}">
                <a16:creationId xmlns:a16="http://schemas.microsoft.com/office/drawing/2014/main" id="{743AE4D8-A8B0-4952-9161-B00A65D1C667}"/>
              </a:ext>
            </a:extLst>
          </p:cNvPr>
          <p:cNvSpPr>
            <a:spLocks xmlns:a="http://schemas.openxmlformats.org/drawingml/2006/main" noGrp="1"/>
          </p:cNvSpPr>
          <p:nvPr/>
        </p:nvSpPr>
        <p:spPr>
          <a:xfrm xmlns:a="http://schemas.openxmlformats.org/drawingml/2006/main">
            <a:off x="7909560" y="2377440"/>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a:t>
            </a:r>
          </a:p>
        </p:txBody>
      </p:sp>
      <p:sp>
        <p:nvSpPr>
          <p:cNvPr id="17" name="Text 15">
            <a:extLst xmlns:a="http://schemas.openxmlformats.org/drawingml/2006/main">
              <a:ext uri="{FF2B5EF4-FFF2-40B4-BE49-F238E27FC236}">
                <a16:creationId xmlns:a16="http://schemas.microsoft.com/office/drawing/2014/main" id="{929E906C-6137-4CA4-AEE0-FF2BA446E205}"/>
              </a:ext>
            </a:extLst>
          </p:cNvPr>
          <p:cNvSpPr>
            <a:spLocks xmlns:a="http://schemas.openxmlformats.org/drawingml/2006/main" noGrp="1"/>
          </p:cNvSpPr>
          <p:nvPr/>
        </p:nvSpPr>
        <p:spPr>
          <a:xfrm xmlns:a="http://schemas.openxmlformats.org/drawingml/2006/main">
            <a:off x="8412480" y="2359152"/>
            <a:ext cx="30175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B5722A"/>
                </a:solidFill>
                <a:latin typeface="Calibri"/>
                <a:ea typeface="Calibri"/>
                <a:cs typeface="Calibri"/>
              </a:rPr>
              <a:t>The honest caveat</a:t>
            </a:r>
          </a:p>
        </p:txBody>
      </p:sp>
      <p:sp>
        <p:nvSpPr>
          <p:cNvPr id="18" name="Text 16">
            <a:extLst xmlns:a="http://schemas.openxmlformats.org/drawingml/2006/main">
              <a:ext uri="{FF2B5EF4-FFF2-40B4-BE49-F238E27FC236}">
                <a16:creationId xmlns:a16="http://schemas.microsoft.com/office/drawing/2014/main" id="{78C7327D-1D75-498F-A237-E32B7AE050C4}"/>
              </a:ext>
            </a:extLst>
          </p:cNvPr>
          <p:cNvSpPr>
            <a:spLocks xmlns:a="http://schemas.openxmlformats.org/drawingml/2006/main" noGrp="1"/>
          </p:cNvSpPr>
          <p:nvPr/>
        </p:nvSpPr>
        <p:spPr>
          <a:xfrm xmlns:a="http://schemas.openxmlformats.org/drawingml/2006/main">
            <a:off x="7909560" y="2971800"/>
            <a:ext cx="35204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6E5327"/>
                </a:solidFill>
                <a:latin typeface="Calibri"/>
                <a:ea typeface="Calibri"/>
                <a:cs typeface="Calibri"/>
              </a:rPr>
              <a:t>Fresh cardiac data is mandatory; motion-only mode cannot trigger lucid cues.</a:t>
            </a:r>
          </a:p>
          <a:p xmlns:a="http://schemas.openxmlformats.org/drawingml/2006/main">
            <a:pPr marL="0" indent="0">
              <a:buNone/>
            </a:pPr>
            <a:r>
              <a:t/>
            </a:r>
          </a:p>
          <a:p xmlns:a="http://schemas.openxmlformats.org/drawingml/2006/main">
            <a:pPr marL="0" indent="0">
              <a:buNone/>
            </a:pPr>
            <a:r>
              <a:rPr sz="1300">
                <a:solidFill>
                  <a:srgbClr val="6E5327"/>
                </a:solidFill>
                <a:latin typeface="Calibri"/>
                <a:ea typeface="Calibri"/>
                <a:cs typeface="Calibri"/>
              </a:rPr>
              <a:t>Lucidity is exploratory. No reliable on-demand result, treatment claim, or guarantee is made.</a:t>
            </a:r>
          </a:p>
        </p:txBody>
      </p:sp>
      <p:sp>
        <p:nvSpPr>
          <p:cNvPr id="19" name="Text 17">
            <a:extLst xmlns:a="http://schemas.openxmlformats.org/drawingml/2006/main">
              <a:ext uri="{FF2B5EF4-FFF2-40B4-BE49-F238E27FC236}">
                <a16:creationId xmlns:a16="http://schemas.microsoft.com/office/drawing/2014/main" id="{A2C1303A-1144-4468-914D-8C9FD00DBF60}"/>
              </a:ext>
            </a:extLst>
          </p:cNvPr>
          <p:cNvSpPr>
            <a:spLocks xmlns:a="http://schemas.openxmlformats.org/drawingml/2006/main" noGrp="1"/>
          </p:cNvSpPr>
          <p:nvPr/>
        </p:nvSpPr>
        <p:spPr>
          <a:xfrm xmlns:a="http://schemas.openxmlformats.org/drawingml/2006/main">
            <a:off x="7909560" y="5440680"/>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A98A5A"/>
                </a:solidFill>
                <a:latin typeface="Calibri"/>
                <a:ea typeface="Calibri"/>
                <a:cs typeface="Calibri"/>
              </a:rPr>
              <a:t>Dream Sync protocol v1 · supplied paper supports deep cues only</a:t>
            </a:r>
          </a:p>
        </p:txBody>
      </p:sp>
      <p:sp>
        <p:nvSpPr>
          <p:cNvPr id="20" name="Shape 18">
            <a:extLst xmlns:a="http://schemas.openxmlformats.org/drawingml/2006/main">
              <a:ext uri="{FF2B5EF4-FFF2-40B4-BE49-F238E27FC236}">
                <a16:creationId xmlns:a16="http://schemas.microsoft.com/office/drawing/2014/main" id="{5AC7CBF1-C4B1-4B1D-A60B-CCB3092F18DB}"/>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21" name="Shape 19">
            <a:extLst xmlns:a="http://schemas.openxmlformats.org/drawingml/2006/main">
              <a:ext uri="{FF2B5EF4-FFF2-40B4-BE49-F238E27FC236}">
                <a16:creationId xmlns:a16="http://schemas.microsoft.com/office/drawing/2014/main" id="{67B9F957-B377-4BED-800A-A3DF6999E7D5}"/>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2" name="Text 20">
            <a:extLst xmlns:a="http://schemas.openxmlformats.org/drawingml/2006/main">
              <a:ext uri="{FF2B5EF4-FFF2-40B4-BE49-F238E27FC236}">
                <a16:creationId xmlns:a16="http://schemas.microsoft.com/office/drawing/2014/main" id="{EEFD05E9-4D18-4B85-9E82-C08F8A340A5D}"/>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3" name="Text 21">
            <a:extLst xmlns:a="http://schemas.openxmlformats.org/drawingml/2006/main">
              <a:ext uri="{FF2B5EF4-FFF2-40B4-BE49-F238E27FC236}">
                <a16:creationId xmlns:a16="http://schemas.microsoft.com/office/drawing/2014/main" id="{0682828B-AA0D-4194-A8A3-763ECCC9D7FA}"/>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6</a:t>
            </a:r>
          </a:p>
        </p:txBody>
      </p:sp>
    </p:spTree>
    <p:extLst>
      <p:ext uri="{BB962C8B-B14F-4D97-AF65-F5344CB8AC3E}">
        <p14:creationId xmlns:p14="http://schemas.microsoft.com/office/powerpoint/2010/main" val="11803528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A39C803-60C5-4223-AFBF-CF76321D37BB}"/>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Four gates stand between eligibility and sound</a:t>
            </a:r>
          </a:p>
        </p:txBody>
      </p:sp>
      <p:sp>
        <p:nvSpPr>
          <p:cNvPr id="3" name="Text 1">
            <a:extLst xmlns:a="http://schemas.openxmlformats.org/drawingml/2006/main">
              <a:ext uri="{FF2B5EF4-FFF2-40B4-BE49-F238E27FC236}">
                <a16:creationId xmlns:a16="http://schemas.microsoft.com/office/drawing/2014/main" id="{704BD1DF-BA2D-460A-AD47-FF8BA80C100F}"/>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450">
                <a:solidFill>
                  <a:srgbClr val="5B6178"/>
                </a:solidFill>
                <a:latin typeface="Calibri"/>
                <a:ea typeface="Calibri"/>
                <a:cs typeface="Calibri"/>
              </a:rPr>
              <a:t>All decisions run locally. A missing gate disables cues and records the reason instead of guessing.</a:t>
            </a:r>
          </a:p>
        </p:txBody>
      </p:sp>
      <p:sp>
        <p:nvSpPr>
          <p:cNvPr id="4" name="Shape 2">
            <a:extLst xmlns:a="http://schemas.openxmlformats.org/drawingml/2006/main">
              <a:ext uri="{FF2B5EF4-FFF2-40B4-BE49-F238E27FC236}">
                <a16:creationId xmlns:a16="http://schemas.microsoft.com/office/drawing/2014/main" id="{7D6126DB-097A-4AB9-B363-D3FF19905ED7}"/>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ellipse">
            <a:avLst/>
          </a:prstGeom>
          <a:solidFill xmlns:a="http://schemas.openxmlformats.org/drawingml/2006/main">
            <a:srgbClr val="5B6CE8"/>
          </a:solidFill>
        </p:spPr>
      </p:sp>
      <p:sp>
        <p:nvSpPr>
          <p:cNvPr id="5" name="Text 3">
            <a:extLst xmlns:a="http://schemas.openxmlformats.org/drawingml/2006/main">
              <a:ext uri="{FF2B5EF4-FFF2-40B4-BE49-F238E27FC236}">
                <a16:creationId xmlns:a16="http://schemas.microsoft.com/office/drawing/2014/main" id="{832E6279-D7F6-450D-8131-A710F74E8D82}"/>
              </a:ext>
            </a:extLst>
          </p:cNvPr>
          <p:cNvSpPr>
            <a:spLocks xmlns:a="http://schemas.openxmlformats.org/drawingml/2006/main" noGrp="1"/>
          </p:cNvSpPr>
          <p:nvPr/>
        </p:nvSpPr>
        <p:spPr>
          <a:xfrm xmlns:a="http://schemas.openxmlformats.org/drawingml/2006/main">
            <a:off x="548640" y="19659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6" name="Text 4">
            <a:extLst xmlns:a="http://schemas.openxmlformats.org/drawingml/2006/main">
              <a:ext uri="{FF2B5EF4-FFF2-40B4-BE49-F238E27FC236}">
                <a16:creationId xmlns:a16="http://schemas.microsoft.com/office/drawing/2014/main" id="{4E692F75-D79F-476E-AB50-A705E6E69172}"/>
              </a:ext>
            </a:extLst>
          </p:cNvPr>
          <p:cNvSpPr>
            <a:spLocks xmlns:a="http://schemas.openxmlformats.org/drawingml/2006/main" noGrp="1"/>
          </p:cNvSpPr>
          <p:nvPr/>
        </p:nvSpPr>
        <p:spPr>
          <a:xfrm xmlns:a="http://schemas.openxmlformats.org/drawingml/2006/main">
            <a:off x="1115568" y="191109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Verify signal quality</a:t>
            </a:r>
          </a:p>
        </p:txBody>
      </p:sp>
      <p:sp>
        <p:nvSpPr>
          <p:cNvPr id="7" name="Text 5">
            <a:extLst xmlns:a="http://schemas.openxmlformats.org/drawingml/2006/main">
              <a:ext uri="{FF2B5EF4-FFF2-40B4-BE49-F238E27FC236}">
                <a16:creationId xmlns:a16="http://schemas.microsoft.com/office/drawing/2014/main" id="{F53E9FB5-0231-44F4-B155-2BE5162C3839}"/>
              </a:ext>
            </a:extLst>
          </p:cNvPr>
          <p:cNvSpPr>
            <a:spLocks xmlns:a="http://schemas.openxmlformats.org/drawingml/2006/main" noGrp="1"/>
          </p:cNvSpPr>
          <p:nvPr/>
        </p:nvSpPr>
        <p:spPr>
          <a:xfrm xmlns:a="http://schemas.openxmlformats.org/drawingml/2006/main">
            <a:off x="1115568" y="227685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Freshness, registration, sample coverage, and heart availability.</a:t>
            </a:r>
          </a:p>
        </p:txBody>
      </p:sp>
      <p:sp>
        <p:nvSpPr>
          <p:cNvPr id="8" name="Shape 6">
            <a:extLst xmlns:a="http://schemas.openxmlformats.org/drawingml/2006/main">
              <a:ext uri="{FF2B5EF4-FFF2-40B4-BE49-F238E27FC236}">
                <a16:creationId xmlns:a16="http://schemas.microsoft.com/office/drawing/2014/main" id="{16C7AAB6-D2CB-45F5-B805-706B2D2A7729}"/>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ellipse">
            <a:avLst/>
          </a:prstGeom>
          <a:solidFill xmlns:a="http://schemas.openxmlformats.org/drawingml/2006/main">
            <a:srgbClr val="5B6CE8"/>
          </a:solidFill>
        </p:spPr>
      </p:sp>
      <p:sp>
        <p:nvSpPr>
          <p:cNvPr id="9" name="Text 7">
            <a:extLst xmlns:a="http://schemas.openxmlformats.org/drawingml/2006/main">
              <a:ext uri="{FF2B5EF4-FFF2-40B4-BE49-F238E27FC236}">
                <a16:creationId xmlns:a16="http://schemas.microsoft.com/office/drawing/2014/main" id="{BCFA02E4-9998-46AF-802C-E44938ACDAF0}"/>
              </a:ext>
            </a:extLst>
          </p:cNvPr>
          <p:cNvSpPr>
            <a:spLocks xmlns:a="http://schemas.openxmlformats.org/drawingml/2006/main" noGrp="1"/>
          </p:cNvSpPr>
          <p:nvPr/>
        </p:nvSpPr>
        <p:spPr>
          <a:xfrm xmlns:a="http://schemas.openxmlformats.org/drawingml/2006/main">
            <a:off x="548640" y="30632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10" name="Text 8">
            <a:extLst xmlns:a="http://schemas.openxmlformats.org/drawingml/2006/main">
              <a:ext uri="{FF2B5EF4-FFF2-40B4-BE49-F238E27FC236}">
                <a16:creationId xmlns:a16="http://schemas.microsoft.com/office/drawing/2014/main" id="{82F76363-85B2-4546-8FB0-902A11DB3AE5}"/>
              </a:ext>
            </a:extLst>
          </p:cNvPr>
          <p:cNvSpPr>
            <a:spLocks xmlns:a="http://schemas.openxmlformats.org/drawingml/2006/main" noGrp="1"/>
          </p:cNvSpPr>
          <p:nvPr/>
        </p:nvSpPr>
        <p:spPr>
          <a:xfrm xmlns:a="http://schemas.openxmlformats.org/drawingml/2006/main">
            <a:off x="1115568" y="300837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Estimate sleep onset</a:t>
            </a:r>
          </a:p>
        </p:txBody>
      </p:sp>
      <p:sp>
        <p:nvSpPr>
          <p:cNvPr id="11" name="Text 9">
            <a:extLst xmlns:a="http://schemas.openxmlformats.org/drawingml/2006/main">
              <a:ext uri="{FF2B5EF4-FFF2-40B4-BE49-F238E27FC236}">
                <a16:creationId xmlns:a16="http://schemas.microsoft.com/office/drawing/2014/main" id="{1E1573E9-7D2B-49C2-AEE4-D25A0DF17813}"/>
              </a:ext>
            </a:extLst>
          </p:cNvPr>
          <p:cNvSpPr>
            <a:spLocks xmlns:a="http://schemas.openxmlformats.org/drawingml/2006/main" noGrp="1"/>
          </p:cNvSpPr>
          <p:nvPr/>
        </p:nvSpPr>
        <p:spPr>
          <a:xfrm xmlns:a="http://schemas.openxmlformats.org/drawingml/2006/main">
            <a:off x="1115568" y="337413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Cue windows begin after sustained quiet, not when Start was tapped.</a:t>
            </a:r>
          </a:p>
        </p:txBody>
      </p:sp>
      <p:sp>
        <p:nvSpPr>
          <p:cNvPr id="12" name="Shape 10">
            <a:extLst xmlns:a="http://schemas.openxmlformats.org/drawingml/2006/main">
              <a:ext uri="{FF2B5EF4-FFF2-40B4-BE49-F238E27FC236}">
                <a16:creationId xmlns:a16="http://schemas.microsoft.com/office/drawing/2014/main" id="{2A51017F-14A8-46AA-ADEE-54B9A5A0805D}"/>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ellipse">
            <a:avLst/>
          </a:prstGeom>
          <a:solidFill xmlns:a="http://schemas.openxmlformats.org/drawingml/2006/main">
            <a:srgbClr val="5B6CE8"/>
          </a:solidFill>
        </p:spPr>
      </p:sp>
      <p:sp>
        <p:nvSpPr>
          <p:cNvPr id="13" name="Text 11">
            <a:extLst xmlns:a="http://schemas.openxmlformats.org/drawingml/2006/main">
              <a:ext uri="{FF2B5EF4-FFF2-40B4-BE49-F238E27FC236}">
                <a16:creationId xmlns:a16="http://schemas.microsoft.com/office/drawing/2014/main" id="{8714C26C-5CC7-4DF4-B748-53CCA1E66D87}"/>
              </a:ext>
            </a:extLst>
          </p:cNvPr>
          <p:cNvSpPr>
            <a:spLocks xmlns:a="http://schemas.openxmlformats.org/drawingml/2006/main" noGrp="1"/>
          </p:cNvSpPr>
          <p:nvPr/>
        </p:nvSpPr>
        <p:spPr>
          <a:xfrm xmlns:a="http://schemas.openxmlformats.org/drawingml/2006/main">
            <a:off x="548640" y="416052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4" name="Text 12">
            <a:extLst xmlns:a="http://schemas.openxmlformats.org/drawingml/2006/main">
              <a:ext uri="{FF2B5EF4-FFF2-40B4-BE49-F238E27FC236}">
                <a16:creationId xmlns:a16="http://schemas.microsoft.com/office/drawing/2014/main" id="{35FC473E-38C4-4B86-8A7B-CFC133343DEC}"/>
              </a:ext>
            </a:extLst>
          </p:cNvPr>
          <p:cNvSpPr>
            <a:spLocks xmlns:a="http://schemas.openxmlformats.org/drawingml/2006/main" noGrp="1"/>
          </p:cNvSpPr>
          <p:nvPr/>
        </p:nvSpPr>
        <p:spPr>
          <a:xfrm xmlns:a="http://schemas.openxmlformats.org/drawingml/2006/main">
            <a:off x="1115568" y="410565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Require stable eligibility</a:t>
            </a:r>
          </a:p>
        </p:txBody>
      </p:sp>
      <p:sp>
        <p:nvSpPr>
          <p:cNvPr id="15" name="Text 13">
            <a:extLst xmlns:a="http://schemas.openxmlformats.org/drawingml/2006/main">
              <a:ext uri="{FF2B5EF4-FFF2-40B4-BE49-F238E27FC236}">
                <a16:creationId xmlns:a16="http://schemas.microsoft.com/office/drawing/2014/main" id="{0B8C7713-6E8B-4E0F-9CB6-4F6A02DE37FE}"/>
              </a:ext>
            </a:extLst>
          </p:cNvPr>
          <p:cNvSpPr>
            <a:spLocks xmlns:a="http://schemas.openxmlformats.org/drawingml/2006/main" noGrp="1"/>
          </p:cNvSpPr>
          <p:nvPr/>
        </p:nvSpPr>
        <p:spPr>
          <a:xfrm xmlns:a="http://schemas.openxmlformats.org/drawingml/2006/main">
            <a:off x="1115568" y="447141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NREM-eligible or REM-like eligible must persist inside its window.</a:t>
            </a:r>
          </a:p>
        </p:txBody>
      </p:sp>
      <p:sp>
        <p:nvSpPr>
          <p:cNvPr id="16" name="Shape 14">
            <a:extLst xmlns:a="http://schemas.openxmlformats.org/drawingml/2006/main">
              <a:ext uri="{FF2B5EF4-FFF2-40B4-BE49-F238E27FC236}">
                <a16:creationId xmlns:a16="http://schemas.microsoft.com/office/drawing/2014/main" id="{7537162D-ED7C-408D-8844-7C8BEF0C7377}"/>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ellipse">
            <a:avLst/>
          </a:prstGeom>
          <a:solidFill xmlns:a="http://schemas.openxmlformats.org/drawingml/2006/main">
            <a:srgbClr val="5B6CE8"/>
          </a:solidFill>
        </p:spPr>
      </p:sp>
      <p:sp>
        <p:nvSpPr>
          <p:cNvPr id="17" name="Text 15">
            <a:extLst xmlns:a="http://schemas.openxmlformats.org/drawingml/2006/main">
              <a:ext uri="{FF2B5EF4-FFF2-40B4-BE49-F238E27FC236}">
                <a16:creationId xmlns:a16="http://schemas.microsoft.com/office/drawing/2014/main" id="{62C297F2-DCDC-4BFC-A097-A5B5217964C1}"/>
              </a:ext>
            </a:extLst>
          </p:cNvPr>
          <p:cNvSpPr>
            <a:spLocks xmlns:a="http://schemas.openxmlformats.org/drawingml/2006/main" noGrp="1"/>
          </p:cNvSpPr>
          <p:nvPr/>
        </p:nvSpPr>
        <p:spPr>
          <a:xfrm xmlns:a="http://schemas.openxmlformats.org/drawingml/2006/main">
            <a:off x="548640" y="525780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4</a:t>
            </a:r>
          </a:p>
        </p:txBody>
      </p:sp>
      <p:sp>
        <p:nvSpPr>
          <p:cNvPr id="18" name="Text 16">
            <a:extLst xmlns:a="http://schemas.openxmlformats.org/drawingml/2006/main">
              <a:ext uri="{FF2B5EF4-FFF2-40B4-BE49-F238E27FC236}">
                <a16:creationId xmlns:a16="http://schemas.microsoft.com/office/drawing/2014/main" id="{ECE626D3-BBD6-4D86-BC97-1229E6635462}"/>
              </a:ext>
            </a:extLst>
          </p:cNvPr>
          <p:cNvSpPr>
            <a:spLocks xmlns:a="http://schemas.openxmlformats.org/drawingml/2006/main" noGrp="1"/>
          </p:cNvSpPr>
          <p:nvPr/>
        </p:nvSpPr>
        <p:spPr>
          <a:xfrm xmlns:a="http://schemas.openxmlformats.org/drawingml/2006/main">
            <a:off x="1115568" y="5202936"/>
            <a:ext cx="491947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Verify protocol + audio</a:t>
            </a:r>
          </a:p>
        </p:txBody>
      </p:sp>
      <p:sp>
        <p:nvSpPr>
          <p:cNvPr id="19" name="Text 17">
            <a:extLst xmlns:a="http://schemas.openxmlformats.org/drawingml/2006/main">
              <a:ext uri="{FF2B5EF4-FFF2-40B4-BE49-F238E27FC236}">
                <a16:creationId xmlns:a16="http://schemas.microsoft.com/office/drawing/2014/main" id="{89DB5CA2-C301-40BF-9674-4B42778F3214}"/>
              </a:ext>
            </a:extLst>
          </p:cNvPr>
          <p:cNvSpPr>
            <a:spLocks xmlns:a="http://schemas.openxmlformats.org/drawingml/2006/main" noGrp="1"/>
          </p:cNvSpPr>
          <p:nvPr/>
        </p:nvSpPr>
        <p:spPr>
          <a:xfrm xmlns:a="http://schemas.openxmlformats.org/drawingml/2006/main">
            <a:off x="1115568" y="5568696"/>
            <a:ext cx="491947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Bound device, current session, unexpired cue, speaker route, focus, and calibration.</a:t>
            </a:r>
          </a:p>
        </p:txBody>
      </p:sp>
      <p:sp>
        <p:nvSpPr>
          <p:cNvPr id="20" name="Text 18">
            <a:extLst xmlns:a="http://schemas.openxmlformats.org/drawingml/2006/main">
              <a:ext uri="{FF2B5EF4-FFF2-40B4-BE49-F238E27FC236}">
                <a16:creationId xmlns:a16="http://schemas.microsoft.com/office/drawing/2014/main" id="{4112AA6F-6AB1-4E43-AEAA-63F98C4AC70B}"/>
              </a:ext>
            </a:extLst>
          </p:cNvPr>
          <p:cNvSpPr>
            <a:spLocks xmlns:a="http://schemas.openxmlformats.org/drawingml/2006/main" noGrp="1"/>
          </p:cNvSpPr>
          <p:nvPr/>
        </p:nvSpPr>
        <p:spPr>
          <a:xfrm xmlns:a="http://schemas.openxmlformats.org/drawingml/2006/main">
            <a:off x="6492240" y="1874520"/>
            <a:ext cx="50749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1E2247"/>
                </a:solidFill>
                <a:latin typeface="Calibri"/>
                <a:ea typeface="Calibri"/>
                <a:cs typeface="Calibri"/>
              </a:rPr>
              <a:t>Cue windows anchor to estimated sleep onset</a:t>
            </a:r>
          </a:p>
        </p:txBody>
      </p:sp>
      <p:sp>
        <p:nvSpPr>
          <p:cNvPr id="21" name="Shape 19">
            <a:extLst xmlns:a="http://schemas.openxmlformats.org/drawingml/2006/main">
              <a:ext uri="{FF2B5EF4-FFF2-40B4-BE49-F238E27FC236}">
                <a16:creationId xmlns:a16="http://schemas.microsoft.com/office/drawing/2014/main" id="{D887FEED-CB2E-4169-9802-3A87A17EBC95}"/>
              </a:ext>
            </a:extLst>
          </p:cNvPr>
          <p:cNvSpPr>
            <a:spLocks xmlns:a="http://schemas.openxmlformats.org/drawingml/2006/main" noGrp="1"/>
          </p:cNvSpPr>
          <p:nvPr/>
        </p:nvSpPr>
        <p:spPr>
          <a:xfrm xmlns:a="http://schemas.openxmlformats.org/drawingml/2006/main">
            <a:off x="6492240" y="5074920"/>
            <a:ext cx="5074920" cy="0"/>
          </a:xfrm>
          <a:prstGeom xmlns:a="http://schemas.openxmlformats.org/drawingml/2006/main" prst="line">
            <a:avLst/>
          </a:prstGeom>
          <a:noFill xmlns:a="http://schemas.openxmlformats.org/drawingml/2006/main"/>
          <a:ln xmlns:a="http://schemas.openxmlformats.org/drawingml/2006/main" w="12700">
            <a:solidFill>
              <a:srgbClr val="C9CEDF"/>
            </a:solidFill>
            <a:prstDash val="solid"/>
          </a:ln>
        </p:spPr>
      </p:sp>
      <p:sp>
        <p:nvSpPr>
          <p:cNvPr id="22" name="Shape 20">
            <a:extLst xmlns:a="http://schemas.openxmlformats.org/drawingml/2006/main">
              <a:ext uri="{FF2B5EF4-FFF2-40B4-BE49-F238E27FC236}">
                <a16:creationId xmlns:a16="http://schemas.microsoft.com/office/drawing/2014/main" id="{D068C4F0-A79D-40EF-87BC-51E958F5732A}"/>
              </a:ext>
            </a:extLst>
          </p:cNvPr>
          <p:cNvSpPr>
            <a:spLocks xmlns:a="http://schemas.openxmlformats.org/drawingml/2006/main" noGrp="1"/>
          </p:cNvSpPr>
          <p:nvPr/>
        </p:nvSpPr>
        <p:spPr>
          <a:xfrm xmlns:a="http://schemas.openxmlformats.org/drawingml/2006/main">
            <a:off x="6629400" y="3520440"/>
            <a:ext cx="457200" cy="1554480"/>
          </a:xfrm>
          <a:prstGeom xmlns:a="http://schemas.openxmlformats.org/drawingml/2006/main" prst="rect">
            <a:avLst/>
          </a:prstGeom>
          <a:solidFill xmlns:a="http://schemas.openxmlformats.org/drawingml/2006/main">
            <a:srgbClr val="5B6CE8"/>
          </a:solidFill>
        </p:spPr>
      </p:sp>
      <p:sp>
        <p:nvSpPr>
          <p:cNvPr id="23" name="Shape 21">
            <a:extLst xmlns:a="http://schemas.openxmlformats.org/drawingml/2006/main">
              <a:ext uri="{FF2B5EF4-FFF2-40B4-BE49-F238E27FC236}">
                <a16:creationId xmlns:a16="http://schemas.microsoft.com/office/drawing/2014/main" id="{21BDE7A3-DD78-4295-976B-9F5E22A56AB6}"/>
              </a:ext>
            </a:extLst>
          </p:cNvPr>
          <p:cNvSpPr>
            <a:spLocks xmlns:a="http://schemas.openxmlformats.org/drawingml/2006/main" noGrp="1"/>
          </p:cNvSpPr>
          <p:nvPr/>
        </p:nvSpPr>
        <p:spPr>
          <a:xfrm xmlns:a="http://schemas.openxmlformats.org/drawingml/2006/main">
            <a:off x="7196328" y="3840480"/>
            <a:ext cx="457200" cy="1234440"/>
          </a:xfrm>
          <a:prstGeom xmlns:a="http://schemas.openxmlformats.org/drawingml/2006/main" prst="rect">
            <a:avLst/>
          </a:prstGeom>
          <a:solidFill xmlns:a="http://schemas.openxmlformats.org/drawingml/2006/main">
            <a:srgbClr val="5B6CE8"/>
          </a:solidFill>
        </p:spPr>
      </p:sp>
      <p:sp>
        <p:nvSpPr>
          <p:cNvPr id="24" name="Shape 22">
            <a:extLst xmlns:a="http://schemas.openxmlformats.org/drawingml/2006/main">
              <a:ext uri="{FF2B5EF4-FFF2-40B4-BE49-F238E27FC236}">
                <a16:creationId xmlns:a16="http://schemas.microsoft.com/office/drawing/2014/main" id="{55DA233F-847A-4F63-AEEF-4F1191CA6024}"/>
              </a:ext>
            </a:extLst>
          </p:cNvPr>
          <p:cNvSpPr>
            <a:spLocks xmlns:a="http://schemas.openxmlformats.org/drawingml/2006/main" noGrp="1"/>
          </p:cNvSpPr>
          <p:nvPr/>
        </p:nvSpPr>
        <p:spPr>
          <a:xfrm xmlns:a="http://schemas.openxmlformats.org/drawingml/2006/main">
            <a:off x="7763256" y="4206240"/>
            <a:ext cx="457200" cy="868680"/>
          </a:xfrm>
          <a:prstGeom xmlns:a="http://schemas.openxmlformats.org/drawingml/2006/main" prst="rect">
            <a:avLst/>
          </a:prstGeom>
          <a:solidFill xmlns:a="http://schemas.openxmlformats.org/drawingml/2006/main">
            <a:srgbClr val="5B6CE8"/>
          </a:solidFill>
        </p:spPr>
      </p:sp>
      <p:sp>
        <p:nvSpPr>
          <p:cNvPr id="25" name="Shape 23">
            <a:extLst xmlns:a="http://schemas.openxmlformats.org/drawingml/2006/main">
              <a:ext uri="{FF2B5EF4-FFF2-40B4-BE49-F238E27FC236}">
                <a16:creationId xmlns:a16="http://schemas.microsoft.com/office/drawing/2014/main" id="{E6AF1D10-A7D5-4DFB-B55A-C563C07A8DB5}"/>
              </a:ext>
            </a:extLst>
          </p:cNvPr>
          <p:cNvSpPr>
            <a:spLocks xmlns:a="http://schemas.openxmlformats.org/drawingml/2006/main" noGrp="1"/>
          </p:cNvSpPr>
          <p:nvPr/>
        </p:nvSpPr>
        <p:spPr>
          <a:xfrm xmlns:a="http://schemas.openxmlformats.org/drawingml/2006/main">
            <a:off x="8330184" y="4572000"/>
            <a:ext cx="457200" cy="502920"/>
          </a:xfrm>
          <a:prstGeom xmlns:a="http://schemas.openxmlformats.org/drawingml/2006/main" prst="rect">
            <a:avLst/>
          </a:prstGeom>
          <a:solidFill xmlns:a="http://schemas.openxmlformats.org/drawingml/2006/main">
            <a:srgbClr val="5B6CE8"/>
          </a:solidFill>
        </p:spPr>
      </p:sp>
      <p:sp>
        <p:nvSpPr>
          <p:cNvPr id="26" name="Shape 24">
            <a:extLst xmlns:a="http://schemas.openxmlformats.org/drawingml/2006/main">
              <a:ext uri="{FF2B5EF4-FFF2-40B4-BE49-F238E27FC236}">
                <a16:creationId xmlns:a16="http://schemas.microsoft.com/office/drawing/2014/main" id="{08ED5D64-FD40-4476-9B17-EE91CD193146}"/>
              </a:ext>
            </a:extLst>
          </p:cNvPr>
          <p:cNvSpPr>
            <a:spLocks xmlns:a="http://schemas.openxmlformats.org/drawingml/2006/main" noGrp="1"/>
          </p:cNvSpPr>
          <p:nvPr/>
        </p:nvSpPr>
        <p:spPr>
          <a:xfrm xmlns:a="http://schemas.openxmlformats.org/drawingml/2006/main">
            <a:off x="9235440" y="4617720"/>
            <a:ext cx="457200" cy="457200"/>
          </a:xfrm>
          <a:prstGeom xmlns:a="http://schemas.openxmlformats.org/drawingml/2006/main" prst="rect">
            <a:avLst/>
          </a:prstGeom>
          <a:solidFill xmlns:a="http://schemas.openxmlformats.org/drawingml/2006/main">
            <a:srgbClr val="818CF8"/>
          </a:solidFill>
        </p:spPr>
      </p:sp>
      <p:sp>
        <p:nvSpPr>
          <p:cNvPr id="27" name="Shape 25">
            <a:extLst xmlns:a="http://schemas.openxmlformats.org/drawingml/2006/main">
              <a:ext uri="{FF2B5EF4-FFF2-40B4-BE49-F238E27FC236}">
                <a16:creationId xmlns:a16="http://schemas.microsoft.com/office/drawing/2014/main" id="{F5BD3289-BA9B-47C9-A7B9-25076AA1D006}"/>
              </a:ext>
            </a:extLst>
          </p:cNvPr>
          <p:cNvSpPr>
            <a:spLocks xmlns:a="http://schemas.openxmlformats.org/drawingml/2006/main" noGrp="1"/>
          </p:cNvSpPr>
          <p:nvPr/>
        </p:nvSpPr>
        <p:spPr>
          <a:xfrm xmlns:a="http://schemas.openxmlformats.org/drawingml/2006/main">
            <a:off x="9802368" y="4343400"/>
            <a:ext cx="457200" cy="731520"/>
          </a:xfrm>
          <a:prstGeom xmlns:a="http://schemas.openxmlformats.org/drawingml/2006/main" prst="rect">
            <a:avLst/>
          </a:prstGeom>
          <a:solidFill xmlns:a="http://schemas.openxmlformats.org/drawingml/2006/main">
            <a:srgbClr val="818CF8"/>
          </a:solidFill>
        </p:spPr>
      </p:sp>
      <p:sp>
        <p:nvSpPr>
          <p:cNvPr id="28" name="Shape 26">
            <a:extLst xmlns:a="http://schemas.openxmlformats.org/drawingml/2006/main">
              <a:ext uri="{FF2B5EF4-FFF2-40B4-BE49-F238E27FC236}">
                <a16:creationId xmlns:a16="http://schemas.microsoft.com/office/drawing/2014/main" id="{0FEFEFE3-AF63-425C-9060-D55E9434E801}"/>
              </a:ext>
            </a:extLst>
          </p:cNvPr>
          <p:cNvSpPr>
            <a:spLocks xmlns:a="http://schemas.openxmlformats.org/drawingml/2006/main" noGrp="1"/>
          </p:cNvSpPr>
          <p:nvPr/>
        </p:nvSpPr>
        <p:spPr>
          <a:xfrm xmlns:a="http://schemas.openxmlformats.org/drawingml/2006/main">
            <a:off x="10369296" y="4023360"/>
            <a:ext cx="457200" cy="1051560"/>
          </a:xfrm>
          <a:prstGeom xmlns:a="http://schemas.openxmlformats.org/drawingml/2006/main" prst="rect">
            <a:avLst/>
          </a:prstGeom>
          <a:solidFill xmlns:a="http://schemas.openxmlformats.org/drawingml/2006/main">
            <a:srgbClr val="818CF8"/>
          </a:solidFill>
        </p:spPr>
      </p:sp>
      <p:sp>
        <p:nvSpPr>
          <p:cNvPr id="29" name="Shape 27">
            <a:extLst xmlns:a="http://schemas.openxmlformats.org/drawingml/2006/main">
              <a:ext uri="{FF2B5EF4-FFF2-40B4-BE49-F238E27FC236}">
                <a16:creationId xmlns:a16="http://schemas.microsoft.com/office/drawing/2014/main" id="{DE46CC23-7F44-41AE-BA2A-42EA65982CD4}"/>
              </a:ext>
            </a:extLst>
          </p:cNvPr>
          <p:cNvSpPr>
            <a:spLocks xmlns:a="http://schemas.openxmlformats.org/drawingml/2006/main" noGrp="1"/>
          </p:cNvSpPr>
          <p:nvPr/>
        </p:nvSpPr>
        <p:spPr>
          <a:xfrm xmlns:a="http://schemas.openxmlformats.org/drawingml/2006/main">
            <a:off x="10936224" y="3703320"/>
            <a:ext cx="457200" cy="1371600"/>
          </a:xfrm>
          <a:prstGeom xmlns:a="http://schemas.openxmlformats.org/drawingml/2006/main" prst="rect">
            <a:avLst/>
          </a:prstGeom>
          <a:solidFill xmlns:a="http://schemas.openxmlformats.org/drawingml/2006/main">
            <a:srgbClr val="818CF8"/>
          </a:solidFill>
        </p:spPr>
      </p:sp>
      <p:sp>
        <p:nvSpPr>
          <p:cNvPr id="30" name="Text 28">
            <a:extLst xmlns:a="http://schemas.openxmlformats.org/drawingml/2006/main">
              <a:ext uri="{FF2B5EF4-FFF2-40B4-BE49-F238E27FC236}">
                <a16:creationId xmlns:a16="http://schemas.microsoft.com/office/drawing/2014/main" id="{9138BFB0-1B0C-49F4-8BC8-88096F1C264B}"/>
              </a:ext>
            </a:extLst>
          </p:cNvPr>
          <p:cNvSpPr>
            <a:spLocks xmlns:a="http://schemas.openxmlformats.org/drawingml/2006/main" noGrp="1"/>
          </p:cNvSpPr>
          <p:nvPr/>
        </p:nvSpPr>
        <p:spPr>
          <a:xfrm xmlns:a="http://schemas.openxmlformats.org/drawingml/2006/main">
            <a:off x="653796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5B6CE8"/>
                </a:solidFill>
                <a:latin typeface="Calibri"/>
                <a:ea typeface="Calibri"/>
                <a:cs typeface="Calibri"/>
              </a:rPr>
              <a:t>NREM-eligible window</a:t>
            </a:r>
          </a:p>
        </p:txBody>
      </p:sp>
      <p:sp>
        <p:nvSpPr>
          <p:cNvPr id="31" name="Text 29">
            <a:extLst xmlns:a="http://schemas.openxmlformats.org/drawingml/2006/main">
              <a:ext uri="{FF2B5EF4-FFF2-40B4-BE49-F238E27FC236}">
                <a16:creationId xmlns:a16="http://schemas.microsoft.com/office/drawing/2014/main" id="{514D3055-A020-43B5-8E9E-5F010F244477}"/>
              </a:ext>
            </a:extLst>
          </p:cNvPr>
          <p:cNvSpPr>
            <a:spLocks xmlns:a="http://schemas.openxmlformats.org/drawingml/2006/main" noGrp="1"/>
          </p:cNvSpPr>
          <p:nvPr/>
        </p:nvSpPr>
        <p:spPr>
          <a:xfrm xmlns:a="http://schemas.openxmlformats.org/drawingml/2006/main">
            <a:off x="9189720" y="5166360"/>
            <a:ext cx="22860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100" b="1">
                <a:solidFill>
                  <a:srgbClr val="818CF8"/>
                </a:solidFill>
                <a:latin typeface="Calibri"/>
                <a:ea typeface="Calibri"/>
                <a:cs typeface="Calibri"/>
              </a:rPr>
              <a:t>REM-like eligible window</a:t>
            </a:r>
          </a:p>
        </p:txBody>
      </p:sp>
      <p:sp>
        <p:nvSpPr>
          <p:cNvPr id="32" name="Text 30">
            <a:extLst xmlns:a="http://schemas.openxmlformats.org/drawingml/2006/main">
              <a:ext uri="{FF2B5EF4-FFF2-40B4-BE49-F238E27FC236}">
                <a16:creationId xmlns:a16="http://schemas.microsoft.com/office/drawing/2014/main" id="{B6929763-E151-4487-95FE-8904EC7F6CC8}"/>
              </a:ext>
            </a:extLst>
          </p:cNvPr>
          <p:cNvSpPr>
            <a:spLocks xmlns:a="http://schemas.openxmlformats.org/drawingml/2006/main" noGrp="1"/>
          </p:cNvSpPr>
          <p:nvPr/>
        </p:nvSpPr>
        <p:spPr>
          <a:xfrm xmlns:a="http://schemas.openxmlformats.org/drawingml/2006/main">
            <a:off x="649224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a:solidFill>
                  <a:srgbClr val="5B6178"/>
                </a:solidFill>
                <a:latin typeface="Calibri"/>
                <a:ea typeface="Calibri"/>
                <a:cs typeface="Calibri"/>
              </a:rPr>
              <a:t>onset</a:t>
            </a:r>
          </a:p>
        </p:txBody>
      </p:sp>
      <p:sp>
        <p:nvSpPr>
          <p:cNvPr id="33" name="Text 31">
            <a:extLst xmlns:a="http://schemas.openxmlformats.org/drawingml/2006/main">
              <a:ext uri="{FF2B5EF4-FFF2-40B4-BE49-F238E27FC236}">
                <a16:creationId xmlns:a16="http://schemas.microsoft.com/office/drawing/2014/main" id="{A2A868D7-0173-43DE-95E4-2F92D3C823D8}"/>
              </a:ext>
            </a:extLst>
          </p:cNvPr>
          <p:cNvSpPr>
            <a:spLocks xmlns:a="http://schemas.openxmlformats.org/drawingml/2006/main" noGrp="1"/>
          </p:cNvSpPr>
          <p:nvPr/>
        </p:nvSpPr>
        <p:spPr>
          <a:xfrm xmlns:a="http://schemas.openxmlformats.org/drawingml/2006/main">
            <a:off x="11018520" y="5486400"/>
            <a:ext cx="5486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1000">
                <a:solidFill>
                  <a:srgbClr val="5B6178"/>
                </a:solidFill>
                <a:latin typeface="Calibri"/>
                <a:ea typeface="Calibri"/>
                <a:cs typeface="Calibri"/>
              </a:rPr>
              <a:t>end</a:t>
            </a:r>
          </a:p>
        </p:txBody>
      </p:sp>
      <p:sp>
        <p:nvSpPr>
          <p:cNvPr id="34" name="Shape 32">
            <a:extLst xmlns:a="http://schemas.openxmlformats.org/drawingml/2006/main">
              <a:ext uri="{FF2B5EF4-FFF2-40B4-BE49-F238E27FC236}">
                <a16:creationId xmlns:a16="http://schemas.microsoft.com/office/drawing/2014/main" id="{84D30B44-2E55-42A7-9CC2-D40994DE783D}"/>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35" name="Shape 33">
            <a:extLst xmlns:a="http://schemas.openxmlformats.org/drawingml/2006/main">
              <a:ext uri="{FF2B5EF4-FFF2-40B4-BE49-F238E27FC236}">
                <a16:creationId xmlns:a16="http://schemas.microsoft.com/office/drawing/2014/main" id="{723A2738-E901-4090-A983-B8AED31D7FA4}"/>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36" name="Text 34">
            <a:extLst xmlns:a="http://schemas.openxmlformats.org/drawingml/2006/main">
              <a:ext uri="{FF2B5EF4-FFF2-40B4-BE49-F238E27FC236}">
                <a16:creationId xmlns:a16="http://schemas.microsoft.com/office/drawing/2014/main" id="{F49A3640-82EE-4D20-89F9-2AD9A677A372}"/>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37" name="Text 35">
            <a:extLst xmlns:a="http://schemas.openxmlformats.org/drawingml/2006/main">
              <a:ext uri="{FF2B5EF4-FFF2-40B4-BE49-F238E27FC236}">
                <a16:creationId xmlns:a16="http://schemas.microsoft.com/office/drawing/2014/main" id="{27848342-8BD0-40B5-B056-9587A8B66F68}"/>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7</a:t>
            </a:r>
          </a:p>
        </p:txBody>
      </p:sp>
    </p:spTree>
    <p:extLst>
      <p:ext uri="{BB962C8B-B14F-4D97-AF65-F5344CB8AC3E}">
        <p14:creationId xmlns:p14="http://schemas.microsoft.com/office/powerpoint/2010/main" val="6453346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31B5C7-4151-4138-8DE4-9617E3D0F202}"/>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The watch estimates eligibility — not sleep stage</a:t>
            </a:r>
          </a:p>
        </p:txBody>
      </p:sp>
      <p:sp>
        <p:nvSpPr>
          <p:cNvPr id="3" name="Text 1">
            <a:extLst xmlns:a="http://schemas.openxmlformats.org/drawingml/2006/main">
              <a:ext uri="{FF2B5EF4-FFF2-40B4-BE49-F238E27FC236}">
                <a16:creationId xmlns:a16="http://schemas.microsoft.com/office/drawing/2014/main" id="{AD7E817B-A8B5-4B0C-8D02-0C887FF0A8A9}"/>
              </a:ext>
            </a:extLst>
          </p:cNvPr>
          <p:cNvSpPr>
            <a:spLocks xmlns:a="http://schemas.openxmlformats.org/drawingml/2006/main" noGrp="1"/>
          </p:cNvSpPr>
          <p:nvPr/>
        </p:nvSpPr>
        <p:spPr>
          <a:xfrm xmlns:a="http://schemas.openxmlformats.org/drawingml/2006/main">
            <a:off x="548640" y="1188720"/>
            <a:ext cx="10972800" cy="5486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500">
                <a:solidFill>
                  <a:srgbClr val="5B6178"/>
                </a:solidFill>
                <a:latin typeface="Calibri"/>
                <a:ea typeface="Calibri"/>
                <a:cs typeface="Calibri"/>
              </a:rPr>
              <a:t>That wording is a scientific control: the available sensors cannot confirm EEG slow waves or REM.</a:t>
            </a:r>
          </a:p>
        </p:txBody>
      </p:sp>
      <p:sp>
        <p:nvSpPr>
          <p:cNvPr id="4" name="Shape 2">
            <a:extLst xmlns:a="http://schemas.openxmlformats.org/drawingml/2006/main">
              <a:ext uri="{FF2B5EF4-FFF2-40B4-BE49-F238E27FC236}">
                <a16:creationId xmlns:a16="http://schemas.microsoft.com/office/drawing/2014/main" id="{F746AEC5-C96C-456E-901B-FF44367C1805}"/>
              </a:ext>
            </a:extLst>
          </p:cNvPr>
          <p:cNvSpPr>
            <a:spLocks xmlns:a="http://schemas.openxmlformats.org/drawingml/2006/main" noGrp="1"/>
          </p:cNvSpPr>
          <p:nvPr/>
        </p:nvSpPr>
        <p:spPr>
          <a:xfrm xmlns:a="http://schemas.openxmlformats.org/drawingml/2006/main">
            <a:off x="548640" y="1965960"/>
            <a:ext cx="5394960" cy="1828800"/>
          </a:xfrm>
          <a:prstGeom xmlns:a="http://schemas.openxmlformats.org/drawingml/2006/main" prst="roundRect">
            <a:avLst>
              <a:gd name="adj" fmla="val 4500"/>
            </a:avLst>
          </a:prstGeom>
          <a:solidFill xmlns:a="http://schemas.openxmlformats.org/drawingml/2006/main">
            <a:srgbClr val="E9F4EE"/>
          </a:solidFill>
          <a:ln xmlns:a="http://schemas.openxmlformats.org/drawingml/2006/main" w="12700">
            <a:solidFill>
              <a:srgbClr val="CDE6D9"/>
            </a:solidFill>
            <a:prstDash val="solid"/>
          </a:ln>
        </p:spPr>
      </p:sp>
      <p:sp>
        <p:nvSpPr>
          <p:cNvPr id="5" name="Text 3">
            <a:extLst xmlns:a="http://schemas.openxmlformats.org/drawingml/2006/main">
              <a:ext uri="{FF2B5EF4-FFF2-40B4-BE49-F238E27FC236}">
                <a16:creationId xmlns:a16="http://schemas.microsoft.com/office/drawing/2014/main" id="{3C6524F4-EE17-47AF-9B9C-E04EB3507E0B}"/>
              </a:ext>
            </a:extLst>
          </p:cNvPr>
          <p:cNvSpPr>
            <a:spLocks xmlns:a="http://schemas.openxmlformats.org/drawingml/2006/main" noGrp="1"/>
          </p:cNvSpPr>
          <p:nvPr/>
        </p:nvSpPr>
        <p:spPr>
          <a:xfrm xmlns:a="http://schemas.openxmlformats.org/drawingml/2006/main">
            <a:off x="548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2E7D5B"/>
                </a:solidFill>
                <a:latin typeface="Cambria"/>
                <a:ea typeface="Cambria"/>
                <a:cs typeface="Cambria"/>
              </a:rPr>
              <a:t>CAN LOG</a:t>
            </a:r>
          </a:p>
        </p:txBody>
      </p:sp>
      <p:sp>
        <p:nvSpPr>
          <p:cNvPr id="6" name="Text 4">
            <a:extLst xmlns:a="http://schemas.openxmlformats.org/drawingml/2006/main">
              <a:ext uri="{FF2B5EF4-FFF2-40B4-BE49-F238E27FC236}">
                <a16:creationId xmlns:a16="http://schemas.microsoft.com/office/drawing/2014/main" id="{79DADA3D-D63F-4189-A503-D3B19C325ABE}"/>
              </a:ext>
            </a:extLst>
          </p:cNvPr>
          <p:cNvSpPr>
            <a:spLocks xmlns:a="http://schemas.openxmlformats.org/drawingml/2006/main" noGrp="1"/>
          </p:cNvSpPr>
          <p:nvPr/>
        </p:nvSpPr>
        <p:spPr>
          <a:xfrm xmlns:a="http://schemas.openxmlformats.org/drawingml/2006/main">
            <a:off x="822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2E5B47"/>
                </a:solidFill>
                <a:latin typeface="Calibri"/>
                <a:ea typeface="Calibri"/>
                <a:cs typeface="Calibri"/>
              </a:rPr>
              <a:t>motion, heart features, coverage, freshness, timing, arousals, battery, and connections</a:t>
            </a:r>
          </a:p>
        </p:txBody>
      </p:sp>
      <p:sp>
        <p:nvSpPr>
          <p:cNvPr id="7" name="Shape 5">
            <a:extLst xmlns:a="http://schemas.openxmlformats.org/drawingml/2006/main">
              <a:ext uri="{FF2B5EF4-FFF2-40B4-BE49-F238E27FC236}">
                <a16:creationId xmlns:a16="http://schemas.microsoft.com/office/drawing/2014/main" id="{3C18BA64-3E62-45A6-B89A-A19CBB62EFEC}"/>
              </a:ext>
            </a:extLst>
          </p:cNvPr>
          <p:cNvSpPr>
            <a:spLocks xmlns:a="http://schemas.openxmlformats.org/drawingml/2006/main" noGrp="1"/>
          </p:cNvSpPr>
          <p:nvPr/>
        </p:nvSpPr>
        <p:spPr>
          <a:xfrm xmlns:a="http://schemas.openxmlformats.org/drawingml/2006/main">
            <a:off x="6263640" y="1965960"/>
            <a:ext cx="5394960" cy="1828800"/>
          </a:xfrm>
          <a:prstGeom xmlns:a="http://schemas.openxmlformats.org/drawingml/2006/main" prst="roundRect">
            <a:avLst>
              <a:gd name="adj" fmla="val 4500"/>
            </a:avLst>
          </a:prstGeom>
          <a:solidFill xmlns:a="http://schemas.openxmlformats.org/drawingml/2006/main">
            <a:srgbClr val="FBF0E1"/>
          </a:solidFill>
          <a:ln xmlns:a="http://schemas.openxmlformats.org/drawingml/2006/main" w="12700">
            <a:solidFill>
              <a:srgbClr val="EAD8BE"/>
            </a:solidFill>
            <a:prstDash val="solid"/>
          </a:ln>
        </p:spPr>
      </p:sp>
      <p:sp>
        <p:nvSpPr>
          <p:cNvPr id="8" name="Text 6">
            <a:extLst xmlns:a="http://schemas.openxmlformats.org/drawingml/2006/main">
              <a:ext uri="{FF2B5EF4-FFF2-40B4-BE49-F238E27FC236}">
                <a16:creationId xmlns:a16="http://schemas.microsoft.com/office/drawing/2014/main" id="{80E74EAB-0C5D-41EA-8702-DFA9587A8DDA}"/>
              </a:ext>
            </a:extLst>
          </p:cNvPr>
          <p:cNvSpPr>
            <a:spLocks xmlns:a="http://schemas.openxmlformats.org/drawingml/2006/main" noGrp="1"/>
          </p:cNvSpPr>
          <p:nvPr/>
        </p:nvSpPr>
        <p:spPr>
          <a:xfrm xmlns:a="http://schemas.openxmlformats.org/drawingml/2006/main">
            <a:off x="6263640" y="2148840"/>
            <a:ext cx="53949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b="1">
                <a:solidFill>
                  <a:srgbClr val="B5722A"/>
                </a:solidFill>
                <a:latin typeface="Cambria"/>
                <a:ea typeface="Cambria"/>
                <a:cs typeface="Cambria"/>
              </a:rPr>
              <a:t>CAN CUE</a:t>
            </a:r>
          </a:p>
        </p:txBody>
      </p:sp>
      <p:sp>
        <p:nvSpPr>
          <p:cNvPr id="9" name="Text 7">
            <a:extLst xmlns:a="http://schemas.openxmlformats.org/drawingml/2006/main">
              <a:ext uri="{FF2B5EF4-FFF2-40B4-BE49-F238E27FC236}">
                <a16:creationId xmlns:a16="http://schemas.microsoft.com/office/drawing/2014/main" id="{B78A9466-1517-43A0-B2B2-178528FAD782}"/>
              </a:ext>
            </a:extLst>
          </p:cNvPr>
          <p:cNvSpPr>
            <a:spLocks xmlns:a="http://schemas.openxmlformats.org/drawingml/2006/main" noGrp="1"/>
          </p:cNvSpPr>
          <p:nvPr/>
        </p:nvSpPr>
        <p:spPr>
          <a:xfrm xmlns:a="http://schemas.openxmlformats.org/drawingml/2006/main">
            <a:off x="6537960" y="3017520"/>
            <a:ext cx="4846320" cy="6400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ctr">
              <a:buNone/>
            </a:pPr>
            <a:r>
              <a:rPr sz="1350">
                <a:solidFill>
                  <a:srgbClr val="6E5327"/>
                </a:solidFill>
                <a:latin typeface="Calibri"/>
                <a:ea typeface="Calibri"/>
                <a:cs typeface="Calibri"/>
              </a:rPr>
              <a:t>only after conservative NREM-eligible or heart-supported REM-like gates pass</a:t>
            </a:r>
          </a:p>
        </p:txBody>
      </p:sp>
      <p:sp>
        <p:nvSpPr>
          <p:cNvPr id="10" name="Shape 8">
            <a:extLst xmlns:a="http://schemas.openxmlformats.org/drawingml/2006/main">
              <a:ext uri="{FF2B5EF4-FFF2-40B4-BE49-F238E27FC236}">
                <a16:creationId xmlns:a16="http://schemas.microsoft.com/office/drawing/2014/main" id="{A51B288B-8A50-443B-9B87-B3798CEB9022}"/>
              </a:ext>
            </a:extLst>
          </p:cNvPr>
          <p:cNvSpPr>
            <a:spLocks xmlns:a="http://schemas.openxmlformats.org/drawingml/2006/main" noGrp="1"/>
          </p:cNvSpPr>
          <p:nvPr/>
        </p:nvSpPr>
        <p:spPr>
          <a:xfrm xmlns:a="http://schemas.openxmlformats.org/drawingml/2006/main">
            <a:off x="548640" y="4114800"/>
            <a:ext cx="11109960" cy="1600200"/>
          </a:xfrm>
          <a:prstGeom xmlns:a="http://schemas.openxmlformats.org/drawingml/2006/main" prst="roundRect">
            <a:avLst>
              <a:gd name="adj" fmla="val 5143"/>
            </a:avLst>
          </a:prstGeom>
          <a:solidFill xmlns:a="http://schemas.openxmlformats.org/drawingml/2006/main">
            <a:srgbClr val="1E2247"/>
          </a:solidFill>
          <a:ln xmlns:a="http://schemas.openxmlformats.org/drawingml/2006/main" w="12700">
            <a:solidFill>
              <a:srgbClr val="1E2247"/>
            </a:solidFill>
            <a:prstDash val="solid"/>
          </a:ln>
        </p:spPr>
      </p:sp>
      <p:sp>
        <p:nvSpPr>
          <p:cNvPr id="11" name="Text 9">
            <a:extLst xmlns:a="http://schemas.openxmlformats.org/drawingml/2006/main">
              <a:ext uri="{FF2B5EF4-FFF2-40B4-BE49-F238E27FC236}">
                <a16:creationId xmlns:a16="http://schemas.microsoft.com/office/drawing/2014/main" id="{8B47E4C0-146C-4E05-B023-B6308B73D048}"/>
              </a:ext>
            </a:extLst>
          </p:cNvPr>
          <p:cNvSpPr>
            <a:spLocks xmlns:a="http://schemas.openxmlformats.org/drawingml/2006/main" noGrp="1"/>
          </p:cNvSpPr>
          <p:nvPr/>
        </p:nvSpPr>
        <p:spPr>
          <a:xfrm xmlns:a="http://schemas.openxmlformats.org/drawingml/2006/main">
            <a:off x="914400" y="429768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F5F0E1"/>
                </a:solidFill>
                <a:latin typeface="Calibri"/>
                <a:ea typeface="Calibri"/>
                <a:cs typeface="Calibri"/>
              </a:rPr>
              <a:t>Claim boundary</a:t>
            </a:r>
          </a:p>
        </p:txBody>
      </p:sp>
      <p:sp>
        <p:nvSpPr>
          <p:cNvPr id="12" name="Text 10">
            <a:extLst xmlns:a="http://schemas.openxmlformats.org/drawingml/2006/main">
              <a:ext uri="{FF2B5EF4-FFF2-40B4-BE49-F238E27FC236}">
                <a16:creationId xmlns:a16="http://schemas.microsoft.com/office/drawing/2014/main" id="{BAD023A3-8CE3-4E65-AEC5-14E7A05995A3}"/>
              </a:ext>
            </a:extLst>
          </p:cNvPr>
          <p:cNvSpPr>
            <a:spLocks xmlns:a="http://schemas.openxmlformats.org/drawingml/2006/main" noGrp="1"/>
          </p:cNvSpPr>
          <p:nvPr/>
        </p:nvSpPr>
        <p:spPr>
          <a:xfrm xmlns:a="http://schemas.openxmlformats.org/drawingml/2006/main">
            <a:off x="914400" y="4709160"/>
            <a:ext cx="10424160" cy="914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50">
                <a:solidFill>
                  <a:srgbClr val="CADCFC"/>
                </a:solidFill>
                <a:latin typeface="Calibri"/>
                <a:ea typeface="Calibri"/>
                <a:cs typeface="Calibri"/>
              </a:rPr>
              <a:t>Probable stage remains research data. The product language is experimental, stage-gated, and non-medical. A cue opportunity is not proof that the user was in a clinical stage.</a:t>
            </a:r>
          </a:p>
        </p:txBody>
      </p:sp>
      <p:sp>
        <p:nvSpPr>
          <p:cNvPr id="13" name="Text 11">
            <a:extLst xmlns:a="http://schemas.openxmlformats.org/drawingml/2006/main">
              <a:ext uri="{FF2B5EF4-FFF2-40B4-BE49-F238E27FC236}">
                <a16:creationId xmlns:a16="http://schemas.microsoft.com/office/drawing/2014/main" id="{1FF3622B-A96C-40D7-92FD-492E8BE7AB7E}"/>
              </a:ext>
            </a:extLst>
          </p:cNvPr>
          <p:cNvSpPr>
            <a:spLocks xmlns:a="http://schemas.openxmlformats.org/drawingml/2006/main" noGrp="1"/>
          </p:cNvSpPr>
          <p:nvPr/>
        </p:nvSpPr>
        <p:spPr>
          <a:xfrm xmlns:a="http://schemas.openxmlformats.org/drawingml/2006/main">
            <a:off x="548640" y="5806440"/>
            <a:ext cx="109728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8A90A6"/>
                </a:solidFill>
                <a:latin typeface="Calibri"/>
                <a:ea typeface="Calibri"/>
                <a:cs typeface="Calibri"/>
              </a:rPr>
              <a:t>Sensor inference boundary · no EEG · no diagnosis</a:t>
            </a:r>
          </a:p>
        </p:txBody>
      </p:sp>
      <p:sp>
        <p:nvSpPr>
          <p:cNvPr id="14" name="Shape 12">
            <a:extLst xmlns:a="http://schemas.openxmlformats.org/drawingml/2006/main">
              <a:ext uri="{FF2B5EF4-FFF2-40B4-BE49-F238E27FC236}">
                <a16:creationId xmlns:a16="http://schemas.microsoft.com/office/drawing/2014/main" id="{D4B1E124-D76B-4F83-8F3F-251F6784A390}"/>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5" name="Shape 13">
            <a:extLst xmlns:a="http://schemas.openxmlformats.org/drawingml/2006/main">
              <a:ext uri="{FF2B5EF4-FFF2-40B4-BE49-F238E27FC236}">
                <a16:creationId xmlns:a16="http://schemas.microsoft.com/office/drawing/2014/main" id="{F66BBF3B-36D8-4F6E-B179-4575F7A05BF2}"/>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6" name="Text 14">
            <a:extLst xmlns:a="http://schemas.openxmlformats.org/drawingml/2006/main">
              <a:ext uri="{FF2B5EF4-FFF2-40B4-BE49-F238E27FC236}">
                <a16:creationId xmlns:a16="http://schemas.microsoft.com/office/drawing/2014/main" id="{4AE7CEC5-97D9-4E44-B263-8D3EFD1DDC75}"/>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17" name="Text 15">
            <a:extLst xmlns:a="http://schemas.openxmlformats.org/drawingml/2006/main">
              <a:ext uri="{FF2B5EF4-FFF2-40B4-BE49-F238E27FC236}">
                <a16:creationId xmlns:a16="http://schemas.microsoft.com/office/drawing/2014/main" id="{232F17E7-ED74-4DF3-958E-4424BA40FE59}"/>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8</a:t>
            </a:r>
          </a:p>
        </p:txBody>
      </p:sp>
    </p:spTree>
    <p:extLst>
      <p:ext uri="{BB962C8B-B14F-4D97-AF65-F5344CB8AC3E}">
        <p14:creationId xmlns:p14="http://schemas.microsoft.com/office/powerpoint/2010/main" val="6252705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50A1FB-9A58-4F22-91DE-CED65152C4EF}"/>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Implemented now — deliberately deferred later</a:t>
            </a:r>
          </a:p>
        </p:txBody>
      </p:sp>
      <p:sp>
        <p:nvSpPr>
          <p:cNvPr id="3" name="Shape 1">
            <a:extLst xmlns:a="http://schemas.openxmlformats.org/drawingml/2006/main">
              <a:ext uri="{FF2B5EF4-FFF2-40B4-BE49-F238E27FC236}">
                <a16:creationId xmlns:a16="http://schemas.microsoft.com/office/drawing/2014/main" id="{D41814A2-C7E9-4A48-9D6D-C956D46A274D}"/>
              </a:ext>
            </a:extLst>
          </p:cNvPr>
          <p:cNvSpPr>
            <a:spLocks xmlns:a="http://schemas.openxmlformats.org/drawingml/2006/main" noGrp="1"/>
          </p:cNvSpPr>
          <p:nvPr/>
        </p:nvSpPr>
        <p:spPr>
          <a:xfrm xmlns:a="http://schemas.openxmlformats.org/drawingml/2006/main">
            <a:off x="548640" y="1371600"/>
            <a:ext cx="5394960" cy="4480560"/>
          </a:xfrm>
          <a:prstGeom xmlns:a="http://schemas.openxmlformats.org/drawingml/2006/main" prst="roundRect">
            <a:avLst>
              <a:gd name="adj" fmla="val 1837"/>
            </a:avLst>
          </a:prstGeom>
          <a:solidFill xmlns:a="http://schemas.openxmlformats.org/drawingml/2006/main">
            <a:srgbClr val="E9F4EE"/>
          </a:solidFill>
          <a:ln xmlns:a="http://schemas.openxmlformats.org/drawingml/2006/main" w="12700">
            <a:solidFill>
              <a:srgbClr val="CDE6D9"/>
            </a:solidFill>
            <a:prstDash val="solid"/>
          </a:ln>
        </p:spPr>
      </p:sp>
      <p:sp>
        <p:nvSpPr>
          <p:cNvPr id="4" name="Text 2">
            <a:extLst xmlns:a="http://schemas.openxmlformats.org/drawingml/2006/main">
              <a:ext uri="{FF2B5EF4-FFF2-40B4-BE49-F238E27FC236}">
                <a16:creationId xmlns:a16="http://schemas.microsoft.com/office/drawing/2014/main" id="{A0072646-DB1E-4473-8018-4589F060745D}"/>
              </a:ext>
            </a:extLst>
          </p:cNvPr>
          <p:cNvSpPr>
            <a:spLocks xmlns:a="http://schemas.openxmlformats.org/drawingml/2006/main" noGrp="1"/>
          </p:cNvSpPr>
          <p:nvPr/>
        </p:nvSpPr>
        <p:spPr>
          <a:xfrm xmlns:a="http://schemas.openxmlformats.org/drawingml/2006/main">
            <a:off x="868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2E7D5B"/>
                </a:solidFill>
                <a:latin typeface="Calibri"/>
                <a:ea typeface="Calibri"/>
                <a:cs typeface="Calibri"/>
              </a:rPr>
              <a:t>Capstone build</a:t>
            </a:r>
          </a:p>
        </p:txBody>
      </p:sp>
      <p:sp>
        <p:nvSpPr>
          <p:cNvPr id="5" name="Text 3">
            <a:extLst xmlns:a="http://schemas.openxmlformats.org/drawingml/2006/main">
              <a:ext uri="{FF2B5EF4-FFF2-40B4-BE49-F238E27FC236}">
                <a16:creationId xmlns:a16="http://schemas.microsoft.com/office/drawing/2014/main" id="{F3C4308C-7199-40D0-BDE7-E8649505D89E}"/>
              </a:ext>
            </a:extLst>
          </p:cNvPr>
          <p:cNvSpPr>
            <a:spLocks xmlns:a="http://schemas.openxmlformats.org/drawingml/2006/main" noGrp="1"/>
          </p:cNvSpPr>
          <p:nvPr/>
        </p:nvSpPr>
        <p:spPr>
          <a:xfrm xmlns:a="http://schemas.openxmlformats.org/drawingml/2006/main">
            <a:off x="868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Shared protocol + deterministic engines</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Room on phone and watch</a:t>
            </a:r>
          </a:p>
          <a:p xmlns:a="http://schemas.openxmlformats.org/drawingml/2006/main">
            <a:pPr marL="342900" indent="-342900">
              <a:spcAft>
                <a:spcPts val="1000"/>
              </a:spcAft>
              <a:buSzPct val="100000"/>
              <a:buChar char="•"/>
            </a:pPr>
            <a:r>
              <a:rPr sz="1350">
                <a:solidFill>
                  <a:srgbClr val="2E5B47"/>
                </a:solidFill>
                <a:latin typeface="Calibri"/>
                <a:ea typeface="Calibri"/>
                <a:cs typeface="Calibri"/>
              </a:rPr>
              <a:t>Audio and signal readiness gates</a:t>
            </a:r>
          </a:p>
          <a:p xmlns:a="http://schemas.openxmlformats.org/drawingml/2006/main">
            <a:pPr marL="342900" indent="-342900">
              <a:buSzPct val="100000"/>
              <a:buChar char="•"/>
            </a:pPr>
            <a:r>
              <a:rPr sz="1350">
                <a:solidFill>
                  <a:srgbClr val="2E5B47"/>
                </a:solidFill>
                <a:latin typeface="Calibri"/>
                <a:ea typeface="Calibri"/>
                <a:cs typeface="Calibri"/>
              </a:rPr>
              <a:t>ACTIVE/SHAM + morning survey</a:t>
            </a:r>
          </a:p>
          <a:p xmlns:a="http://schemas.openxmlformats.org/drawingml/2006/main">
            <a:pPr marL="342900" indent="-342900">
              <a:buSzPct val="100000"/>
              <a:buChar char="•"/>
            </a:pPr>
            <a:r>
              <a:rPr sz="1350">
                <a:solidFill>
                  <a:srgbClr val="2E5B47"/>
                </a:solidFill>
                <a:latin typeface="Calibri"/>
                <a:ea typeface="Calibri"/>
                <a:cs typeface="Calibri"/>
              </a:rPr>
              <a:t>History, versioned export, deletion, replay</a:t>
            </a:r>
          </a:p>
          <a:p xmlns:a="http://schemas.openxmlformats.org/drawingml/2006/main">
            <a:pPr marL="342900" indent="-342900">
              <a:buSzPct val="100000"/>
              <a:buChar char="•"/>
            </a:pPr>
            <a:r>
              <a:rPr sz="1350">
                <a:solidFill>
                  <a:srgbClr val="2E5B47"/>
                </a:solidFill>
                <a:latin typeface="Calibri"/>
                <a:ea typeface="Calibri"/>
                <a:cs typeface="Calibri"/>
              </a:rPr>
              <a:t>Phone and watch debug APKs</a:t>
            </a:r>
          </a:p>
        </p:txBody>
      </p:sp>
      <p:sp>
        <p:nvSpPr>
          <p:cNvPr id="6" name="Shape 4">
            <a:extLst xmlns:a="http://schemas.openxmlformats.org/drawingml/2006/main">
              <a:ext uri="{FF2B5EF4-FFF2-40B4-BE49-F238E27FC236}">
                <a16:creationId xmlns:a16="http://schemas.microsoft.com/office/drawing/2014/main" id="{CD7E1D90-7B6B-421C-BCAC-902BEB4B3795}"/>
              </a:ext>
            </a:extLst>
          </p:cNvPr>
          <p:cNvSpPr>
            <a:spLocks xmlns:a="http://schemas.openxmlformats.org/drawingml/2006/main" noGrp="1"/>
          </p:cNvSpPr>
          <p:nvPr/>
        </p:nvSpPr>
        <p:spPr>
          <a:xfrm xmlns:a="http://schemas.openxmlformats.org/drawingml/2006/main">
            <a:off x="6263640" y="1371600"/>
            <a:ext cx="5394960" cy="4480560"/>
          </a:xfrm>
          <a:prstGeom xmlns:a="http://schemas.openxmlformats.org/drawingml/2006/main" prst="roundRect">
            <a:avLst>
              <a:gd name="adj" fmla="val 1837"/>
            </a:avLst>
          </a:prstGeom>
          <a:solidFill xmlns:a="http://schemas.openxmlformats.org/drawingml/2006/main">
            <a:srgbClr val="F2F4FD"/>
          </a:solidFill>
          <a:ln xmlns:a="http://schemas.openxmlformats.org/drawingml/2006/main" w="12700">
            <a:solidFill>
              <a:srgbClr val="DDE2F7"/>
            </a:solidFill>
            <a:prstDash val="solid"/>
          </a:ln>
        </p:spPr>
      </p:sp>
      <p:sp>
        <p:nvSpPr>
          <p:cNvPr id="7" name="Text 5">
            <a:extLst xmlns:a="http://schemas.openxmlformats.org/drawingml/2006/main">
              <a:ext uri="{FF2B5EF4-FFF2-40B4-BE49-F238E27FC236}">
                <a16:creationId xmlns:a16="http://schemas.microsoft.com/office/drawing/2014/main" id="{A90FCB49-992D-4C95-A327-6AA42521E8F0}"/>
              </a:ext>
            </a:extLst>
          </p:cNvPr>
          <p:cNvSpPr>
            <a:spLocks xmlns:a="http://schemas.openxmlformats.org/drawingml/2006/main" noGrp="1"/>
          </p:cNvSpPr>
          <p:nvPr/>
        </p:nvSpPr>
        <p:spPr>
          <a:xfrm xmlns:a="http://schemas.openxmlformats.org/drawingml/2006/main">
            <a:off x="6583680" y="1554480"/>
            <a:ext cx="475488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700" b="1">
                <a:solidFill>
                  <a:srgbClr val="5B6178"/>
                </a:solidFill>
                <a:latin typeface="Calibri"/>
                <a:ea typeface="Calibri"/>
                <a:cs typeface="Calibri"/>
              </a:rPr>
              <a:t>Roadmap only</a:t>
            </a:r>
          </a:p>
        </p:txBody>
      </p:sp>
      <p:sp>
        <p:nvSpPr>
          <p:cNvPr id="8" name="Text 6">
            <a:extLst xmlns:a="http://schemas.openxmlformats.org/drawingml/2006/main">
              <a:ext uri="{FF2B5EF4-FFF2-40B4-BE49-F238E27FC236}">
                <a16:creationId xmlns:a16="http://schemas.microsoft.com/office/drawing/2014/main" id="{E30BC4C7-14FD-4F33-B999-13ED7B64B67C}"/>
              </a:ext>
            </a:extLst>
          </p:cNvPr>
          <p:cNvSpPr>
            <a:spLocks xmlns:a="http://schemas.openxmlformats.org/drawingml/2006/main" noGrp="1"/>
          </p:cNvSpPr>
          <p:nvPr/>
        </p:nvSpPr>
        <p:spPr>
          <a:xfrm xmlns:a="http://schemas.openxmlformats.org/drawingml/2006/main">
            <a:off x="6583680" y="2148840"/>
            <a:ext cx="4800600" cy="3566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Samsung IBI flavor</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Learned sleep models</a:t>
            </a:r>
          </a:p>
          <a:p xmlns:a="http://schemas.openxmlformats.org/drawingml/2006/main">
            <a:pPr marL="342900" indent="-342900">
              <a:spcAft>
                <a:spcPts val="1000"/>
              </a:spcAft>
              <a:buSzPct val="100000"/>
              <a:buChar char="•"/>
            </a:pPr>
            <a:r>
              <a:rPr sz="1350">
                <a:solidFill>
                  <a:srgbClr val="5B6178"/>
                </a:solidFill>
                <a:latin typeface="Calibri"/>
                <a:ea typeface="Calibri"/>
                <a:cs typeface="Calibri"/>
              </a:rPr>
              <a:t>Play distribution + production signing</a:t>
            </a:r>
          </a:p>
          <a:p xmlns:a="http://schemas.openxmlformats.org/drawingml/2006/main">
            <a:pPr marL="342900" indent="-342900">
              <a:buSzPct val="100000"/>
              <a:buChar char="•"/>
            </a:pPr>
            <a:r>
              <a:rPr sz="1350">
                <a:solidFill>
                  <a:srgbClr val="5B6178"/>
                </a:solidFill>
                <a:latin typeface="Calibri"/>
                <a:ea typeface="Calibri"/>
                <a:cs typeface="Calibri"/>
              </a:rPr>
              <a:t>Health Connect + cloud upload</a:t>
            </a:r>
          </a:p>
          <a:p xmlns:a="http://schemas.openxmlformats.org/drawingml/2006/main">
            <a:pPr marL="342900" indent="-342900">
              <a:buSzPct val="100000"/>
              <a:buChar char="•"/>
            </a:pPr>
            <a:r>
              <a:rPr sz="1350">
                <a:solidFill>
                  <a:srgbClr val="5B6178"/>
                </a:solidFill>
                <a:latin typeface="Calibri"/>
                <a:ea typeface="Calibri"/>
                <a:cs typeface="Calibri"/>
              </a:rPr>
              <a:t>Public-release compliance</a:t>
            </a:r>
          </a:p>
          <a:p xmlns:a="http://schemas.openxmlformats.org/drawingml/2006/main">
            <a:pPr marL="342900" indent="-342900">
              <a:buSzPct val="100000"/>
              <a:buChar char="•"/>
            </a:pPr>
            <a:r>
              <a:rPr sz="1350">
                <a:solidFill>
                  <a:srgbClr val="5B6178"/>
                </a:solidFill>
                <a:latin typeface="Calibri"/>
                <a:ea typeface="Calibri"/>
                <a:cs typeface="Calibri"/>
              </a:rPr>
              <a:t>EEG phase locking and medical claims</a:t>
            </a:r>
          </a:p>
        </p:txBody>
      </p:sp>
      <p:sp>
        <p:nvSpPr>
          <p:cNvPr id="9" name="Shape 7">
            <a:extLst xmlns:a="http://schemas.openxmlformats.org/drawingml/2006/main">
              <a:ext uri="{FF2B5EF4-FFF2-40B4-BE49-F238E27FC236}">
                <a16:creationId xmlns:a16="http://schemas.microsoft.com/office/drawing/2014/main" id="{E22CD96C-9AA0-4EE6-A519-5D006DEF4709}"/>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EF9119D4-FD1E-4749-827E-F75F68C5E442}"/>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11" name="Text 9">
            <a:extLst xmlns:a="http://schemas.openxmlformats.org/drawingml/2006/main">
              <a:ext uri="{FF2B5EF4-FFF2-40B4-BE49-F238E27FC236}">
                <a16:creationId xmlns:a16="http://schemas.microsoft.com/office/drawing/2014/main" id="{D3C6412C-5A20-4879-B7D9-479A66907BF0}"/>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12" name="Text 10">
            <a:extLst xmlns:a="http://schemas.openxmlformats.org/drawingml/2006/main">
              <a:ext uri="{FF2B5EF4-FFF2-40B4-BE49-F238E27FC236}">
                <a16:creationId xmlns:a16="http://schemas.microsoft.com/office/drawing/2014/main" id="{C123808D-D0A1-4990-858E-32C89EC320C2}"/>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9</a:t>
            </a:r>
          </a:p>
        </p:txBody>
      </p:sp>
    </p:spTree>
    <p:extLst>
      <p:ext uri="{BB962C8B-B14F-4D97-AF65-F5344CB8AC3E}">
        <p14:creationId xmlns:p14="http://schemas.microsoft.com/office/powerpoint/2010/main" val="2564690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C95DE0-2BFF-48D1-BEA7-9E7023659FED}"/>
              </a:ext>
            </a:extLst>
          </p:cNvPr>
          <p:cNvSpPr>
            <a:spLocks xmlns:a="http://schemas.openxmlformats.org/drawingml/2006/main" noGrp="1"/>
          </p:cNvSpPr>
          <p:nvPr/>
        </p:nvSpPr>
        <p:spPr>
          <a:xfrm xmlns:a="http://schemas.openxmlformats.org/drawingml/2006/main">
            <a:off x="548640" y="384048"/>
            <a:ext cx="11064240" cy="868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3000" b="1">
                <a:solidFill>
                  <a:srgbClr val="1E2247"/>
                </a:solidFill>
                <a:latin typeface="Cambria"/>
                <a:ea typeface="Cambria"/>
                <a:cs typeface="Cambria"/>
              </a:rPr>
              <a:t>Failures shut cues off and leave evidence</a:t>
            </a:r>
          </a:p>
        </p:txBody>
      </p:sp>
      <p:sp>
        <p:nvSpPr>
          <p:cNvPr id="3" name="Shape 1">
            <a:extLst xmlns:a="http://schemas.openxmlformats.org/drawingml/2006/main">
              <a:ext uri="{FF2B5EF4-FFF2-40B4-BE49-F238E27FC236}">
                <a16:creationId xmlns:a16="http://schemas.microsoft.com/office/drawing/2014/main" id="{E5BFDAC0-F40C-44FC-8E52-80EA7765B6BA}"/>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ellipse">
            <a:avLst/>
          </a:prstGeom>
          <a:solidFill xmlns:a="http://schemas.openxmlformats.org/drawingml/2006/main">
            <a:srgbClr val="5B6CE8"/>
          </a:solidFill>
        </p:spPr>
      </p:sp>
      <p:sp>
        <p:nvSpPr>
          <p:cNvPr id="4" name="Text 2">
            <a:extLst xmlns:a="http://schemas.openxmlformats.org/drawingml/2006/main">
              <a:ext uri="{FF2B5EF4-FFF2-40B4-BE49-F238E27FC236}">
                <a16:creationId xmlns:a16="http://schemas.microsoft.com/office/drawing/2014/main" id="{DEF49C54-8ED7-44CA-84B2-2713F64DDE71}"/>
              </a:ext>
            </a:extLst>
          </p:cNvPr>
          <p:cNvSpPr>
            <a:spLocks xmlns:a="http://schemas.openxmlformats.org/drawingml/2006/main" noGrp="1"/>
          </p:cNvSpPr>
          <p:nvPr/>
        </p:nvSpPr>
        <p:spPr>
          <a:xfrm xmlns:a="http://schemas.openxmlformats.org/drawingml/2006/main">
            <a:off x="548640" y="146304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1</a:t>
            </a:r>
          </a:p>
        </p:txBody>
      </p:sp>
      <p:sp>
        <p:nvSpPr>
          <p:cNvPr id="5" name="Text 3">
            <a:extLst xmlns:a="http://schemas.openxmlformats.org/drawingml/2006/main">
              <a:ext uri="{FF2B5EF4-FFF2-40B4-BE49-F238E27FC236}">
                <a16:creationId xmlns:a16="http://schemas.microsoft.com/office/drawing/2014/main" id="{3771BDCE-1D3A-45FD-80EA-72BBA798C572}"/>
              </a:ext>
            </a:extLst>
          </p:cNvPr>
          <p:cNvSpPr>
            <a:spLocks xmlns:a="http://schemas.openxmlformats.org/drawingml/2006/main" noGrp="1"/>
          </p:cNvSpPr>
          <p:nvPr/>
        </p:nvSpPr>
        <p:spPr>
          <a:xfrm xmlns:a="http://schemas.openxmlformats.org/drawingml/2006/main">
            <a:off x="1115568" y="140817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Phone, sensor, storage, or battery loss</a:t>
            </a:r>
          </a:p>
        </p:txBody>
      </p:sp>
      <p:sp>
        <p:nvSpPr>
          <p:cNvPr id="6" name="Text 4">
            <a:extLst xmlns:a="http://schemas.openxmlformats.org/drawingml/2006/main">
              <a:ext uri="{FF2B5EF4-FFF2-40B4-BE49-F238E27FC236}">
                <a16:creationId xmlns:a16="http://schemas.microsoft.com/office/drawing/2014/main" id="{2DD62035-06ED-4B74-9A6C-AEC15987E9C1}"/>
              </a:ext>
            </a:extLst>
          </p:cNvPr>
          <p:cNvSpPr>
            <a:spLocks xmlns:a="http://schemas.openxmlformats.org/drawingml/2006/main" noGrp="1"/>
          </p:cNvSpPr>
          <p:nvPr/>
        </p:nvSpPr>
        <p:spPr>
          <a:xfrm xmlns:a="http://schemas.openxmlformats.org/drawingml/2006/main">
            <a:off x="1115568" y="177393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Heartbeats and watchdogs switch to logging-only or stop with a terminal reason. They never silently keep cueing.</a:t>
            </a:r>
          </a:p>
        </p:txBody>
      </p:sp>
      <p:sp>
        <p:nvSpPr>
          <p:cNvPr id="7" name="Shape 5">
            <a:extLst xmlns:a="http://schemas.openxmlformats.org/drawingml/2006/main">
              <a:ext uri="{FF2B5EF4-FFF2-40B4-BE49-F238E27FC236}">
                <a16:creationId xmlns:a16="http://schemas.microsoft.com/office/drawing/2014/main" id="{515FB58D-633F-4F9D-8B8A-3AD173774D92}"/>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ellipse">
            <a:avLst/>
          </a:prstGeom>
          <a:solidFill xmlns:a="http://schemas.openxmlformats.org/drawingml/2006/main">
            <a:srgbClr val="5B6CE8"/>
          </a:solidFill>
        </p:spPr>
      </p:sp>
      <p:sp>
        <p:nvSpPr>
          <p:cNvPr id="8" name="Text 6">
            <a:extLst xmlns:a="http://schemas.openxmlformats.org/drawingml/2006/main">
              <a:ext uri="{FF2B5EF4-FFF2-40B4-BE49-F238E27FC236}">
                <a16:creationId xmlns:a16="http://schemas.microsoft.com/office/drawing/2014/main" id="{1AF82F42-D4D0-4A7B-A847-DC9BD867892D}"/>
              </a:ext>
            </a:extLst>
          </p:cNvPr>
          <p:cNvSpPr>
            <a:spLocks xmlns:a="http://schemas.openxmlformats.org/drawingml/2006/main" noGrp="1"/>
          </p:cNvSpPr>
          <p:nvPr/>
        </p:nvSpPr>
        <p:spPr>
          <a:xfrm xmlns:a="http://schemas.openxmlformats.org/drawingml/2006/main">
            <a:off x="548640" y="288036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2</a:t>
            </a:r>
          </a:p>
        </p:txBody>
      </p:sp>
      <p:sp>
        <p:nvSpPr>
          <p:cNvPr id="9" name="Text 7">
            <a:extLst xmlns:a="http://schemas.openxmlformats.org/drawingml/2006/main">
              <a:ext uri="{FF2B5EF4-FFF2-40B4-BE49-F238E27FC236}">
                <a16:creationId xmlns:a16="http://schemas.microsoft.com/office/drawing/2014/main" id="{BAAFA0E9-DC8C-4E62-8298-1C119C7EB4A2}"/>
              </a:ext>
            </a:extLst>
          </p:cNvPr>
          <p:cNvSpPr>
            <a:spLocks xmlns:a="http://schemas.openxmlformats.org/drawingml/2006/main" noGrp="1"/>
          </p:cNvSpPr>
          <p:nvPr/>
        </p:nvSpPr>
        <p:spPr>
          <a:xfrm xmlns:a="http://schemas.openxmlformats.org/drawingml/2006/main">
            <a:off x="1115568" y="282549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Audio route or playback failure</a:t>
            </a:r>
          </a:p>
        </p:txBody>
      </p:sp>
      <p:sp>
        <p:nvSpPr>
          <p:cNvPr id="10" name="Text 8">
            <a:extLst xmlns:a="http://schemas.openxmlformats.org/drawingml/2006/main">
              <a:ext uri="{FF2B5EF4-FFF2-40B4-BE49-F238E27FC236}">
                <a16:creationId xmlns:a16="http://schemas.microsoft.com/office/drawing/2014/main" id="{4E8CC5FB-E0AB-4F90-BD9B-9D1F96FECDE2}"/>
              </a:ext>
            </a:extLst>
          </p:cNvPr>
          <p:cNvSpPr>
            <a:spLocks xmlns:a="http://schemas.openxmlformats.org/drawingml/2006/main" noGrp="1"/>
          </p:cNvSpPr>
          <p:nvPr/>
        </p:nvSpPr>
        <p:spPr>
          <a:xfrm xmlns:a="http://schemas.openxmlformats.org/drawingml/2006/main">
            <a:off x="1115568" y="319125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Mute, headphones, Bluetooth, calls, focus denial, failed calibration, and incomplete playback block or fail the cue.</a:t>
            </a:r>
          </a:p>
        </p:txBody>
      </p:sp>
      <p:sp>
        <p:nvSpPr>
          <p:cNvPr id="11" name="Shape 9">
            <a:extLst xmlns:a="http://schemas.openxmlformats.org/drawingml/2006/main">
              <a:ext uri="{FF2B5EF4-FFF2-40B4-BE49-F238E27FC236}">
                <a16:creationId xmlns:a16="http://schemas.microsoft.com/office/drawing/2014/main" id="{0675FB13-3786-4984-AFF1-95213462D1AE}"/>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ellipse">
            <a:avLst/>
          </a:prstGeom>
          <a:solidFill xmlns:a="http://schemas.openxmlformats.org/drawingml/2006/main">
            <a:srgbClr val="5B6CE8"/>
          </a:solidFill>
        </p:spPr>
      </p:sp>
      <p:sp>
        <p:nvSpPr>
          <p:cNvPr id="12" name="Text 10">
            <a:extLst xmlns:a="http://schemas.openxmlformats.org/drawingml/2006/main">
              <a:ext uri="{FF2B5EF4-FFF2-40B4-BE49-F238E27FC236}">
                <a16:creationId xmlns:a16="http://schemas.microsoft.com/office/drawing/2014/main" id="{6AF890CA-A0DC-429E-8C62-262B4D7BBF2A}"/>
              </a:ext>
            </a:extLst>
          </p:cNvPr>
          <p:cNvSpPr>
            <a:spLocks xmlns:a="http://schemas.openxmlformats.org/drawingml/2006/main" noGrp="1"/>
          </p:cNvSpPr>
          <p:nvPr/>
        </p:nvSpPr>
        <p:spPr>
          <a:xfrm xmlns:a="http://schemas.openxmlformats.org/drawingml/2006/main">
            <a:off x="548640" y="4297680"/>
            <a:ext cx="402336" cy="40233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Calibri"/>
                <a:ea typeface="Calibri"/>
                <a:cs typeface="Calibri"/>
              </a:rPr>
              <a:t>3</a:t>
            </a:r>
          </a:p>
        </p:txBody>
      </p:sp>
      <p:sp>
        <p:nvSpPr>
          <p:cNvPr id="13" name="Text 11">
            <a:extLst xmlns:a="http://schemas.openxmlformats.org/drawingml/2006/main">
              <a:ext uri="{FF2B5EF4-FFF2-40B4-BE49-F238E27FC236}">
                <a16:creationId xmlns:a16="http://schemas.microsoft.com/office/drawing/2014/main" id="{A8034CA2-0CA7-41D1-B28A-112DFBDBA41F}"/>
              </a:ext>
            </a:extLst>
          </p:cNvPr>
          <p:cNvSpPr>
            <a:spLocks xmlns:a="http://schemas.openxmlformats.org/drawingml/2006/main" noGrp="1"/>
          </p:cNvSpPr>
          <p:nvPr/>
        </p:nvSpPr>
        <p:spPr>
          <a:xfrm xmlns:a="http://schemas.openxmlformats.org/drawingml/2006/main">
            <a:off x="1115568" y="4242816"/>
            <a:ext cx="10497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E2247"/>
                </a:solidFill>
                <a:latin typeface="Calibri"/>
                <a:ea typeface="Calibri"/>
                <a:cs typeface="Calibri"/>
              </a:rPr>
              <a:t>Process death or duplicate delivery</a:t>
            </a:r>
          </a:p>
        </p:txBody>
      </p:sp>
      <p:sp>
        <p:nvSpPr>
          <p:cNvPr id="14" name="Text 12">
            <a:extLst xmlns:a="http://schemas.openxmlformats.org/drawingml/2006/main">
              <a:ext uri="{FF2B5EF4-FFF2-40B4-BE49-F238E27FC236}">
                <a16:creationId xmlns:a16="http://schemas.microsoft.com/office/drawing/2014/main" id="{2AC58723-E8F0-4E4C-93F4-D2F2B0BFA15C}"/>
              </a:ext>
            </a:extLst>
          </p:cNvPr>
          <p:cNvSpPr>
            <a:spLocks xmlns:a="http://schemas.openxmlformats.org/drawingml/2006/main" noGrp="1"/>
          </p:cNvSpPr>
          <p:nvPr/>
        </p:nvSpPr>
        <p:spPr>
          <a:xfrm xmlns:a="http://schemas.openxmlformats.org/drawingml/2006/main">
            <a:off x="1115568" y="4608576"/>
            <a:ext cx="10497312"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50">
                <a:solidFill>
                  <a:srgbClr val="5B6178"/>
                </a:solidFill>
                <a:latin typeface="Calibri"/>
                <a:ea typeface="Calibri"/>
                <a:cs typeface="Calibri"/>
              </a:rPr>
              <a:t>A restarted watch marks the old session interrupted and needs a fresh handshake. Room claims suppress replay of a cue ID.</a:t>
            </a:r>
          </a:p>
        </p:txBody>
      </p:sp>
      <p:sp>
        <p:nvSpPr>
          <p:cNvPr id="15" name="Text 13">
            <a:extLst xmlns:a="http://schemas.openxmlformats.org/drawingml/2006/main">
              <a:ext uri="{FF2B5EF4-FFF2-40B4-BE49-F238E27FC236}">
                <a16:creationId xmlns:a16="http://schemas.microsoft.com/office/drawing/2014/main" id="{650E8C93-0A1B-4526-A6C3-581E34E2D8D3}"/>
              </a:ext>
            </a:extLst>
          </p:cNvPr>
          <p:cNvSpPr>
            <a:spLocks xmlns:a="http://schemas.openxmlformats.org/drawingml/2006/main" noGrp="1"/>
          </p:cNvSpPr>
          <p:nvPr/>
        </p:nvSpPr>
        <p:spPr>
          <a:xfrm xmlns:a="http://schemas.openxmlformats.org/drawingml/2006/main">
            <a:off x="1115568" y="5230368"/>
            <a:ext cx="104973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000" i="1">
                <a:solidFill>
                  <a:srgbClr val="8A90A6"/>
                </a:solidFill>
                <a:latin typeface="Calibri"/>
                <a:ea typeface="Calibri"/>
                <a:cs typeface="Calibri"/>
              </a:rPr>
              <a:t>Terminal states + cue lifecycle are exported</a:t>
            </a:r>
          </a:p>
        </p:txBody>
      </p:sp>
      <p:sp>
        <p:nvSpPr>
          <p:cNvPr id="16" name="Shape 14">
            <a:extLst xmlns:a="http://schemas.openxmlformats.org/drawingml/2006/main">
              <a:ext uri="{FF2B5EF4-FFF2-40B4-BE49-F238E27FC236}">
                <a16:creationId xmlns:a16="http://schemas.microsoft.com/office/drawing/2014/main" id="{F2669624-C166-422D-8947-1C2556B006C7}"/>
              </a:ext>
            </a:extLst>
          </p:cNvPr>
          <p:cNvSpPr>
            <a:spLocks xmlns:a="http://schemas.openxmlformats.org/drawingml/2006/main" noGrp="1"/>
          </p:cNvSpPr>
          <p:nvPr/>
        </p:nvSpPr>
        <p:spPr>
          <a:xfrm xmlns:a="http://schemas.openxmlformats.org/drawingml/2006/main">
            <a:off x="548640" y="5577840"/>
            <a:ext cx="11109960" cy="502920"/>
          </a:xfrm>
          <a:prstGeom xmlns:a="http://schemas.openxmlformats.org/drawingml/2006/main" prst="roundRect">
            <a:avLst>
              <a:gd name="adj" fmla="val 16364"/>
            </a:avLst>
          </a:prstGeom>
          <a:solidFill xmlns:a="http://schemas.openxmlformats.org/drawingml/2006/main">
            <a:srgbClr val="1E2247"/>
          </a:solidFill>
          <a:ln xmlns:a="http://schemas.openxmlformats.org/drawingml/2006/main" w="12700">
            <a:solidFill>
              <a:srgbClr val="1E2247"/>
            </a:solidFill>
            <a:prstDash val="solid"/>
          </a:ln>
        </p:spPr>
      </p:sp>
      <p:sp>
        <p:nvSpPr>
          <p:cNvPr id="17" name="Text 15">
            <a:extLst xmlns:a="http://schemas.openxmlformats.org/drawingml/2006/main">
              <a:ext uri="{FF2B5EF4-FFF2-40B4-BE49-F238E27FC236}">
                <a16:creationId xmlns:a16="http://schemas.microsoft.com/office/drawing/2014/main" id="{139441E5-E4CB-4C41-9BEE-D76E4A87E472}"/>
              </a:ext>
            </a:extLst>
          </p:cNvPr>
          <p:cNvSpPr>
            <a:spLocks xmlns:a="http://schemas.openxmlformats.org/drawingml/2006/main" noGrp="1"/>
          </p:cNvSpPr>
          <p:nvPr/>
        </p:nvSpPr>
        <p:spPr>
          <a:xfrm xmlns:a="http://schemas.openxmlformats.org/drawingml/2006/main">
            <a:off x="731520" y="5577840"/>
            <a:ext cx="10789920" cy="5029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50" b="1">
                <a:solidFill>
                  <a:srgbClr val="F5F0E1"/>
                </a:solidFill>
                <a:latin typeface="Calibri"/>
                <a:ea typeface="Calibri"/>
                <a:cs typeface="Calibri"/>
              </a:rPr>
              <a:t>Experimental, non-medical research prototype. No public release until license provenance and release controls are resolved.</a:t>
            </a:r>
          </a:p>
        </p:txBody>
      </p:sp>
      <p:sp>
        <p:nvSpPr>
          <p:cNvPr id="18" name="Shape 16">
            <a:extLst xmlns:a="http://schemas.openxmlformats.org/drawingml/2006/main">
              <a:ext uri="{FF2B5EF4-FFF2-40B4-BE49-F238E27FC236}">
                <a16:creationId xmlns:a16="http://schemas.microsoft.com/office/drawing/2014/main" id="{13A41476-E163-479E-ADAE-2447A0634B1E}"/>
              </a:ext>
            </a:extLst>
          </p:cNvPr>
          <p:cNvSpPr>
            <a:spLocks xmlns:a="http://schemas.openxmlformats.org/drawingml/2006/main" noGrp="1"/>
          </p:cNvSpPr>
          <p:nvPr/>
        </p:nvSpPr>
        <p:spPr>
          <a:xfrm xmlns:a="http://schemas.openxmlformats.org/drawingml/2006/main">
            <a:off x="557784" y="6355080"/>
            <a:ext cx="201168" cy="201168"/>
          </a:xfrm>
          <a:prstGeom xmlns:a="http://schemas.openxmlformats.org/drawingml/2006/main" prst="ellipse">
            <a:avLst/>
          </a:prstGeom>
          <a:solidFill xmlns:a="http://schemas.openxmlformats.org/drawingml/2006/main">
            <a:srgbClr val="F5F0E1"/>
          </a:solidFill>
        </p:spPr>
      </p:sp>
      <p:sp>
        <p:nvSpPr>
          <p:cNvPr id="19" name="Shape 17">
            <a:extLst xmlns:a="http://schemas.openxmlformats.org/drawingml/2006/main">
              <a:ext uri="{FF2B5EF4-FFF2-40B4-BE49-F238E27FC236}">
                <a16:creationId xmlns:a16="http://schemas.microsoft.com/office/drawing/2014/main" id="{DFCF8D81-11DB-41E4-84C0-810E0B82953F}"/>
              </a:ext>
            </a:extLst>
          </p:cNvPr>
          <p:cNvSpPr>
            <a:spLocks xmlns:a="http://schemas.openxmlformats.org/drawingml/2006/main" noGrp="1"/>
          </p:cNvSpPr>
          <p:nvPr/>
        </p:nvSpPr>
        <p:spPr>
          <a:xfrm xmlns:a="http://schemas.openxmlformats.org/drawingml/2006/main">
            <a:off x="620146" y="6340998"/>
            <a:ext cx="201168" cy="201168"/>
          </a:xfrm>
          <a:prstGeom xmlns:a="http://schemas.openxmlformats.org/drawingml/2006/main" prst="ellipse">
            <a:avLst/>
          </a:prstGeom>
          <a:solidFill xmlns:a="http://schemas.openxmlformats.org/drawingml/2006/main">
            <a:srgbClr val="FFFFFF"/>
          </a:solidFill>
        </p:spPr>
      </p:sp>
      <p:sp>
        <p:nvSpPr>
          <p:cNvPr id="20" name="Text 18">
            <a:extLst xmlns:a="http://schemas.openxmlformats.org/drawingml/2006/main">
              <a:ext uri="{FF2B5EF4-FFF2-40B4-BE49-F238E27FC236}">
                <a16:creationId xmlns:a16="http://schemas.microsoft.com/office/drawing/2014/main" id="{83CF711F-5BA4-4EA7-AFD6-3A40FB20152C}"/>
              </a:ext>
            </a:extLst>
          </p:cNvPr>
          <p:cNvSpPr>
            <a:spLocks xmlns:a="http://schemas.openxmlformats.org/drawingml/2006/main" noGrp="1"/>
          </p:cNvSpPr>
          <p:nvPr/>
        </p:nvSpPr>
        <p:spPr>
          <a:xfrm xmlns:a="http://schemas.openxmlformats.org/drawingml/2006/main">
            <a:off x="841248" y="6245352"/>
            <a:ext cx="2743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900">
                <a:solidFill>
                  <a:srgbClr val="8A90A6"/>
                </a:solidFill>
                <a:latin typeface="Calibri"/>
                <a:ea typeface="Calibri"/>
                <a:cs typeface="Calibri"/>
              </a:rPr>
              <a:t>Dream Sync</a:t>
            </a:r>
          </a:p>
        </p:txBody>
      </p:sp>
      <p:sp>
        <p:nvSpPr>
          <p:cNvPr id="21" name="Text 19">
            <a:extLst xmlns:a="http://schemas.openxmlformats.org/drawingml/2006/main">
              <a:ext uri="{FF2B5EF4-FFF2-40B4-BE49-F238E27FC236}">
                <a16:creationId xmlns:a16="http://schemas.microsoft.com/office/drawing/2014/main" id="{29F08064-A354-426E-83E7-857E8BCC327D}"/>
              </a:ext>
            </a:extLst>
          </p:cNvPr>
          <p:cNvSpPr>
            <a:spLocks xmlns:a="http://schemas.openxmlformats.org/drawingml/2006/main" noGrp="1"/>
          </p:cNvSpPr>
          <p:nvPr/>
        </p:nvSpPr>
        <p:spPr>
          <a:xfrm xmlns:a="http://schemas.openxmlformats.org/drawingml/2006/main">
            <a:off x="11247120" y="6245352"/>
            <a:ext cx="457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8A90A6"/>
                </a:solidFill>
                <a:latin typeface="Calibri"/>
                <a:ea typeface="Calibri"/>
                <a:cs typeface="Calibri"/>
              </a:rPr>
              <a:t>10</a:t>
            </a:r>
          </a:p>
        </p:txBody>
      </p:sp>
    </p:spTree>
    <p:extLst>
      <p:ext uri="{BB962C8B-B14F-4D97-AF65-F5344CB8AC3E}">
        <p14:creationId xmlns:p14="http://schemas.microsoft.com/office/powerpoint/2010/main" val="668360731"/>
      </p:ext>
    </p:extLst>
  </p:cSld>
</p:sld>
</file>

<file path=ppt/slides/slide11.xml><?xml version="1.0" encoding="utf-8"?>
<p:sld xmlns:p="http://schemas.openxmlformats.org/presentationml/2006/main">
  <p:cSld>
    <p:bg>
      <p:bgPr>
        <a:solidFill xmlns:a="http://schemas.openxmlformats.org/drawingml/2006/main">
          <a:srgbClr val="1E2247"/>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EB13217-9612-49C2-97F8-73D330CD842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E2247"/>
          </a:solidFill>
        </p:spPr>
      </p:sp>
      <p:sp>
        <p:nvSpPr>
          <p:cNvPr id="3" name="Shape 1">
            <a:extLst xmlns:a="http://schemas.openxmlformats.org/drawingml/2006/main">
              <a:ext uri="{FF2B5EF4-FFF2-40B4-BE49-F238E27FC236}">
                <a16:creationId xmlns:a16="http://schemas.microsoft.com/office/drawing/2014/main" id="{990B9053-26EB-4F41-9268-B105D85A7F40}"/>
              </a:ext>
            </a:extLst>
          </p:cNvPr>
          <p:cNvSpPr>
            <a:spLocks xmlns:a="http://schemas.openxmlformats.org/drawingml/2006/main" noGrp="1"/>
          </p:cNvSpPr>
          <p:nvPr/>
        </p:nvSpPr>
        <p:spPr>
          <a:xfrm xmlns:a="http://schemas.openxmlformats.org/drawingml/2006/main">
            <a:off x="9144000" y="3840480"/>
            <a:ext cx="1828800" cy="1828800"/>
          </a:xfrm>
          <a:prstGeom xmlns:a="http://schemas.openxmlformats.org/drawingml/2006/main" prst="ellipse">
            <a:avLst/>
          </a:prstGeom>
          <a:solidFill xmlns:a="http://schemas.openxmlformats.org/drawingml/2006/main">
            <a:srgbClr val="F5F0E1"/>
          </a:solidFill>
        </p:spPr>
      </p:sp>
      <p:sp>
        <p:nvSpPr>
          <p:cNvPr id="4" name="Shape 2">
            <a:extLst xmlns:a="http://schemas.openxmlformats.org/drawingml/2006/main">
              <a:ext uri="{FF2B5EF4-FFF2-40B4-BE49-F238E27FC236}">
                <a16:creationId xmlns:a16="http://schemas.microsoft.com/office/drawing/2014/main" id="{299A864E-1548-4AD0-8F98-00B8818B7167}"/>
              </a:ext>
            </a:extLst>
          </p:cNvPr>
          <p:cNvSpPr>
            <a:spLocks xmlns:a="http://schemas.openxmlformats.org/drawingml/2006/main" noGrp="1"/>
          </p:cNvSpPr>
          <p:nvPr/>
        </p:nvSpPr>
        <p:spPr>
          <a:xfrm xmlns:a="http://schemas.openxmlformats.org/drawingml/2006/main">
            <a:off x="9710928" y="3712464"/>
            <a:ext cx="1828800" cy="1828800"/>
          </a:xfrm>
          <a:prstGeom xmlns:a="http://schemas.openxmlformats.org/drawingml/2006/main" prst="ellipse">
            <a:avLst/>
          </a:prstGeom>
          <a:solidFill xmlns:a="http://schemas.openxmlformats.org/drawingml/2006/main">
            <a:srgbClr val="1E2247"/>
          </a:solidFill>
        </p:spPr>
      </p:sp>
      <p:sp>
        <p:nvSpPr>
          <p:cNvPr id="5" name="Shape 3">
            <a:extLst xmlns:a="http://schemas.openxmlformats.org/drawingml/2006/main">
              <a:ext uri="{FF2B5EF4-FFF2-40B4-BE49-F238E27FC236}">
                <a16:creationId xmlns:a16="http://schemas.microsoft.com/office/drawing/2014/main" id="{A0FD35E0-EC91-4556-BF08-91EA412C6E33}"/>
              </a:ext>
            </a:extLst>
          </p:cNvPr>
          <p:cNvSpPr>
            <a:spLocks xmlns:a="http://schemas.openxmlformats.org/drawingml/2006/main" noGrp="1"/>
          </p:cNvSpPr>
          <p:nvPr/>
        </p:nvSpPr>
        <p:spPr>
          <a:xfrm xmlns:a="http://schemas.openxmlformats.org/drawingml/2006/main">
            <a:off x="10424160" y="4114800"/>
            <a:ext cx="502920" cy="1005840"/>
          </a:xfrm>
          <a:prstGeom xmlns:a="http://schemas.openxmlformats.org/drawingml/2006/main" prst="arc">
            <a:avLst>
              <a:gd name="adj1" fmla="val 18000000"/>
              <a:gd name="adj2" fmla="val 3600000"/>
            </a:avLst>
          </a:prstGeom>
          <a:ln xmlns:a="http://schemas.openxmlformats.org/drawingml/2006/main" w="31750">
            <a:solidFill>
              <a:srgbClr val="CADCFC"/>
            </a:solidFill>
            <a:prstDash val="solid"/>
          </a:ln>
        </p:spPr>
      </p:sp>
      <p:sp>
        <p:nvSpPr>
          <p:cNvPr id="6" name="Shape 4">
            <a:extLst xmlns:a="http://schemas.openxmlformats.org/drawingml/2006/main">
              <a:ext uri="{FF2B5EF4-FFF2-40B4-BE49-F238E27FC236}">
                <a16:creationId xmlns:a16="http://schemas.microsoft.com/office/drawing/2014/main" id="{98234E72-0C92-44FC-9A21-D33129AFF77B}"/>
              </a:ext>
            </a:extLst>
          </p:cNvPr>
          <p:cNvSpPr>
            <a:spLocks xmlns:a="http://schemas.openxmlformats.org/drawingml/2006/main" noGrp="1"/>
          </p:cNvSpPr>
          <p:nvPr/>
        </p:nvSpPr>
        <p:spPr>
          <a:xfrm xmlns:a="http://schemas.openxmlformats.org/drawingml/2006/main">
            <a:off x="10424160" y="3794760"/>
            <a:ext cx="822960" cy="1645920"/>
          </a:xfrm>
          <a:prstGeom xmlns:a="http://schemas.openxmlformats.org/drawingml/2006/main" prst="arc">
            <a:avLst>
              <a:gd name="adj1" fmla="val 18000000"/>
              <a:gd name="adj2" fmla="val 3600000"/>
            </a:avLst>
          </a:prstGeom>
          <a:ln xmlns:a="http://schemas.openxmlformats.org/drawingml/2006/main" w="31750">
            <a:solidFill>
              <a:srgbClr val="818CF8"/>
            </a:solidFill>
            <a:prstDash val="solid"/>
          </a:ln>
        </p:spPr>
      </p:sp>
      <p:sp>
        <p:nvSpPr>
          <p:cNvPr id="7" name="Shape 5">
            <a:extLst xmlns:a="http://schemas.openxmlformats.org/drawingml/2006/main">
              <a:ext uri="{FF2B5EF4-FFF2-40B4-BE49-F238E27FC236}">
                <a16:creationId xmlns:a16="http://schemas.microsoft.com/office/drawing/2014/main" id="{E6B60E72-158A-4E82-953C-708B4E56BC69}"/>
              </a:ext>
            </a:extLst>
          </p:cNvPr>
          <p:cNvSpPr>
            <a:spLocks xmlns:a="http://schemas.openxmlformats.org/drawingml/2006/main" noGrp="1"/>
          </p:cNvSpPr>
          <p:nvPr/>
        </p:nvSpPr>
        <p:spPr>
          <a:xfrm xmlns:a="http://schemas.openxmlformats.org/drawingml/2006/main">
            <a:off x="10424160" y="3474720"/>
            <a:ext cx="1143000" cy="2286000"/>
          </a:xfrm>
          <a:prstGeom xmlns:a="http://schemas.openxmlformats.org/drawingml/2006/main" prst="arc">
            <a:avLst>
              <a:gd name="adj1" fmla="val 18000000"/>
              <a:gd name="adj2" fmla="val 3600000"/>
            </a:avLst>
          </a:prstGeom>
          <a:ln xmlns:a="http://schemas.openxmlformats.org/drawingml/2006/main" w="31750">
            <a:solidFill>
              <a:srgbClr val="5B6CE8"/>
            </a:solidFill>
            <a:prstDash val="solid"/>
          </a:ln>
        </p:spPr>
      </p:sp>
      <p:sp>
        <p:nvSpPr>
          <p:cNvPr id="8" name="Shape 6">
            <a:extLst xmlns:a="http://schemas.openxmlformats.org/drawingml/2006/main">
              <a:ext uri="{FF2B5EF4-FFF2-40B4-BE49-F238E27FC236}">
                <a16:creationId xmlns:a16="http://schemas.microsoft.com/office/drawing/2014/main" id="{15A9B5A9-7D95-49AC-97C2-1BA9ADBBE8A9}"/>
              </a:ext>
            </a:extLst>
          </p:cNvPr>
          <p:cNvSpPr>
            <a:spLocks xmlns:a="http://schemas.openxmlformats.org/drawingml/2006/main" noGrp="1"/>
          </p:cNvSpPr>
          <p:nvPr/>
        </p:nvSpPr>
        <p:spPr>
          <a:xfrm xmlns:a="http://schemas.openxmlformats.org/drawingml/2006/main">
            <a:off x="8778240" y="914400"/>
            <a:ext cx="73152" cy="73152"/>
          </a:xfrm>
          <a:prstGeom xmlns:a="http://schemas.openxmlformats.org/drawingml/2006/main" prst="ellipse">
            <a:avLst/>
          </a:prstGeom>
          <a:solidFill xmlns:a="http://schemas.openxmlformats.org/drawingml/2006/main">
            <a:srgbClr val="F5F0E1"/>
          </a:solidFill>
        </p:spPr>
      </p:sp>
      <p:sp>
        <p:nvSpPr>
          <p:cNvPr id="9" name="Shape 7">
            <a:extLst xmlns:a="http://schemas.openxmlformats.org/drawingml/2006/main">
              <a:ext uri="{FF2B5EF4-FFF2-40B4-BE49-F238E27FC236}">
                <a16:creationId xmlns:a16="http://schemas.microsoft.com/office/drawing/2014/main" id="{209F11B2-D122-48C1-873E-246EC1D65CA8}"/>
              </a:ext>
            </a:extLst>
          </p:cNvPr>
          <p:cNvSpPr>
            <a:spLocks xmlns:a="http://schemas.openxmlformats.org/drawingml/2006/main" noGrp="1"/>
          </p:cNvSpPr>
          <p:nvPr/>
        </p:nvSpPr>
        <p:spPr>
          <a:xfrm xmlns:a="http://schemas.openxmlformats.org/drawingml/2006/main">
            <a:off x="11155680" y="1280160"/>
            <a:ext cx="54864" cy="54864"/>
          </a:xfrm>
          <a:prstGeom xmlns:a="http://schemas.openxmlformats.org/drawingml/2006/main" prst="ellipse">
            <a:avLst/>
          </a:prstGeom>
          <a:solidFill xmlns:a="http://schemas.openxmlformats.org/drawingml/2006/main">
            <a:srgbClr val="F5F0E1"/>
          </a:solidFill>
        </p:spPr>
      </p:sp>
      <p:sp>
        <p:nvSpPr>
          <p:cNvPr id="10" name="Shape 8">
            <a:extLst xmlns:a="http://schemas.openxmlformats.org/drawingml/2006/main">
              <a:ext uri="{FF2B5EF4-FFF2-40B4-BE49-F238E27FC236}">
                <a16:creationId xmlns:a16="http://schemas.microsoft.com/office/drawing/2014/main" id="{22500095-6692-420C-BF0A-5268CD9B1870}"/>
              </a:ext>
            </a:extLst>
          </p:cNvPr>
          <p:cNvSpPr>
            <a:spLocks xmlns:a="http://schemas.openxmlformats.org/drawingml/2006/main" noGrp="1"/>
          </p:cNvSpPr>
          <p:nvPr/>
        </p:nvSpPr>
        <p:spPr>
          <a:xfrm xmlns:a="http://schemas.openxmlformats.org/drawingml/2006/main">
            <a:off x="9326880" y="5852160"/>
            <a:ext cx="64008" cy="64008"/>
          </a:xfrm>
          <a:prstGeom xmlns:a="http://schemas.openxmlformats.org/drawingml/2006/main" prst="ellipse">
            <a:avLst/>
          </a:prstGeom>
          <a:solidFill xmlns:a="http://schemas.openxmlformats.org/drawingml/2006/main">
            <a:srgbClr val="F5F0E1"/>
          </a:solidFill>
        </p:spPr>
      </p:sp>
      <p:sp>
        <p:nvSpPr>
          <p:cNvPr id="11" name="Text 9">
            <a:extLst xmlns:a="http://schemas.openxmlformats.org/drawingml/2006/main">
              <a:ext uri="{FF2B5EF4-FFF2-40B4-BE49-F238E27FC236}">
                <a16:creationId xmlns:a16="http://schemas.microsoft.com/office/drawing/2014/main" id="{A5848594-5BC7-4CFB-9B13-1A244C4CFD78}"/>
              </a:ext>
            </a:extLst>
          </p:cNvPr>
          <p:cNvSpPr>
            <a:spLocks xmlns:a="http://schemas.openxmlformats.org/drawingml/2006/main" noGrp="1"/>
          </p:cNvSpPr>
          <p:nvPr/>
        </p:nvSpPr>
        <p:spPr>
          <a:xfrm xmlns:a="http://schemas.openxmlformats.org/drawingml/2006/main">
            <a:off x="822960" y="1005840"/>
            <a:ext cx="73152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a:solidFill>
                  <a:srgbClr val="CADCFC"/>
                </a:solidFill>
                <a:latin typeface="Calibri"/>
                <a:ea typeface="Calibri"/>
                <a:cs typeface="Calibri"/>
              </a:rPr>
              <a:t>The acceptance decision</a:t>
            </a:r>
          </a:p>
        </p:txBody>
      </p:sp>
      <p:sp>
        <p:nvSpPr>
          <p:cNvPr id="12" name="Text 10">
            <a:extLst xmlns:a="http://schemas.openxmlformats.org/drawingml/2006/main">
              <a:ext uri="{FF2B5EF4-FFF2-40B4-BE49-F238E27FC236}">
                <a16:creationId xmlns:a16="http://schemas.microsoft.com/office/drawing/2014/main" id="{0088A30F-DEC8-47D4-8BB5-14D7CC0EEA96}"/>
              </a:ext>
            </a:extLst>
          </p:cNvPr>
          <p:cNvSpPr>
            <a:spLocks xmlns:a="http://schemas.openxmlformats.org/drawingml/2006/main" noGrp="1"/>
          </p:cNvSpPr>
          <p:nvPr/>
        </p:nvSpPr>
        <p:spPr>
          <a:xfrm xmlns:a="http://schemas.openxmlformats.org/drawingml/2006/main">
            <a:off x="777240" y="1417320"/>
            <a:ext cx="10058400" cy="914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4000" b="1">
                <a:solidFill>
                  <a:srgbClr val="FFFFFF"/>
                </a:solidFill>
                <a:latin typeface="Cambria"/>
                <a:ea typeface="Cambria"/>
                <a:cs typeface="Cambria"/>
              </a:rPr>
              <a:t>Software ready. Hardware proof still pending.</a:t>
            </a:r>
          </a:p>
        </p:txBody>
      </p:sp>
      <p:sp>
        <p:nvSpPr>
          <p:cNvPr id="13" name="Text 11">
            <a:extLst xmlns:a="http://schemas.openxmlformats.org/drawingml/2006/main">
              <a:ext uri="{FF2B5EF4-FFF2-40B4-BE49-F238E27FC236}">
                <a16:creationId xmlns:a16="http://schemas.microsoft.com/office/drawing/2014/main" id="{452DABEF-3ACC-410A-885C-9C1011D6D81C}"/>
              </a:ext>
            </a:extLst>
          </p:cNvPr>
          <p:cNvSpPr>
            <a:spLocks xmlns:a="http://schemas.openxmlformats.org/drawingml/2006/main" noGrp="1"/>
          </p:cNvSpPr>
          <p:nvPr/>
        </p:nvSpPr>
        <p:spPr>
          <a:xfrm xmlns:a="http://schemas.openxmlformats.org/drawingml/2006/main">
            <a:off x="822960" y="2697480"/>
            <a:ext cx="8503920"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Local build: phone + watch APKs compile; shared deterministic tests pass.</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Research: supplied study maps to exact waveform timing, sham design, and explicit EEG limits.</a:t>
            </a:r>
          </a:p>
          <a:p xmlns:a="http://schemas.openxmlformats.org/drawingml/2006/main">
            <a:pPr marL="342900" indent="-342900">
              <a:spcAft>
                <a:spcPts val="1200"/>
              </a:spcAft>
              <a:buSzPct val="100000"/>
              <a:buChar char="•"/>
            </a:pPr>
            <a:r>
              <a:rPr sz="1500">
                <a:solidFill>
                  <a:srgbClr val="CADCFC"/>
                </a:solidFill>
                <a:latin typeface="Calibri"/>
                <a:ea typeface="Calibri"/>
                <a:cs typeface="Calibri"/>
              </a:rPr>
              <a:t>Pending: three accelerated S23+/Watch Ultra runs, then sensor-only, ACTIVE, SHAM, disconnect and recovery tests.</a:t>
            </a:r>
          </a:p>
          <a:p xmlns:a="http://schemas.openxmlformats.org/drawingml/2006/main">
            <a:pPr marL="342900" indent="-342900">
              <a:buSzPct val="100000"/>
              <a:buChar char="•"/>
            </a:pPr>
            <a:r>
              <a:rPr sz="1500">
                <a:solidFill>
                  <a:srgbClr val="CADCFC"/>
                </a:solidFill>
                <a:latin typeface="Calibri"/>
                <a:ea typeface="Calibri"/>
                <a:cs typeface="Calibri"/>
              </a:rPr>
              <a:t>Claim gate: no sleep-effect statement until the planned 12–20-night experiment is complete and human reviewed.</a:t>
            </a:r>
          </a:p>
        </p:txBody>
      </p:sp>
    </p:spTree>
    <p:extLst>
      <p:ext uri="{BB962C8B-B14F-4D97-AF65-F5344CB8AC3E}">
        <p14:creationId xmlns:p14="http://schemas.microsoft.com/office/powerpoint/2010/main" val="117520482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2026-07-19T05:25:23.1640000Z</dcterms:created>
  <dcterms:modified xsi:type="dcterms:W3CDTF">2026-07-19T05:25:23.1640000Z</dcterms:modified>
</coreProperties>
</file>