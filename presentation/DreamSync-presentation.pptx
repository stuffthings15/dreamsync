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(~20s) Hi — this is Dream Sync, a research prototype that plays timed audio cues to the sleeping brain using just a phone and a smartwatch. In the next eight minutes I'll cover the problem it targets, the actual sleep science behind it, and — just as importantly — where the evidence runs out. This is deliberately an honest tour, not a sales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(~50s) We spend about a third of our lives asleep, and for most people it's completely passive time — you can't observe it, let alone shape it. The stage that matters most for recovery and memory, deep slow-wave sleep, actually shrinks as we age. Meanwhile, sleep scientists have shown you *can* act on sleep — nudging deep sleep with sound, or cueing lucid dreams — but those techniques live in EEG labs with clinical hardware. The question Dream Sync asks: can the watch already on your wrist do a useful, safe version of that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is. (~45s) It's a two-device system. The watch senses motion and heart rate, estimates your sleep stage, and decides when to cue. The phone sits by the bed and plays the actual audio at low volume. There are two interventions. Deep cues: paired pink-noise bursts during probable deep sleep. Lucid cues: a distinctive two-tone chime during probable REM. Each maps to a specific line of research — which is what the next three slides are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 TMR. (~50s) The underlying principle is Targeted Memory Reactivation. In 2007, Rasch and colleagues paired a task with a rose smell, replayed the smell during deep sleep, and memory improved — with hippocampal activation on fMRI. Crucially it only worked in deep sleep, not REM or waking. In 2009, Rudoy showed the same with sound. And the 2020 meta-analysis of ninety-one experiments found a small but robust benefit, effect size 0.29 — real, in NREM only. So: cueing the sleeping brain is a genuine effect, not folklore. But note that word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cues. (~55s) Dream Sync's deep cue rides on closed-loop acoustic stimulation. The founding 2013 study played two-click bursts locked to the slow oscillation's up-state and boosted both the brain waves and overnight word memory; out-of-phase clicks did nothing. A 2017 study replicated the physiology in older adults and roughly quadrupled recall versus sham. Now the honest caveat, on the right: the *physiology* replicates well — cues reliably move slow waves and spindles. The *memory* benefit does not. A 2023 meta-analysis pooled it at 0.14, not significant, with a clear decline as studies got better. So I present deep cues as a reliable physiological nudge with an unproven cognitive payoff.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Lucid cues. (~55s) The lucid cue comes from targeted lucidity reactivation. The landmark 2021 study is genuinely stunning — across four labs, people in verified lucid REM sleep answered questions with prearranged eye movements. Real two-way communication with a dreaming person. And cue-replay methods have induced lucid dreams in about half of participants in lab naps. But the caveat matters: a systematic review found *no* induction technique works reliably, it's highly person-dependent, and that fifty-percent figure is a best-case morning nap, not a nightly at-home number. So this is a research-inspired prompt that may raise the odds for some people — framed exactly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(~55s) Here's what makes it defensible rather than reckless. The watch estimates the stage from stillness, heart-rate features, and time-of-night priors. It requires the stage to hold stably, for minutes, inside the right window before it cues at all. Any movement or heart-rate spike ends the block and triggers a cool-down. And it self-limits: three cue-linked awakenings and it shuts cues off for the night. The chart shows why the time windows work — deep sleep front-loads the night, REM back-loads it, so even approximate timing is a reasonable 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limit. (~50s) This is the slide I most want to land. Dream Sync reads motion and heart rate — not brain waves. Wearables like this are genuinely good, 85 to 95 percent, at telling sleep from wake. But at naming the actual stage they drop to roughly 60 to 85 percent — deep and REM get confused with light sleep. So timing cues by stage is a sound probabilistic bet, but some cues will land in the wrong stage. That's precisely why the app always says 'probable NREM' or 'probable REM' and never claims a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Potential effects. (~45s) Putting it together — what might this actually do? Plausibly: shift deep-sleep brain activity, raise lucid-dream odds for some users, and give a motivated person a real n-of-1 experimentation tool, since every night is logged. What it does *not* claim: a proven memory boost, reliable on-demand lucid dreaming, clinical staging, or any treatment. Keeping those two columns separate is the whole ethic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(~45s) Risks, taken seriously. Any overnight audio can fragment sleep, so cues are low-volume, brief, user-calibrated to barely audible, and auto-disable after three cue-linked awakenings. Lucid-dream practice itself can disturb sleep, so windows are separated and cues capped. And there's a real caution: frequent lucid dreaming has been linked to higher dissociation in susceptible people, which warrants an in-app advisory. Bottom line on the bar: this is a research prototype, not a medical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(~25s) So, to close: a real problem — a third of life we can barely act on. An approach that brings two evidence-based techniques out of the lab and onto consumer hardware. An honest scope — strong on physiology, unproven on memory and lucidity, approximate on staging, and transparent about all of it. And a path forward: the nightly logs are the raw material for actually finding out what works.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24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2247"/>
          </a:solidFill>
          <a:ln/>
        </p:spPr>
      </p:sp>
      <p:sp>
        <p:nvSpPr>
          <p:cNvPr id="3" name="Shape 1"/>
          <p:cNvSpPr/>
          <p:nvPr/>
        </p:nvSpPr>
        <p:spPr>
          <a:xfrm>
            <a:off x="8732520" y="1097280"/>
            <a:ext cx="2103120" cy="2103120"/>
          </a:xfrm>
          <a:prstGeom prst="ellipse">
            <a:avLst/>
          </a:prstGeom>
          <a:solidFill>
            <a:srgbClr val="F5F0E1"/>
          </a:solidFill>
          <a:ln/>
        </p:spPr>
      </p:sp>
      <p:sp>
        <p:nvSpPr>
          <p:cNvPr id="4" name="Shape 2"/>
          <p:cNvSpPr/>
          <p:nvPr/>
        </p:nvSpPr>
        <p:spPr>
          <a:xfrm>
            <a:off x="9384487" y="950062"/>
            <a:ext cx="2103120" cy="2103120"/>
          </a:xfrm>
          <a:prstGeom prst="ellipse">
            <a:avLst/>
          </a:prstGeom>
          <a:solidFill>
            <a:srgbClr val="1E2247"/>
          </a:solidFill>
          <a:ln/>
        </p:spPr>
      </p:sp>
      <p:sp>
        <p:nvSpPr>
          <p:cNvPr id="5" name="Shape 3"/>
          <p:cNvSpPr/>
          <p:nvPr/>
        </p:nvSpPr>
        <p:spPr>
          <a:xfrm>
            <a:off x="10195560" y="1508760"/>
            <a:ext cx="502920" cy="1005840"/>
          </a:xfrm>
          <a:prstGeom prst="arc">
            <a:avLst>
              <a:gd name="adj1" fmla="val 18000000"/>
              <a:gd name="adj2" fmla="val 3600000"/>
            </a:avLst>
          </a:prstGeom>
          <a:ln w="31750">
            <a:solidFill>
              <a:srgbClr val="CADCFC"/>
            </a:solidFill>
            <a:prstDash val="solid"/>
          </a:ln>
        </p:spPr>
      </p:sp>
      <p:sp>
        <p:nvSpPr>
          <p:cNvPr id="6" name="Shape 4"/>
          <p:cNvSpPr/>
          <p:nvPr/>
        </p:nvSpPr>
        <p:spPr>
          <a:xfrm>
            <a:off x="10195560" y="1188720"/>
            <a:ext cx="822960" cy="1645920"/>
          </a:xfrm>
          <a:prstGeom prst="arc">
            <a:avLst>
              <a:gd name="adj1" fmla="val 18000000"/>
              <a:gd name="adj2" fmla="val 3600000"/>
            </a:avLst>
          </a:prstGeom>
          <a:ln w="31750">
            <a:solidFill>
              <a:srgbClr val="818CF8"/>
            </a:solidFill>
            <a:prstDash val="solid"/>
          </a:ln>
        </p:spPr>
      </p:sp>
      <p:sp>
        <p:nvSpPr>
          <p:cNvPr id="7" name="Shape 5"/>
          <p:cNvSpPr/>
          <p:nvPr/>
        </p:nvSpPr>
        <p:spPr>
          <a:xfrm>
            <a:off x="10195560" y="868680"/>
            <a:ext cx="1143000" cy="2286000"/>
          </a:xfrm>
          <a:prstGeom prst="arc">
            <a:avLst>
              <a:gd name="adj1" fmla="val 18000000"/>
              <a:gd name="adj2" fmla="val 3600000"/>
            </a:avLst>
          </a:prstGeom>
          <a:ln w="31750">
            <a:solidFill>
              <a:srgbClr val="5B6CE8"/>
            </a:solidFill>
            <a:prstDash val="solid"/>
          </a:ln>
        </p:spPr>
      </p:sp>
      <p:sp>
        <p:nvSpPr>
          <p:cNvPr id="8" name="Shape 6"/>
          <p:cNvSpPr/>
          <p:nvPr/>
        </p:nvSpPr>
        <p:spPr>
          <a:xfrm>
            <a:off x="8412480" y="1097280"/>
            <a:ext cx="82296" cy="82296"/>
          </a:xfrm>
          <a:prstGeom prst="ellipse">
            <a:avLst/>
          </a:prstGeom>
          <a:solidFill>
            <a:srgbClr val="F5F0E1"/>
          </a:solidFill>
          <a:ln/>
        </p:spPr>
      </p:sp>
      <p:sp>
        <p:nvSpPr>
          <p:cNvPr id="9" name="Shape 7"/>
          <p:cNvSpPr/>
          <p:nvPr/>
        </p:nvSpPr>
        <p:spPr>
          <a:xfrm>
            <a:off x="11064240" y="1371600"/>
            <a:ext cx="64008" cy="64008"/>
          </a:xfrm>
          <a:prstGeom prst="ellipse">
            <a:avLst/>
          </a:prstGeom>
          <a:solidFill>
            <a:srgbClr val="F5F0E1"/>
          </a:solidFill>
          <a:ln/>
        </p:spPr>
      </p:sp>
      <p:sp>
        <p:nvSpPr>
          <p:cNvPr id="10" name="Shape 8"/>
          <p:cNvSpPr/>
          <p:nvPr/>
        </p:nvSpPr>
        <p:spPr>
          <a:xfrm>
            <a:off x="8961120" y="3383280"/>
            <a:ext cx="54864" cy="54864"/>
          </a:xfrm>
          <a:prstGeom prst="ellipse">
            <a:avLst/>
          </a:prstGeom>
          <a:solidFill>
            <a:srgbClr val="F5F0E1"/>
          </a:solidFill>
          <a:ln/>
        </p:spPr>
      </p:sp>
      <p:sp>
        <p:nvSpPr>
          <p:cNvPr id="11" name="Shape 9"/>
          <p:cNvSpPr/>
          <p:nvPr/>
        </p:nvSpPr>
        <p:spPr>
          <a:xfrm>
            <a:off x="10881360" y="3840480"/>
            <a:ext cx="73152" cy="73152"/>
          </a:xfrm>
          <a:prstGeom prst="ellipse">
            <a:avLst/>
          </a:prstGeom>
          <a:solidFill>
            <a:srgbClr val="F5F0E1"/>
          </a:solidFill>
          <a:ln/>
        </p:spPr>
      </p:sp>
      <p:sp>
        <p:nvSpPr>
          <p:cNvPr id="12" name="Text 10"/>
          <p:cNvSpPr/>
          <p:nvPr/>
        </p:nvSpPr>
        <p:spPr>
          <a:xfrm>
            <a:off x="822960" y="1965960"/>
            <a:ext cx="7315200" cy="365760"/>
          </a:xfrm>
          <a:prstGeom prst="rect">
            <a:avLst/>
          </a:prstGeom>
          <a:noFill/>
          <a:ln/>
        </p:spPr>
        <p:txBody>
          <a:bodyPr wrap="square" rtlCol="0" anchor="ctr"/>
          <a:lstStyle/>
          <a:p>
            <a:pPr algn="l" indent="0" marL="0">
              <a:buNone/>
            </a:pPr>
            <a:r>
              <a:rPr lang="en-US" sz="1300" spc="200" kern="0" dirty="0">
                <a:solidFill>
                  <a:srgbClr val="CADCFC"/>
                </a:solidFill>
                <a:latin typeface="Calibri" pitchFamily="34" charset="0"/>
                <a:ea typeface="Calibri" pitchFamily="34" charset="-122"/>
                <a:cs typeface="Calibri" pitchFamily="34" charset="-120"/>
              </a:rPr>
              <a:t>RESEARCH PROTOTYPE  ·  PHONE + WEAR OS</a:t>
            </a:r>
            <a:endParaRPr lang="en-US" sz="1300" dirty="0"/>
          </a:p>
        </p:txBody>
      </p:sp>
      <p:sp>
        <p:nvSpPr>
          <p:cNvPr id="13" name="Text 11"/>
          <p:cNvSpPr/>
          <p:nvPr/>
        </p:nvSpPr>
        <p:spPr>
          <a:xfrm>
            <a:off x="777240" y="2286000"/>
            <a:ext cx="8229600" cy="1188720"/>
          </a:xfrm>
          <a:prstGeom prst="rect">
            <a:avLst/>
          </a:prstGeom>
          <a:noFill/>
          <a:ln/>
        </p:spPr>
        <p:txBody>
          <a:bodyPr wrap="square" rtlCol="0" anchor="ctr"/>
          <a:lstStyle/>
          <a:p>
            <a:pPr algn="l" indent="0" marL="0">
              <a:buNone/>
            </a:pPr>
            <a:r>
              <a:rPr lang="en-US" sz="6000" b="1" dirty="0">
                <a:solidFill>
                  <a:srgbClr val="FFFFFF"/>
                </a:solidFill>
                <a:latin typeface="Cambria" pitchFamily="34" charset="0"/>
                <a:ea typeface="Cambria" pitchFamily="34" charset="-122"/>
                <a:cs typeface="Cambria" pitchFamily="34" charset="-120"/>
              </a:rPr>
              <a:t>Dream Sync</a:t>
            </a:r>
            <a:endParaRPr lang="en-US" sz="6000" dirty="0"/>
          </a:p>
        </p:txBody>
      </p:sp>
      <p:sp>
        <p:nvSpPr>
          <p:cNvPr id="14" name="Text 12"/>
          <p:cNvSpPr/>
          <p:nvPr/>
        </p:nvSpPr>
        <p:spPr>
          <a:xfrm>
            <a:off x="822960" y="3520440"/>
            <a:ext cx="8229600" cy="548640"/>
          </a:xfrm>
          <a:prstGeom prst="rect">
            <a:avLst/>
          </a:prstGeom>
          <a:noFill/>
          <a:ln/>
        </p:spPr>
        <p:txBody>
          <a:bodyPr wrap="square" rtlCol="0" anchor="ctr"/>
          <a:lstStyle/>
          <a:p>
            <a:pPr algn="l" indent="0" marL="0">
              <a:buNone/>
            </a:pPr>
            <a:r>
              <a:rPr lang="en-US" sz="2000" dirty="0">
                <a:solidFill>
                  <a:srgbClr val="CADCFC"/>
                </a:solidFill>
                <a:latin typeface="Calibri" pitchFamily="34" charset="0"/>
                <a:ea typeface="Calibri" pitchFamily="34" charset="-122"/>
                <a:cs typeface="Calibri" pitchFamily="34" charset="-120"/>
              </a:rPr>
              <a:t>Cueing the sleeping brain — without an EEG lab</a:t>
            </a:r>
            <a:endParaRPr lang="en-US" sz="2000" dirty="0"/>
          </a:p>
        </p:txBody>
      </p:sp>
      <p:sp>
        <p:nvSpPr>
          <p:cNvPr id="15" name="Text 13"/>
          <p:cNvSpPr/>
          <p:nvPr/>
        </p:nvSpPr>
        <p:spPr>
          <a:xfrm>
            <a:off x="822960" y="5212080"/>
            <a:ext cx="9144000" cy="457200"/>
          </a:xfrm>
          <a:prstGeom prst="rect">
            <a:avLst/>
          </a:prstGeom>
          <a:noFill/>
          <a:ln/>
        </p:spPr>
        <p:txBody>
          <a:bodyPr wrap="square" rtlCol="0" anchor="ctr"/>
          <a:lstStyle/>
          <a:p>
            <a:pPr algn="l" indent="0" marL="0">
              <a:buNone/>
            </a:pPr>
            <a:r>
              <a:rPr lang="en-US" sz="1300" i="1" dirty="0">
                <a:solidFill>
                  <a:srgbClr val="9AA0C4"/>
                </a:solidFill>
                <a:latin typeface="Calibri" pitchFamily="34" charset="0"/>
                <a:ea typeface="Calibri" pitchFamily="34" charset="-122"/>
                <a:cs typeface="Calibri" pitchFamily="34" charset="-120"/>
              </a:rPr>
              <a:t>An 8-minute overview: the problem, the science, and the honest limits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868680"/>
          </a:xfrm>
          <a:prstGeom prst="rect">
            <a:avLst/>
          </a:prstGeom>
          <a:noFill/>
          <a:ln/>
        </p:spPr>
        <p:txBody>
          <a:bodyPr wrap="square" rtlCol="0" anchor="ctr"/>
          <a:lstStyle/>
          <a:p>
            <a:pPr algn="l" indent="0" marL="0">
              <a:buNone/>
            </a:pPr>
            <a:r>
              <a:rPr lang="en-US" sz="3000" b="1" dirty="0">
                <a:solidFill>
                  <a:srgbClr val="1E2247"/>
                </a:solidFill>
                <a:latin typeface="Cambria" pitchFamily="34" charset="0"/>
                <a:ea typeface="Cambria" pitchFamily="34" charset="-122"/>
                <a:cs typeface="Cambria" pitchFamily="34" charset="-120"/>
              </a:rPr>
              <a:t>The problem: sleep is treated as dead time</a:t>
            </a:r>
            <a:endParaRPr lang="en-US" sz="3000" dirty="0"/>
          </a:p>
        </p:txBody>
      </p:sp>
      <p:sp>
        <p:nvSpPr>
          <p:cNvPr id="3" name="Text 1"/>
          <p:cNvSpPr/>
          <p:nvPr/>
        </p:nvSpPr>
        <p:spPr>
          <a:xfrm>
            <a:off x="548640" y="1234440"/>
            <a:ext cx="6766560" cy="822960"/>
          </a:xfrm>
          <a:prstGeom prst="rect">
            <a:avLst/>
          </a:prstGeom>
          <a:noFill/>
          <a:ln/>
        </p:spPr>
        <p:txBody>
          <a:bodyPr wrap="square" rtlCol="0" anchor="t"/>
          <a:lstStyle/>
          <a:p>
            <a:pPr algn="l" indent="0" marL="0">
              <a:buNone/>
            </a:pPr>
            <a:r>
              <a:rPr lang="en-US" sz="1500" dirty="0">
                <a:solidFill>
                  <a:srgbClr val="5B6178"/>
                </a:solidFill>
                <a:latin typeface="Calibri" pitchFamily="34" charset="0"/>
                <a:ea typeface="Calibri" pitchFamily="34" charset="-122"/>
                <a:cs typeface="Calibri" pitchFamily="34" charset="-120"/>
              </a:rPr>
              <a:t>We spend roughly a third of life asleep, yet it is mostly unmanaged — and the stage that restores us fades with age.</a:t>
            </a:r>
            <a:endParaRPr lang="en-US" sz="1500" dirty="0"/>
          </a:p>
        </p:txBody>
      </p:sp>
      <p:sp>
        <p:nvSpPr>
          <p:cNvPr id="4" name="Shape 2"/>
          <p:cNvSpPr/>
          <p:nvPr/>
        </p:nvSpPr>
        <p:spPr>
          <a:xfrm>
            <a:off x="548640" y="2286000"/>
            <a:ext cx="402336" cy="402336"/>
          </a:xfrm>
          <a:prstGeom prst="ellipse">
            <a:avLst/>
          </a:prstGeom>
          <a:solidFill>
            <a:srgbClr val="5B6CE8"/>
          </a:solidFill>
          <a:ln/>
        </p:spPr>
      </p:sp>
      <p:sp>
        <p:nvSpPr>
          <p:cNvPr id="5" name="Text 3"/>
          <p:cNvSpPr/>
          <p:nvPr/>
        </p:nvSpPr>
        <p:spPr>
          <a:xfrm>
            <a:off x="548640" y="22860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15568" y="2231136"/>
            <a:ext cx="6199632" cy="384048"/>
          </a:xfrm>
          <a:prstGeom prst="rect">
            <a:avLst/>
          </a:prstGeom>
          <a:noFill/>
          <a:ln/>
        </p:spPr>
        <p:txBody>
          <a:bodyPr wrap="square" lIns="0" tIns="0" rIns="0" bIns="0" rtlCol="0" anchor="ctr"/>
          <a:lstStyle/>
          <a:p>
            <a:pPr algn="l" indent="0" marL="0">
              <a:buNone/>
            </a:pPr>
            <a:r>
              <a:rPr lang="en-US" sz="1500" b="1" dirty="0">
                <a:solidFill>
                  <a:srgbClr val="1E2247"/>
                </a:solidFill>
                <a:latin typeface="Calibri" pitchFamily="34" charset="0"/>
                <a:ea typeface="Calibri" pitchFamily="34" charset="-122"/>
                <a:cs typeface="Calibri" pitchFamily="34" charset="-120"/>
              </a:rPr>
              <a:t>A third of life, largely passive</a:t>
            </a:r>
            <a:endParaRPr lang="en-US" sz="1500" dirty="0"/>
          </a:p>
        </p:txBody>
      </p:sp>
      <p:sp>
        <p:nvSpPr>
          <p:cNvPr id="7" name="Text 5"/>
          <p:cNvSpPr/>
          <p:nvPr/>
        </p:nvSpPr>
        <p:spPr>
          <a:xfrm>
            <a:off x="1115568" y="2596896"/>
            <a:ext cx="6199632" cy="676656"/>
          </a:xfrm>
          <a:prstGeom prst="rect">
            <a:avLst/>
          </a:prstGeom>
          <a:noFill/>
          <a:ln/>
        </p:spPr>
        <p:txBody>
          <a:bodyPr wrap="square" lIns="0" tIns="0" rIns="0" bIns="0" rtlCol="0" anchor="t"/>
          <a:lstStyle/>
          <a:p>
            <a:pPr algn="l" indent="0" marL="0">
              <a:buNone/>
            </a:pPr>
            <a:r>
              <a:rPr lang="en-US" sz="1250" dirty="0">
                <a:solidFill>
                  <a:srgbClr val="5B6178"/>
                </a:solidFill>
                <a:latin typeface="Calibri" pitchFamily="34" charset="0"/>
                <a:ea typeface="Calibri" pitchFamily="34" charset="-122"/>
                <a:cs typeface="Calibri" pitchFamily="34" charset="-120"/>
              </a:rPr>
              <a:t>8 hours a night is time we can barely observe, let alone shape.</a:t>
            </a:r>
            <a:endParaRPr lang="en-US" sz="1250" dirty="0"/>
          </a:p>
        </p:txBody>
      </p:sp>
      <p:sp>
        <p:nvSpPr>
          <p:cNvPr id="8" name="Shape 6"/>
          <p:cNvSpPr/>
          <p:nvPr/>
        </p:nvSpPr>
        <p:spPr>
          <a:xfrm>
            <a:off x="548640" y="3520440"/>
            <a:ext cx="402336" cy="402336"/>
          </a:xfrm>
          <a:prstGeom prst="ellipse">
            <a:avLst/>
          </a:prstGeom>
          <a:solidFill>
            <a:srgbClr val="5B6CE8"/>
          </a:solidFill>
          <a:ln/>
        </p:spPr>
      </p:sp>
      <p:sp>
        <p:nvSpPr>
          <p:cNvPr id="9" name="Text 7"/>
          <p:cNvSpPr/>
          <p:nvPr/>
        </p:nvSpPr>
        <p:spPr>
          <a:xfrm>
            <a:off x="548640" y="352044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15568" y="3465576"/>
            <a:ext cx="6199632" cy="384048"/>
          </a:xfrm>
          <a:prstGeom prst="rect">
            <a:avLst/>
          </a:prstGeom>
          <a:noFill/>
          <a:ln/>
        </p:spPr>
        <p:txBody>
          <a:bodyPr wrap="square" lIns="0" tIns="0" rIns="0" bIns="0" rtlCol="0" anchor="ctr"/>
          <a:lstStyle/>
          <a:p>
            <a:pPr algn="l" indent="0" marL="0">
              <a:buNone/>
            </a:pPr>
            <a:r>
              <a:rPr lang="en-US" sz="1500" b="1" dirty="0">
                <a:solidFill>
                  <a:srgbClr val="1E2247"/>
                </a:solidFill>
                <a:latin typeface="Calibri" pitchFamily="34" charset="0"/>
                <a:ea typeface="Calibri" pitchFamily="34" charset="-122"/>
                <a:cs typeface="Calibri" pitchFamily="34" charset="-120"/>
              </a:rPr>
              <a:t>Deep sleep declines with age</a:t>
            </a:r>
            <a:endParaRPr lang="en-US" sz="1500" dirty="0"/>
          </a:p>
        </p:txBody>
      </p:sp>
      <p:sp>
        <p:nvSpPr>
          <p:cNvPr id="11" name="Text 9"/>
          <p:cNvSpPr/>
          <p:nvPr/>
        </p:nvSpPr>
        <p:spPr>
          <a:xfrm>
            <a:off x="1115568" y="3831336"/>
            <a:ext cx="6199632" cy="676656"/>
          </a:xfrm>
          <a:prstGeom prst="rect">
            <a:avLst/>
          </a:prstGeom>
          <a:noFill/>
          <a:ln/>
        </p:spPr>
        <p:txBody>
          <a:bodyPr wrap="square" lIns="0" tIns="0" rIns="0" bIns="0" rtlCol="0" anchor="t"/>
          <a:lstStyle/>
          <a:p>
            <a:pPr algn="l" indent="0" marL="0">
              <a:buNone/>
            </a:pPr>
            <a:r>
              <a:rPr lang="en-US" sz="1250" dirty="0">
                <a:solidFill>
                  <a:srgbClr val="5B6178"/>
                </a:solidFill>
                <a:latin typeface="Calibri" pitchFamily="34" charset="0"/>
                <a:ea typeface="Calibri" pitchFamily="34" charset="-122"/>
                <a:cs typeface="Calibri" pitchFamily="34" charset="-120"/>
              </a:rPr>
              <a:t>Slow-wave sleep — when the brain consolidates memory and recovers — shrinks as we get older.</a:t>
            </a:r>
            <a:endParaRPr lang="en-US" sz="1250" dirty="0"/>
          </a:p>
        </p:txBody>
      </p:sp>
      <p:sp>
        <p:nvSpPr>
          <p:cNvPr id="12" name="Shape 10"/>
          <p:cNvSpPr/>
          <p:nvPr/>
        </p:nvSpPr>
        <p:spPr>
          <a:xfrm>
            <a:off x="548640" y="4754880"/>
            <a:ext cx="402336" cy="402336"/>
          </a:xfrm>
          <a:prstGeom prst="ellipse">
            <a:avLst/>
          </a:prstGeom>
          <a:solidFill>
            <a:srgbClr val="5B6CE8"/>
          </a:solidFill>
          <a:ln/>
        </p:spPr>
      </p:sp>
      <p:sp>
        <p:nvSpPr>
          <p:cNvPr id="13" name="Text 11"/>
          <p:cNvSpPr/>
          <p:nvPr/>
        </p:nvSpPr>
        <p:spPr>
          <a:xfrm>
            <a:off x="548640" y="475488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15568" y="4700016"/>
            <a:ext cx="6199632" cy="384048"/>
          </a:xfrm>
          <a:prstGeom prst="rect">
            <a:avLst/>
          </a:prstGeom>
          <a:noFill/>
          <a:ln/>
        </p:spPr>
        <p:txBody>
          <a:bodyPr wrap="square" lIns="0" tIns="0" rIns="0" bIns="0" rtlCol="0" anchor="ctr"/>
          <a:lstStyle/>
          <a:p>
            <a:pPr algn="l" indent="0" marL="0">
              <a:buNone/>
            </a:pPr>
            <a:r>
              <a:rPr lang="en-US" sz="1500" b="1" dirty="0">
                <a:solidFill>
                  <a:srgbClr val="1E2247"/>
                </a:solidFill>
                <a:latin typeface="Calibri" pitchFamily="34" charset="0"/>
                <a:ea typeface="Calibri" pitchFamily="34" charset="-122"/>
                <a:cs typeface="Calibri" pitchFamily="34" charset="-120"/>
              </a:rPr>
              <a:t>The tools are locked in the lab</a:t>
            </a:r>
            <a:endParaRPr lang="en-US" sz="1500" dirty="0"/>
          </a:p>
        </p:txBody>
      </p:sp>
      <p:sp>
        <p:nvSpPr>
          <p:cNvPr id="15" name="Text 13"/>
          <p:cNvSpPr/>
          <p:nvPr/>
        </p:nvSpPr>
        <p:spPr>
          <a:xfrm>
            <a:off x="1115568" y="5065776"/>
            <a:ext cx="6199632" cy="676656"/>
          </a:xfrm>
          <a:prstGeom prst="rect">
            <a:avLst/>
          </a:prstGeom>
          <a:noFill/>
          <a:ln/>
        </p:spPr>
        <p:txBody>
          <a:bodyPr wrap="square" lIns="0" tIns="0" rIns="0" bIns="0" rtlCol="0" anchor="t"/>
          <a:lstStyle/>
          <a:p>
            <a:pPr algn="l" indent="0" marL="0">
              <a:buNone/>
            </a:pPr>
            <a:r>
              <a:rPr lang="en-US" sz="1250" dirty="0">
                <a:solidFill>
                  <a:srgbClr val="5B6178"/>
                </a:solidFill>
                <a:latin typeface="Calibri" pitchFamily="34" charset="0"/>
                <a:ea typeface="Calibri" pitchFamily="34" charset="-122"/>
                <a:cs typeface="Calibri" pitchFamily="34" charset="-120"/>
              </a:rPr>
              <a:t>Acoustic slow-wave stimulation and lucid-dream cueing work in EEG studies, but need clinical hardware.</a:t>
            </a:r>
            <a:endParaRPr lang="en-US" sz="1250" dirty="0"/>
          </a:p>
        </p:txBody>
      </p:sp>
      <p:sp>
        <p:nvSpPr>
          <p:cNvPr id="16" name="Shape 14"/>
          <p:cNvSpPr/>
          <p:nvPr/>
        </p:nvSpPr>
        <p:spPr>
          <a:xfrm>
            <a:off x="7772400" y="1463040"/>
            <a:ext cx="3840480" cy="3931920"/>
          </a:xfrm>
          <a:prstGeom prst="roundRect">
            <a:avLst>
              <a:gd name="adj" fmla="val 2143"/>
            </a:avLst>
          </a:prstGeom>
          <a:solidFill>
            <a:srgbClr val="1E2247"/>
          </a:solidFill>
          <a:ln w="12700">
            <a:solidFill>
              <a:srgbClr val="1E2247"/>
            </a:solidFill>
            <a:prstDash val="solid"/>
          </a:ln>
        </p:spPr>
      </p:sp>
      <p:sp>
        <p:nvSpPr>
          <p:cNvPr id="17" name="Shape 15"/>
          <p:cNvSpPr/>
          <p:nvPr/>
        </p:nvSpPr>
        <p:spPr>
          <a:xfrm>
            <a:off x="10625328" y="1709928"/>
            <a:ext cx="512064" cy="512064"/>
          </a:xfrm>
          <a:prstGeom prst="ellipse">
            <a:avLst/>
          </a:prstGeom>
          <a:solidFill>
            <a:srgbClr val="F5F0E1"/>
          </a:solidFill>
          <a:ln/>
        </p:spPr>
      </p:sp>
      <p:sp>
        <p:nvSpPr>
          <p:cNvPr id="18" name="Shape 16"/>
          <p:cNvSpPr/>
          <p:nvPr/>
        </p:nvSpPr>
        <p:spPr>
          <a:xfrm>
            <a:off x="10784068" y="1674084"/>
            <a:ext cx="512064" cy="512064"/>
          </a:xfrm>
          <a:prstGeom prst="ellipse">
            <a:avLst/>
          </a:prstGeom>
          <a:solidFill>
            <a:srgbClr val="1E2247"/>
          </a:solidFill>
          <a:ln/>
        </p:spPr>
      </p:sp>
      <p:sp>
        <p:nvSpPr>
          <p:cNvPr id="19" name="Text 17"/>
          <p:cNvSpPr/>
          <p:nvPr/>
        </p:nvSpPr>
        <p:spPr>
          <a:xfrm>
            <a:off x="7772400" y="2148840"/>
            <a:ext cx="3840480" cy="1097280"/>
          </a:xfrm>
          <a:prstGeom prst="rect">
            <a:avLst/>
          </a:prstGeom>
          <a:noFill/>
          <a:ln/>
        </p:spPr>
        <p:txBody>
          <a:bodyPr wrap="square" rtlCol="0" anchor="ctr"/>
          <a:lstStyle/>
          <a:p>
            <a:pPr algn="ctr" indent="0" marL="0">
              <a:buNone/>
            </a:pPr>
            <a:r>
              <a:rPr lang="en-US" sz="6600" b="1" dirty="0">
                <a:solidFill>
                  <a:srgbClr val="F5F0E1"/>
                </a:solidFill>
                <a:latin typeface="Cambria" pitchFamily="34" charset="0"/>
                <a:ea typeface="Cambria" pitchFamily="34" charset="-122"/>
                <a:cs typeface="Cambria" pitchFamily="34" charset="-120"/>
              </a:rPr>
              <a:t>~1/3</a:t>
            </a:r>
            <a:endParaRPr lang="en-US" sz="6600" dirty="0"/>
          </a:p>
        </p:txBody>
      </p:sp>
      <p:sp>
        <p:nvSpPr>
          <p:cNvPr id="20" name="Text 18"/>
          <p:cNvSpPr/>
          <p:nvPr/>
        </p:nvSpPr>
        <p:spPr>
          <a:xfrm>
            <a:off x="7955280" y="3246120"/>
            <a:ext cx="3474720" cy="457200"/>
          </a:xfrm>
          <a:prstGeom prst="rect">
            <a:avLst/>
          </a:prstGeom>
          <a:noFill/>
          <a:ln/>
        </p:spPr>
        <p:txBody>
          <a:bodyPr wrap="square"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of your life is spent asleep</a:t>
            </a:r>
            <a:endParaRPr lang="en-US" sz="1500" dirty="0"/>
          </a:p>
        </p:txBody>
      </p:sp>
      <p:sp>
        <p:nvSpPr>
          <p:cNvPr id="21" name="Text 19"/>
          <p:cNvSpPr/>
          <p:nvPr/>
        </p:nvSpPr>
        <p:spPr>
          <a:xfrm>
            <a:off x="8046720" y="3977640"/>
            <a:ext cx="3291840" cy="1188720"/>
          </a:xfrm>
          <a:prstGeom prst="rect">
            <a:avLst/>
          </a:prstGeom>
          <a:noFill/>
          <a:ln/>
        </p:spPr>
        <p:txBody>
          <a:bodyPr wrap="square" rtlCol="0" anchor="t"/>
          <a:lstStyle/>
          <a:p>
            <a:pPr algn="ctr" indent="0" marL="0">
              <a:buNone/>
            </a:pPr>
            <a:r>
              <a:rPr lang="en-US" sz="1300" i="1" dirty="0">
                <a:solidFill>
                  <a:srgbClr val="C7CDF0"/>
                </a:solidFill>
                <a:latin typeface="Calibri" pitchFamily="34" charset="0"/>
                <a:ea typeface="Calibri" pitchFamily="34" charset="-122"/>
                <a:cs typeface="Calibri" pitchFamily="34" charset="-120"/>
              </a:rPr>
              <a:t>Dream Sync asks: can consumer hardware you already own act on that time — safely?</a:t>
            </a:r>
            <a:endParaRPr lang="en-US" sz="1300" dirty="0"/>
          </a:p>
        </p:txBody>
      </p:sp>
      <p:sp>
        <p:nvSpPr>
          <p:cNvPr id="22" name="Shape 20"/>
          <p:cNvSpPr/>
          <p:nvPr/>
        </p:nvSpPr>
        <p:spPr>
          <a:xfrm>
            <a:off x="557784" y="6355080"/>
            <a:ext cx="201168" cy="201168"/>
          </a:xfrm>
          <a:prstGeom prst="ellipse">
            <a:avLst/>
          </a:prstGeom>
          <a:solidFill>
            <a:srgbClr val="F5F0E1"/>
          </a:solidFill>
          <a:ln/>
        </p:spPr>
      </p:sp>
      <p:sp>
        <p:nvSpPr>
          <p:cNvPr id="23" name="Shape 21"/>
          <p:cNvSpPr/>
          <p:nvPr/>
        </p:nvSpPr>
        <p:spPr>
          <a:xfrm>
            <a:off x="620146" y="6340998"/>
            <a:ext cx="201168" cy="201168"/>
          </a:xfrm>
          <a:prstGeom prst="ellipse">
            <a:avLst/>
          </a:prstGeom>
          <a:solidFill>
            <a:srgbClr val="FFFFFF"/>
          </a:solidFill>
          <a:ln/>
        </p:spPr>
      </p:sp>
      <p:sp>
        <p:nvSpPr>
          <p:cNvPr id="24" name="Text 22"/>
          <p:cNvSpPr/>
          <p:nvPr/>
        </p:nvSpPr>
        <p:spPr>
          <a:xfrm>
            <a:off x="841248" y="6245352"/>
            <a:ext cx="2743200" cy="365760"/>
          </a:xfrm>
          <a:prstGeom prst="rect">
            <a:avLst/>
          </a:prstGeom>
          <a:noFill/>
          <a:ln/>
        </p:spPr>
        <p:txBody>
          <a:bodyPr wrap="square" rtlCol="0" anchor="ctr"/>
          <a:lstStyle/>
          <a:p>
            <a:pPr algn="l" indent="0" marL="0">
              <a:buNone/>
            </a:pPr>
            <a:r>
              <a:rPr lang="en-US" sz="900" dirty="0">
                <a:solidFill>
                  <a:srgbClr val="8A90A6"/>
                </a:solidFill>
                <a:latin typeface="Calibri" pitchFamily="34" charset="0"/>
                <a:ea typeface="Calibri" pitchFamily="34" charset="-122"/>
                <a:cs typeface="Calibri" pitchFamily="34" charset="-120"/>
              </a:rPr>
              <a:t>Dream Sync</a:t>
            </a:r>
            <a:endParaRPr lang="en-US" sz="900" dirty="0"/>
          </a:p>
        </p:txBody>
      </p:sp>
      <p:sp>
        <p:nvSpPr>
          <p:cNvPr id="25" name="Text 23"/>
          <p:cNvSpPr/>
          <p:nvPr/>
        </p:nvSpPr>
        <p:spPr>
          <a:xfrm>
            <a:off x="11247120" y="6245352"/>
            <a:ext cx="457200" cy="365760"/>
          </a:xfrm>
          <a:prstGeom prst="rect">
            <a:avLst/>
          </a:prstGeom>
          <a:noFill/>
          <a:ln/>
        </p:spPr>
        <p:txBody>
          <a:bodyPr wrap="square" rtlCol="0" anchor="ctr"/>
          <a:lstStyle/>
          <a:p>
            <a:pPr algn="r" indent="0" marL="0">
              <a:buNone/>
            </a:pPr>
            <a:r>
              <a:rPr lang="en-US" sz="900" dirty="0">
                <a:solidFill>
                  <a:srgbClr val="8A90A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868680"/>
          </a:xfrm>
          <a:prstGeom prst="rect">
            <a:avLst/>
          </a:prstGeom>
          <a:noFill/>
          <a:ln/>
        </p:spPr>
        <p:txBody>
          <a:bodyPr wrap="square" rtlCol="0" anchor="ctr"/>
          <a:lstStyle/>
          <a:p>
            <a:pPr algn="l" indent="0" marL="0">
              <a:buNone/>
            </a:pPr>
            <a:r>
              <a:rPr lang="en-US" sz="3000" b="1" dirty="0">
                <a:solidFill>
                  <a:srgbClr val="1E2247"/>
                </a:solidFill>
                <a:latin typeface="Cambria" pitchFamily="34" charset="0"/>
                <a:ea typeface="Cambria" pitchFamily="34" charset="-122"/>
                <a:cs typeface="Cambria" pitchFamily="34" charset="-120"/>
              </a:rPr>
              <a:t>What Dream Sync does</a:t>
            </a:r>
            <a:endParaRPr lang="en-US" sz="3000" dirty="0"/>
          </a:p>
        </p:txBody>
      </p:sp>
      <p:sp>
        <p:nvSpPr>
          <p:cNvPr id="3" name="Text 1"/>
          <p:cNvSpPr/>
          <p:nvPr/>
        </p:nvSpPr>
        <p:spPr>
          <a:xfrm>
            <a:off x="548640" y="1188720"/>
            <a:ext cx="10972800" cy="640080"/>
          </a:xfrm>
          <a:prstGeom prst="rect">
            <a:avLst/>
          </a:prstGeom>
          <a:noFill/>
          <a:ln/>
        </p:spPr>
        <p:txBody>
          <a:bodyPr wrap="square" rtlCol="0" anchor="t"/>
          <a:lstStyle/>
          <a:p>
            <a:pPr algn="l" indent="0" marL="0">
              <a:buNone/>
            </a:pPr>
            <a:r>
              <a:rPr lang="en-US" sz="1600" dirty="0">
                <a:solidFill>
                  <a:srgbClr val="5B6178"/>
                </a:solidFill>
                <a:latin typeface="Calibri" pitchFamily="34" charset="0"/>
                <a:ea typeface="Calibri" pitchFamily="34" charset="-122"/>
                <a:cs typeface="Calibri" pitchFamily="34" charset="-120"/>
              </a:rPr>
              <a:t>A phone + smartwatch pair that estimates your sleep state and plays quiet, precisely-timed audio cues — no EEG, no lab.</a:t>
            </a:r>
            <a:endParaRPr lang="en-US" sz="1600" dirty="0"/>
          </a:p>
        </p:txBody>
      </p:sp>
      <p:sp>
        <p:nvSpPr>
          <p:cNvPr id="4" name="Shape 2"/>
          <p:cNvSpPr/>
          <p:nvPr/>
        </p:nvSpPr>
        <p:spPr>
          <a:xfrm>
            <a:off x="548640" y="2057400"/>
            <a:ext cx="5394960" cy="2423160"/>
          </a:xfrm>
          <a:prstGeom prst="roundRect">
            <a:avLst>
              <a:gd name="adj" fmla="val 3396"/>
            </a:avLst>
          </a:prstGeom>
          <a:solidFill>
            <a:srgbClr val="F2F4FD"/>
          </a:solidFill>
          <a:ln w="12700">
            <a:solidFill>
              <a:srgbClr val="DDE2F7"/>
            </a:solidFill>
            <a:prstDash val="solid"/>
          </a:ln>
        </p:spPr>
      </p:sp>
      <p:sp>
        <p:nvSpPr>
          <p:cNvPr id="5" name="Shape 3"/>
          <p:cNvSpPr/>
          <p:nvPr/>
        </p:nvSpPr>
        <p:spPr>
          <a:xfrm>
            <a:off x="868680" y="2377440"/>
            <a:ext cx="457200" cy="457200"/>
          </a:xfrm>
          <a:prstGeom prst="ellipse">
            <a:avLst/>
          </a:prstGeom>
          <a:solidFill>
            <a:srgbClr val="5B6CE8"/>
          </a:solidFill>
          <a:ln/>
        </p:spPr>
      </p:sp>
      <p:sp>
        <p:nvSpPr>
          <p:cNvPr id="6" name="Text 4"/>
          <p:cNvSpPr/>
          <p:nvPr/>
        </p:nvSpPr>
        <p:spPr>
          <a:xfrm>
            <a:off x="1508760" y="2331720"/>
            <a:ext cx="4114800" cy="502920"/>
          </a:xfrm>
          <a:prstGeom prst="rect">
            <a:avLst/>
          </a:prstGeom>
          <a:noFill/>
          <a:ln/>
        </p:spPr>
        <p:txBody>
          <a:bodyPr wrap="square" lIns="0" tIns="0" rIns="0" bIns="0" rtlCol="0" anchor="ctr"/>
          <a:lstStyle/>
          <a:p>
            <a:pPr indent="0" marL="0">
              <a:buNone/>
            </a:pPr>
            <a:r>
              <a:rPr lang="en-US" sz="1800" b="1" dirty="0">
                <a:solidFill>
                  <a:srgbClr val="1E2247"/>
                </a:solidFill>
                <a:latin typeface="Calibri" pitchFamily="34" charset="0"/>
                <a:ea typeface="Calibri" pitchFamily="34" charset="-122"/>
                <a:cs typeface="Calibri" pitchFamily="34" charset="-120"/>
              </a:rPr>
              <a:t>Deep cue</a:t>
            </a:r>
            <a:endParaRPr lang="en-US" sz="1800" dirty="0"/>
          </a:p>
        </p:txBody>
      </p:sp>
      <p:sp>
        <p:nvSpPr>
          <p:cNvPr id="7" name="Text 5"/>
          <p:cNvSpPr/>
          <p:nvPr/>
        </p:nvSpPr>
        <p:spPr>
          <a:xfrm>
            <a:off x="868680" y="3063240"/>
            <a:ext cx="4754880" cy="1280160"/>
          </a:xfrm>
          <a:prstGeom prst="rect">
            <a:avLst/>
          </a:prstGeom>
          <a:noFill/>
          <a:ln/>
        </p:spPr>
        <p:txBody>
          <a:bodyPr wrap="square" lIns="0" tIns="0" rIns="0" bIns="0" rtlCol="0" anchor="t"/>
          <a:lstStyle/>
          <a:p>
            <a:pPr indent="0" marL="0">
              <a:buNone/>
            </a:pPr>
            <a:r>
              <a:rPr lang="en-US" sz="1350" dirty="0">
                <a:solidFill>
                  <a:srgbClr val="5B6178"/>
                </a:solidFill>
                <a:latin typeface="Calibri" pitchFamily="34" charset="0"/>
                <a:ea typeface="Calibri" pitchFamily="34" charset="-122"/>
                <a:cs typeface="Calibri" pitchFamily="34" charset="-120"/>
              </a:rPr>
              <a:t>Paired pink-noise bursts, played during probable early-night deep (NREM) sleep to nudge slow-wave activity.</a:t>
            </a:r>
            <a:endParaRPr lang="en-US" sz="1350" dirty="0"/>
          </a:p>
        </p:txBody>
      </p:sp>
      <p:sp>
        <p:nvSpPr>
          <p:cNvPr id="8" name="Shape 6"/>
          <p:cNvSpPr/>
          <p:nvPr/>
        </p:nvSpPr>
        <p:spPr>
          <a:xfrm>
            <a:off x="6263640" y="2057400"/>
            <a:ext cx="5394960" cy="2423160"/>
          </a:xfrm>
          <a:prstGeom prst="roundRect">
            <a:avLst>
              <a:gd name="adj" fmla="val 3396"/>
            </a:avLst>
          </a:prstGeom>
          <a:solidFill>
            <a:srgbClr val="F2F4FD"/>
          </a:solidFill>
          <a:ln w="12700">
            <a:solidFill>
              <a:srgbClr val="DDE2F7"/>
            </a:solidFill>
            <a:prstDash val="solid"/>
          </a:ln>
        </p:spPr>
      </p:sp>
      <p:sp>
        <p:nvSpPr>
          <p:cNvPr id="9" name="Shape 7"/>
          <p:cNvSpPr/>
          <p:nvPr/>
        </p:nvSpPr>
        <p:spPr>
          <a:xfrm>
            <a:off x="6583680" y="2377440"/>
            <a:ext cx="457200" cy="457200"/>
          </a:xfrm>
          <a:prstGeom prst="ellipse">
            <a:avLst/>
          </a:prstGeom>
          <a:solidFill>
            <a:srgbClr val="818CF8"/>
          </a:solidFill>
          <a:ln/>
        </p:spPr>
      </p:sp>
      <p:sp>
        <p:nvSpPr>
          <p:cNvPr id="10" name="Text 8"/>
          <p:cNvSpPr/>
          <p:nvPr/>
        </p:nvSpPr>
        <p:spPr>
          <a:xfrm>
            <a:off x="7223760" y="2331720"/>
            <a:ext cx="4114800" cy="502920"/>
          </a:xfrm>
          <a:prstGeom prst="rect">
            <a:avLst/>
          </a:prstGeom>
          <a:noFill/>
          <a:ln/>
        </p:spPr>
        <p:txBody>
          <a:bodyPr wrap="square" lIns="0" tIns="0" rIns="0" bIns="0" rtlCol="0" anchor="ctr"/>
          <a:lstStyle/>
          <a:p>
            <a:pPr indent="0" marL="0">
              <a:buNone/>
            </a:pPr>
            <a:r>
              <a:rPr lang="en-US" sz="1800" b="1" dirty="0">
                <a:solidFill>
                  <a:srgbClr val="1E2247"/>
                </a:solidFill>
                <a:latin typeface="Calibri" pitchFamily="34" charset="0"/>
                <a:ea typeface="Calibri" pitchFamily="34" charset="-122"/>
                <a:cs typeface="Calibri" pitchFamily="34" charset="-120"/>
              </a:rPr>
              <a:t>Lucid cue</a:t>
            </a:r>
            <a:endParaRPr lang="en-US" sz="1800" dirty="0"/>
          </a:p>
        </p:txBody>
      </p:sp>
      <p:sp>
        <p:nvSpPr>
          <p:cNvPr id="11" name="Text 9"/>
          <p:cNvSpPr/>
          <p:nvPr/>
        </p:nvSpPr>
        <p:spPr>
          <a:xfrm>
            <a:off x="6583680" y="3063240"/>
            <a:ext cx="4754880" cy="1280160"/>
          </a:xfrm>
          <a:prstGeom prst="rect">
            <a:avLst/>
          </a:prstGeom>
          <a:noFill/>
          <a:ln/>
        </p:spPr>
        <p:txBody>
          <a:bodyPr wrap="square" lIns="0" tIns="0" rIns="0" bIns="0" rtlCol="0" anchor="t"/>
          <a:lstStyle/>
          <a:p>
            <a:pPr indent="0" marL="0">
              <a:buNone/>
            </a:pPr>
            <a:r>
              <a:rPr lang="en-US" sz="1350" dirty="0">
                <a:solidFill>
                  <a:srgbClr val="5B6178"/>
                </a:solidFill>
                <a:latin typeface="Calibri" pitchFamily="34" charset="0"/>
                <a:ea typeface="Calibri" pitchFamily="34" charset="-122"/>
                <a:cs typeface="Calibri" pitchFamily="34" charset="-120"/>
              </a:rPr>
              <a:t>A distinctive two-tone chime (660 / 880 Hz), played during probable late-night REM as a prompt for lucid awareness.</a:t>
            </a:r>
            <a:endParaRPr lang="en-US" sz="1350" dirty="0"/>
          </a:p>
        </p:txBody>
      </p:sp>
      <p:sp>
        <p:nvSpPr>
          <p:cNvPr id="12" name="Shape 10"/>
          <p:cNvSpPr/>
          <p:nvPr/>
        </p:nvSpPr>
        <p:spPr>
          <a:xfrm>
            <a:off x="548640" y="4800600"/>
            <a:ext cx="11109960" cy="1051560"/>
          </a:xfrm>
          <a:prstGeom prst="roundRect">
            <a:avLst>
              <a:gd name="adj" fmla="val 7826"/>
            </a:avLst>
          </a:prstGeom>
          <a:solidFill>
            <a:srgbClr val="1E2247"/>
          </a:solidFill>
          <a:ln w="12700">
            <a:solidFill>
              <a:srgbClr val="1E2247"/>
            </a:solidFill>
            <a:prstDash val="solid"/>
          </a:ln>
        </p:spPr>
      </p:sp>
      <p:sp>
        <p:nvSpPr>
          <p:cNvPr id="13" name="Text 11"/>
          <p:cNvSpPr/>
          <p:nvPr/>
        </p:nvSpPr>
        <p:spPr>
          <a:xfrm>
            <a:off x="914400" y="4983480"/>
            <a:ext cx="2377440" cy="6858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Watch</a:t>
            </a:r>
            <a:endParaRPr lang="en-US" sz="1500" dirty="0"/>
          </a:p>
        </p:txBody>
      </p:sp>
      <p:sp>
        <p:nvSpPr>
          <p:cNvPr id="14" name="Text 12"/>
          <p:cNvSpPr/>
          <p:nvPr/>
        </p:nvSpPr>
        <p:spPr>
          <a:xfrm>
            <a:off x="914400" y="5321808"/>
            <a:ext cx="5120640" cy="36576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motion + heart-rate sensing · sleep-stage estimate · cue gating</a:t>
            </a:r>
            <a:endParaRPr lang="en-US" sz="1150" dirty="0"/>
          </a:p>
        </p:txBody>
      </p:sp>
      <p:sp>
        <p:nvSpPr>
          <p:cNvPr id="15" name="Shape 13"/>
          <p:cNvSpPr/>
          <p:nvPr/>
        </p:nvSpPr>
        <p:spPr>
          <a:xfrm>
            <a:off x="6172200" y="5120640"/>
            <a:ext cx="822960" cy="411480"/>
          </a:xfrm>
          <a:prstGeom prst="rightArrow">
            <a:avLst/>
          </a:prstGeom>
          <a:solidFill>
            <a:srgbClr val="5B6CE8"/>
          </a:solidFill>
          <a:ln/>
        </p:spPr>
      </p:sp>
      <p:sp>
        <p:nvSpPr>
          <p:cNvPr id="16" name="Text 14"/>
          <p:cNvSpPr/>
          <p:nvPr/>
        </p:nvSpPr>
        <p:spPr>
          <a:xfrm>
            <a:off x="7315200" y="4983480"/>
            <a:ext cx="2377440" cy="6858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Phone</a:t>
            </a:r>
            <a:endParaRPr lang="en-US" sz="1500" dirty="0"/>
          </a:p>
        </p:txBody>
      </p:sp>
      <p:sp>
        <p:nvSpPr>
          <p:cNvPr id="17" name="Text 15"/>
          <p:cNvSpPr/>
          <p:nvPr/>
        </p:nvSpPr>
        <p:spPr>
          <a:xfrm>
            <a:off x="7315200" y="5321808"/>
            <a:ext cx="4114800" cy="36576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plays calibrated low-volume audio cues on command</a:t>
            </a:r>
            <a:endParaRPr lang="en-US" sz="1150" dirty="0"/>
          </a:p>
        </p:txBody>
      </p:sp>
      <p:sp>
        <p:nvSpPr>
          <p:cNvPr id="18" name="Shape 16"/>
          <p:cNvSpPr/>
          <p:nvPr/>
        </p:nvSpPr>
        <p:spPr>
          <a:xfrm>
            <a:off x="557784" y="6355080"/>
            <a:ext cx="201168" cy="201168"/>
          </a:xfrm>
          <a:prstGeom prst="ellipse">
            <a:avLst/>
          </a:prstGeom>
          <a:solidFill>
            <a:srgbClr val="F5F0E1"/>
          </a:solidFill>
          <a:ln/>
        </p:spPr>
      </p:sp>
      <p:sp>
        <p:nvSpPr>
          <p:cNvPr id="19" name="Shape 17"/>
          <p:cNvSpPr/>
          <p:nvPr/>
        </p:nvSpPr>
        <p:spPr>
          <a:xfrm>
            <a:off x="620146" y="6340998"/>
            <a:ext cx="201168" cy="201168"/>
          </a:xfrm>
          <a:prstGeom prst="ellipse">
            <a:avLst/>
          </a:prstGeom>
          <a:solidFill>
            <a:srgbClr val="FFFFFF"/>
          </a:solidFill>
          <a:ln/>
        </p:spPr>
      </p:sp>
      <p:sp>
        <p:nvSpPr>
          <p:cNvPr id="20" name="Text 18"/>
          <p:cNvSpPr/>
          <p:nvPr/>
        </p:nvSpPr>
        <p:spPr>
          <a:xfrm>
            <a:off x="841248" y="6245352"/>
            <a:ext cx="2743200" cy="365760"/>
          </a:xfrm>
          <a:prstGeom prst="rect">
            <a:avLst/>
          </a:prstGeom>
          <a:noFill/>
          <a:ln/>
        </p:spPr>
        <p:txBody>
          <a:bodyPr wrap="square" rtlCol="0" anchor="ctr"/>
          <a:lstStyle/>
          <a:p>
            <a:pPr algn="l" indent="0" marL="0">
              <a:buNone/>
            </a:pPr>
            <a:r>
              <a:rPr lang="en-US" sz="900" dirty="0">
                <a:solidFill>
                  <a:srgbClr val="8A90A6"/>
                </a:solidFill>
                <a:latin typeface="Calibri" pitchFamily="34" charset="0"/>
                <a:ea typeface="Calibri" pitchFamily="34" charset="-122"/>
                <a:cs typeface="Calibri" pitchFamily="34" charset="-120"/>
              </a:rPr>
              <a:t>Dream Sync</a:t>
            </a:r>
            <a:endParaRPr lang="en-US" sz="900" dirty="0"/>
          </a:p>
        </p:txBody>
      </p:sp>
      <p:sp>
        <p:nvSpPr>
          <p:cNvPr id="21" name="Text 19"/>
          <p:cNvSpPr/>
          <p:nvPr/>
        </p:nvSpPr>
        <p:spPr>
          <a:xfrm>
            <a:off x="11247120" y="6245352"/>
            <a:ext cx="457200" cy="365760"/>
          </a:xfrm>
          <a:prstGeom prst="rect">
            <a:avLst/>
          </a:prstGeom>
          <a:noFill/>
          <a:ln/>
        </p:spPr>
        <p:txBody>
          <a:bodyPr wrap="square" rtlCol="0" anchor="ctr"/>
          <a:lstStyle/>
          <a:p>
            <a:pPr algn="r" indent="0" marL="0">
              <a:buNone/>
            </a:pPr>
            <a:r>
              <a:rPr lang="en-US" sz="900" dirty="0">
                <a:solidFill>
                  <a:srgbClr val="8A90A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868680"/>
          </a:xfrm>
          <a:prstGeom prst="rect">
            <a:avLst/>
          </a:prstGeom>
          <a:noFill/>
          <a:ln/>
        </p:spPr>
        <p:txBody>
          <a:bodyPr wrap="square" rtlCol="0" anchor="ctr"/>
          <a:lstStyle/>
          <a:p>
            <a:pPr algn="l" indent="0" marL="0">
              <a:buNone/>
            </a:pPr>
            <a:r>
              <a:rPr lang="en-US" sz="3000" b="1" dirty="0">
                <a:solidFill>
                  <a:srgbClr val="1E2247"/>
                </a:solidFill>
                <a:latin typeface="Cambria" pitchFamily="34" charset="0"/>
                <a:ea typeface="Cambria" pitchFamily="34" charset="-122"/>
                <a:cs typeface="Cambria" pitchFamily="34" charset="-120"/>
              </a:rPr>
              <a:t>The foundation: cueing memory during sleep</a:t>
            </a:r>
            <a:endParaRPr lang="en-US" sz="3000" dirty="0"/>
          </a:p>
        </p:txBody>
      </p:sp>
      <p:sp>
        <p:nvSpPr>
          <p:cNvPr id="3" name="Text 1"/>
          <p:cNvSpPr/>
          <p:nvPr/>
        </p:nvSpPr>
        <p:spPr>
          <a:xfrm>
            <a:off x="548640" y="1188720"/>
            <a:ext cx="10972800" cy="640080"/>
          </a:xfrm>
          <a:prstGeom prst="rect">
            <a:avLst/>
          </a:prstGeom>
          <a:noFill/>
          <a:ln/>
        </p:spPr>
        <p:txBody>
          <a:bodyPr wrap="square" rtlCol="0" anchor="t"/>
          <a:lstStyle/>
          <a:p>
            <a:pPr indent="0" marL="0">
              <a:buNone/>
            </a:pPr>
            <a:r>
              <a:rPr lang="en-US" sz="1500" dirty="0">
                <a:solidFill>
                  <a:srgbClr val="5B6178"/>
                </a:solidFill>
                <a:latin typeface="Calibri" pitchFamily="34" charset="0"/>
                <a:ea typeface="Calibri" pitchFamily="34" charset="-122"/>
                <a:cs typeface="Calibri" pitchFamily="34" charset="-120"/>
              </a:rPr>
              <a:t>Targeted Memory Reactivation (TMR) — re-presenting a learning-linked cue during deep sleep reactivates and strengthens that memory.</a:t>
            </a:r>
            <a:endParaRPr lang="en-US" sz="1500" dirty="0"/>
          </a:p>
        </p:txBody>
      </p:sp>
      <p:sp>
        <p:nvSpPr>
          <p:cNvPr id="4" name="Shape 2"/>
          <p:cNvSpPr/>
          <p:nvPr/>
        </p:nvSpPr>
        <p:spPr>
          <a:xfrm>
            <a:off x="548640" y="2148840"/>
            <a:ext cx="402336" cy="402336"/>
          </a:xfrm>
          <a:prstGeom prst="ellipse">
            <a:avLst/>
          </a:prstGeom>
          <a:solidFill>
            <a:srgbClr val="5B6CE8"/>
          </a:solidFill>
          <a:ln/>
        </p:spPr>
      </p:sp>
      <p:sp>
        <p:nvSpPr>
          <p:cNvPr id="5" name="Text 3"/>
          <p:cNvSpPr/>
          <p:nvPr/>
        </p:nvSpPr>
        <p:spPr>
          <a:xfrm>
            <a:off x="548640" y="214884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15568" y="2093976"/>
            <a:ext cx="6108192" cy="384048"/>
          </a:xfrm>
          <a:prstGeom prst="rect">
            <a:avLst/>
          </a:prstGeom>
          <a:noFill/>
          <a:ln/>
        </p:spPr>
        <p:txBody>
          <a:bodyPr wrap="square" lIns="0" tIns="0" rIns="0" bIns="0" rtlCol="0" anchor="ctr"/>
          <a:lstStyle/>
          <a:p>
            <a:pPr algn="l" indent="0" marL="0">
              <a:buNone/>
            </a:pPr>
            <a:r>
              <a:rPr lang="en-US" sz="1500" b="1" dirty="0">
                <a:solidFill>
                  <a:srgbClr val="1E2247"/>
                </a:solidFill>
                <a:latin typeface="Calibri" pitchFamily="34" charset="0"/>
                <a:ea typeface="Calibri" pitchFamily="34" charset="-122"/>
                <a:cs typeface="Calibri" pitchFamily="34" charset="-120"/>
              </a:rPr>
              <a:t>It started with a smell</a:t>
            </a:r>
            <a:endParaRPr lang="en-US" sz="1500" dirty="0"/>
          </a:p>
        </p:txBody>
      </p:sp>
      <p:sp>
        <p:nvSpPr>
          <p:cNvPr id="7" name="Text 5"/>
          <p:cNvSpPr/>
          <p:nvPr/>
        </p:nvSpPr>
        <p:spPr>
          <a:xfrm>
            <a:off x="1115568" y="2459736"/>
            <a:ext cx="6108192" cy="676656"/>
          </a:xfrm>
          <a:prstGeom prst="rect">
            <a:avLst/>
          </a:prstGeom>
          <a:noFill/>
          <a:ln/>
        </p:spPr>
        <p:txBody>
          <a:bodyPr wrap="square" lIns="0" tIns="0" rIns="0" bIns="0" rtlCol="0" anchor="t"/>
          <a:lstStyle/>
          <a:p>
            <a:pPr algn="l" indent="0" marL="0">
              <a:buNone/>
            </a:pPr>
            <a:r>
              <a:rPr lang="en-US" sz="1250" dirty="0">
                <a:solidFill>
                  <a:srgbClr val="5B6178"/>
                </a:solidFill>
                <a:latin typeface="Calibri" pitchFamily="34" charset="0"/>
                <a:ea typeface="Calibri" pitchFamily="34" charset="-122"/>
                <a:cs typeface="Calibri" pitchFamily="34" charset="-120"/>
              </a:rPr>
              <a:t>A rose odor paired with a task, then replayed in deep sleep, improved recall and lit up the hippocampus — but did nothing in REM or while awake.</a:t>
            </a:r>
            <a:endParaRPr lang="en-US" sz="1250" dirty="0"/>
          </a:p>
        </p:txBody>
      </p:sp>
      <p:sp>
        <p:nvSpPr>
          <p:cNvPr id="8" name="Text 6"/>
          <p:cNvSpPr/>
          <p:nvPr/>
        </p:nvSpPr>
        <p:spPr>
          <a:xfrm>
            <a:off x="1115568" y="3081528"/>
            <a:ext cx="6108192" cy="256032"/>
          </a:xfrm>
          <a:prstGeom prst="rect">
            <a:avLst/>
          </a:prstGeom>
          <a:noFill/>
          <a:ln/>
        </p:spPr>
        <p:txBody>
          <a:bodyPr wrap="square" lIns="0" tIns="0" rIns="0" bIns="0" rtlCol="0" anchor="t"/>
          <a:lstStyle/>
          <a:p>
            <a:pPr algn="l" indent="0" marL="0">
              <a:buNone/>
            </a:pPr>
            <a:r>
              <a:rPr lang="en-US" sz="1000" i="1" dirty="0">
                <a:solidFill>
                  <a:srgbClr val="8A90A6"/>
                </a:solidFill>
                <a:latin typeface="Calibri" pitchFamily="34" charset="0"/>
                <a:ea typeface="Calibri" pitchFamily="34" charset="-122"/>
                <a:cs typeface="Calibri" pitchFamily="34" charset="-120"/>
              </a:rPr>
              <a:t>Rasch et al., 2007, Science</a:t>
            </a:r>
            <a:endParaRPr lang="en-US" sz="1000" dirty="0"/>
          </a:p>
        </p:txBody>
      </p:sp>
      <p:sp>
        <p:nvSpPr>
          <p:cNvPr id="9" name="Shape 7"/>
          <p:cNvSpPr/>
          <p:nvPr/>
        </p:nvSpPr>
        <p:spPr>
          <a:xfrm>
            <a:off x="548640" y="3703320"/>
            <a:ext cx="402336" cy="402336"/>
          </a:xfrm>
          <a:prstGeom prst="ellipse">
            <a:avLst/>
          </a:prstGeom>
          <a:solidFill>
            <a:srgbClr val="5B6CE8"/>
          </a:solidFill>
          <a:ln/>
        </p:spPr>
      </p:sp>
      <p:sp>
        <p:nvSpPr>
          <p:cNvPr id="10" name="Text 8"/>
          <p:cNvSpPr/>
          <p:nvPr/>
        </p:nvSpPr>
        <p:spPr>
          <a:xfrm>
            <a:off x="548640" y="370332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15568" y="3648456"/>
            <a:ext cx="6108192" cy="384048"/>
          </a:xfrm>
          <a:prstGeom prst="rect">
            <a:avLst/>
          </a:prstGeom>
          <a:noFill/>
          <a:ln/>
        </p:spPr>
        <p:txBody>
          <a:bodyPr wrap="square" lIns="0" tIns="0" rIns="0" bIns="0" rtlCol="0" anchor="ctr"/>
          <a:lstStyle/>
          <a:p>
            <a:pPr algn="l" indent="0" marL="0">
              <a:buNone/>
            </a:pPr>
            <a:r>
              <a:rPr lang="en-US" sz="1500" b="1" dirty="0">
                <a:solidFill>
                  <a:srgbClr val="1E2247"/>
                </a:solidFill>
                <a:latin typeface="Calibri" pitchFamily="34" charset="0"/>
                <a:ea typeface="Calibri" pitchFamily="34" charset="-122"/>
                <a:cs typeface="Calibri" pitchFamily="34" charset="-120"/>
              </a:rPr>
              <a:t>Then sound did the same</a:t>
            </a:r>
            <a:endParaRPr lang="en-US" sz="1500" dirty="0"/>
          </a:p>
        </p:txBody>
      </p:sp>
      <p:sp>
        <p:nvSpPr>
          <p:cNvPr id="12" name="Text 10"/>
          <p:cNvSpPr/>
          <p:nvPr/>
        </p:nvSpPr>
        <p:spPr>
          <a:xfrm>
            <a:off x="1115568" y="4014216"/>
            <a:ext cx="6108192" cy="676656"/>
          </a:xfrm>
          <a:prstGeom prst="rect">
            <a:avLst/>
          </a:prstGeom>
          <a:noFill/>
          <a:ln/>
        </p:spPr>
        <p:txBody>
          <a:bodyPr wrap="square" lIns="0" tIns="0" rIns="0" bIns="0" rtlCol="0" anchor="t"/>
          <a:lstStyle/>
          <a:p>
            <a:pPr algn="l" indent="0" marL="0">
              <a:buNone/>
            </a:pPr>
            <a:r>
              <a:rPr lang="en-US" sz="1250" dirty="0">
                <a:solidFill>
                  <a:srgbClr val="5B6178"/>
                </a:solidFill>
                <a:latin typeface="Calibri" pitchFamily="34" charset="0"/>
                <a:ea typeface="Calibri" pitchFamily="34" charset="-122"/>
                <a:cs typeface="Calibri" pitchFamily="34" charset="-120"/>
              </a:rPr>
              <a:t>Object-specific sounds replayed in deep sleep selectively strengthened those items' memory; the same sounds while awake had no effect.</a:t>
            </a:r>
            <a:endParaRPr lang="en-US" sz="1250" dirty="0"/>
          </a:p>
        </p:txBody>
      </p:sp>
      <p:sp>
        <p:nvSpPr>
          <p:cNvPr id="13" name="Text 11"/>
          <p:cNvSpPr/>
          <p:nvPr/>
        </p:nvSpPr>
        <p:spPr>
          <a:xfrm>
            <a:off x="1115568" y="4636008"/>
            <a:ext cx="6108192" cy="256032"/>
          </a:xfrm>
          <a:prstGeom prst="rect">
            <a:avLst/>
          </a:prstGeom>
          <a:noFill/>
          <a:ln/>
        </p:spPr>
        <p:txBody>
          <a:bodyPr wrap="square" lIns="0" tIns="0" rIns="0" bIns="0" rtlCol="0" anchor="t"/>
          <a:lstStyle/>
          <a:p>
            <a:pPr algn="l" indent="0" marL="0">
              <a:buNone/>
            </a:pPr>
            <a:r>
              <a:rPr lang="en-US" sz="1000" i="1" dirty="0">
                <a:solidFill>
                  <a:srgbClr val="8A90A6"/>
                </a:solidFill>
                <a:latin typeface="Calibri" pitchFamily="34" charset="0"/>
                <a:ea typeface="Calibri" pitchFamily="34" charset="-122"/>
                <a:cs typeface="Calibri" pitchFamily="34" charset="-120"/>
              </a:rPr>
              <a:t>Rudoy et al., 2009, Science</a:t>
            </a:r>
            <a:endParaRPr lang="en-US" sz="1000" dirty="0"/>
          </a:p>
        </p:txBody>
      </p:sp>
      <p:sp>
        <p:nvSpPr>
          <p:cNvPr id="14" name="Shape 12"/>
          <p:cNvSpPr/>
          <p:nvPr/>
        </p:nvSpPr>
        <p:spPr>
          <a:xfrm>
            <a:off x="7635240" y="2148840"/>
            <a:ext cx="4023360" cy="3703320"/>
          </a:xfrm>
          <a:prstGeom prst="roundRect">
            <a:avLst>
              <a:gd name="adj" fmla="val 2222"/>
            </a:avLst>
          </a:prstGeom>
          <a:solidFill>
            <a:srgbClr val="F2F4FD"/>
          </a:solidFill>
          <a:ln w="12700">
            <a:solidFill>
              <a:srgbClr val="DDE2F7"/>
            </a:solidFill>
            <a:prstDash val="solid"/>
          </a:ln>
        </p:spPr>
      </p:sp>
      <p:sp>
        <p:nvSpPr>
          <p:cNvPr id="15" name="Text 13"/>
          <p:cNvSpPr/>
          <p:nvPr/>
        </p:nvSpPr>
        <p:spPr>
          <a:xfrm>
            <a:off x="7863840" y="2377440"/>
            <a:ext cx="3566160" cy="365760"/>
          </a:xfrm>
          <a:prstGeom prst="rect">
            <a:avLst/>
          </a:prstGeom>
          <a:noFill/>
          <a:ln/>
        </p:spPr>
        <p:txBody>
          <a:bodyPr wrap="square" rtlCol="0" anchor="ctr"/>
          <a:lstStyle/>
          <a:p>
            <a:pPr indent="0" marL="0">
              <a:buNone/>
            </a:pPr>
            <a:r>
              <a:rPr lang="en-US" sz="1400" b="1" dirty="0">
                <a:solidFill>
                  <a:srgbClr val="1E2247"/>
                </a:solidFill>
                <a:latin typeface="Calibri" pitchFamily="34" charset="0"/>
                <a:ea typeface="Calibri" pitchFamily="34" charset="-122"/>
                <a:cs typeface="Calibri" pitchFamily="34" charset="-120"/>
              </a:rPr>
              <a:t>The meta-analysis</a:t>
            </a:r>
            <a:endParaRPr lang="en-US" sz="1400" dirty="0"/>
          </a:p>
        </p:txBody>
      </p:sp>
      <p:sp>
        <p:nvSpPr>
          <p:cNvPr id="16" name="Text 14"/>
          <p:cNvSpPr/>
          <p:nvPr/>
        </p:nvSpPr>
        <p:spPr>
          <a:xfrm>
            <a:off x="7635240" y="2880360"/>
            <a:ext cx="4023360" cy="914400"/>
          </a:xfrm>
          <a:prstGeom prst="rect">
            <a:avLst/>
          </a:prstGeom>
          <a:noFill/>
          <a:ln/>
        </p:spPr>
        <p:txBody>
          <a:bodyPr wrap="square" rtlCol="0" anchor="ctr"/>
          <a:lstStyle/>
          <a:p>
            <a:pPr algn="ctr" indent="0" marL="0">
              <a:buNone/>
            </a:pPr>
            <a:r>
              <a:rPr lang="en-US" sz="5200" b="1" dirty="0">
                <a:solidFill>
                  <a:srgbClr val="5B6CE8"/>
                </a:solidFill>
                <a:latin typeface="Cambria" pitchFamily="34" charset="0"/>
                <a:ea typeface="Cambria" pitchFamily="34" charset="-122"/>
                <a:cs typeface="Cambria" pitchFamily="34" charset="-120"/>
              </a:rPr>
              <a:t>g = 0.29</a:t>
            </a:r>
            <a:endParaRPr lang="en-US" sz="5200" dirty="0"/>
          </a:p>
        </p:txBody>
      </p:sp>
      <p:sp>
        <p:nvSpPr>
          <p:cNvPr id="17" name="Text 15"/>
          <p:cNvSpPr/>
          <p:nvPr/>
        </p:nvSpPr>
        <p:spPr>
          <a:xfrm>
            <a:off x="7955280" y="3840480"/>
            <a:ext cx="3429000" cy="822960"/>
          </a:xfrm>
          <a:prstGeom prst="rect">
            <a:avLst/>
          </a:prstGeom>
          <a:noFill/>
          <a:ln/>
        </p:spPr>
        <p:txBody>
          <a:bodyPr wrap="square" rtlCol="0" anchor="t"/>
          <a:lstStyle/>
          <a:p>
            <a:pPr algn="ctr" indent="0" marL="0">
              <a:buNone/>
            </a:pPr>
            <a:r>
              <a:rPr lang="en-US" sz="1300" dirty="0">
                <a:solidFill>
                  <a:srgbClr val="5B6178"/>
                </a:solidFill>
                <a:latin typeface="Calibri" pitchFamily="34" charset="0"/>
                <a:ea typeface="Calibri" pitchFamily="34" charset="-122"/>
                <a:cs typeface="Calibri" pitchFamily="34" charset="-120"/>
              </a:rPr>
              <a:t>a small but robust memory benefit across 91 experiments (~2,000 people)</a:t>
            </a:r>
            <a:endParaRPr lang="en-US" sz="1300" dirty="0"/>
          </a:p>
        </p:txBody>
      </p:sp>
      <p:sp>
        <p:nvSpPr>
          <p:cNvPr id="18" name="Text 16"/>
          <p:cNvSpPr/>
          <p:nvPr/>
        </p:nvSpPr>
        <p:spPr>
          <a:xfrm>
            <a:off x="7955280" y="4709160"/>
            <a:ext cx="3429000" cy="457200"/>
          </a:xfrm>
          <a:prstGeom prst="rect">
            <a:avLst/>
          </a:prstGeom>
          <a:noFill/>
          <a:ln/>
        </p:spPr>
        <p:txBody>
          <a:bodyPr wrap="square" rtlCol="0" anchor="ctr"/>
          <a:lstStyle/>
          <a:p>
            <a:pPr algn="ctr" indent="0" marL="0">
              <a:buNone/>
            </a:pPr>
            <a:r>
              <a:rPr lang="en-US" sz="1250" b="1" dirty="0">
                <a:solidFill>
                  <a:srgbClr val="1E2247"/>
                </a:solidFill>
                <a:latin typeface="Calibri" pitchFamily="34" charset="0"/>
                <a:ea typeface="Calibri" pitchFamily="34" charset="-122"/>
                <a:cs typeface="Calibri" pitchFamily="34" charset="-120"/>
              </a:rPr>
              <a:t>Works in NREM — not REM, not wake.</a:t>
            </a:r>
            <a:endParaRPr lang="en-US" sz="1250" dirty="0"/>
          </a:p>
        </p:txBody>
      </p:sp>
      <p:sp>
        <p:nvSpPr>
          <p:cNvPr id="19" name="Text 17"/>
          <p:cNvSpPr/>
          <p:nvPr/>
        </p:nvSpPr>
        <p:spPr>
          <a:xfrm>
            <a:off x="7863840" y="5440680"/>
            <a:ext cx="3566160" cy="274320"/>
          </a:xfrm>
          <a:prstGeom prst="rect">
            <a:avLst/>
          </a:prstGeom>
          <a:noFill/>
          <a:ln/>
        </p:spPr>
        <p:txBody>
          <a:bodyPr wrap="square" rtlCol="0" anchor="ctr"/>
          <a:lstStyle/>
          <a:p>
            <a:pPr algn="ctr" indent="0" marL="0">
              <a:buNone/>
            </a:pPr>
            <a:r>
              <a:rPr lang="en-US" sz="1000" i="1" dirty="0">
                <a:solidFill>
                  <a:srgbClr val="8A90A6"/>
                </a:solidFill>
                <a:latin typeface="Calibri" pitchFamily="34" charset="0"/>
                <a:ea typeface="Calibri" pitchFamily="34" charset="-122"/>
                <a:cs typeface="Calibri" pitchFamily="34" charset="-120"/>
              </a:rPr>
              <a:t>Hu et al., 2020, Psychological Bulletin</a:t>
            </a:r>
            <a:endParaRPr lang="en-US" sz="1000" dirty="0"/>
          </a:p>
        </p:txBody>
      </p:sp>
      <p:sp>
        <p:nvSpPr>
          <p:cNvPr id="20" name="Shape 18"/>
          <p:cNvSpPr/>
          <p:nvPr/>
        </p:nvSpPr>
        <p:spPr>
          <a:xfrm>
            <a:off x="557784" y="6355080"/>
            <a:ext cx="201168" cy="201168"/>
          </a:xfrm>
          <a:prstGeom prst="ellipse">
            <a:avLst/>
          </a:prstGeom>
          <a:solidFill>
            <a:srgbClr val="F5F0E1"/>
          </a:solidFill>
          <a:ln/>
        </p:spPr>
      </p:sp>
      <p:sp>
        <p:nvSpPr>
          <p:cNvPr id="21" name="Shape 19"/>
          <p:cNvSpPr/>
          <p:nvPr/>
        </p:nvSpPr>
        <p:spPr>
          <a:xfrm>
            <a:off x="620146" y="6340998"/>
            <a:ext cx="201168" cy="201168"/>
          </a:xfrm>
          <a:prstGeom prst="ellipse">
            <a:avLst/>
          </a:prstGeom>
          <a:solidFill>
            <a:srgbClr val="FFFFFF"/>
          </a:solidFill>
          <a:ln/>
        </p:spPr>
      </p:sp>
      <p:sp>
        <p:nvSpPr>
          <p:cNvPr id="22" name="Text 20"/>
          <p:cNvSpPr/>
          <p:nvPr/>
        </p:nvSpPr>
        <p:spPr>
          <a:xfrm>
            <a:off x="841248" y="6245352"/>
            <a:ext cx="2743200" cy="365760"/>
          </a:xfrm>
          <a:prstGeom prst="rect">
            <a:avLst/>
          </a:prstGeom>
          <a:noFill/>
          <a:ln/>
        </p:spPr>
        <p:txBody>
          <a:bodyPr wrap="square" rtlCol="0" anchor="ctr"/>
          <a:lstStyle/>
          <a:p>
            <a:pPr algn="l" indent="0" marL="0">
              <a:buNone/>
            </a:pPr>
            <a:r>
              <a:rPr lang="en-US" sz="900" dirty="0">
                <a:solidFill>
                  <a:srgbClr val="8A90A6"/>
                </a:solidFill>
                <a:latin typeface="Calibri" pitchFamily="34" charset="0"/>
                <a:ea typeface="Calibri" pitchFamily="34" charset="-122"/>
                <a:cs typeface="Calibri" pitchFamily="34" charset="-120"/>
              </a:rPr>
              <a:t>Dream Sync</a:t>
            </a:r>
            <a:endParaRPr lang="en-US" sz="900" dirty="0"/>
          </a:p>
        </p:txBody>
      </p:sp>
      <p:sp>
        <p:nvSpPr>
          <p:cNvPr id="23" name="Text 21"/>
          <p:cNvSpPr/>
          <p:nvPr/>
        </p:nvSpPr>
        <p:spPr>
          <a:xfrm>
            <a:off x="11247120" y="6245352"/>
            <a:ext cx="457200" cy="365760"/>
          </a:xfrm>
          <a:prstGeom prst="rect">
            <a:avLst/>
          </a:prstGeom>
          <a:noFill/>
          <a:ln/>
        </p:spPr>
        <p:txBody>
          <a:bodyPr wrap="square" rtlCol="0" anchor="ctr"/>
          <a:lstStyle/>
          <a:p>
            <a:pPr algn="r" indent="0" marL="0">
              <a:buNone/>
            </a:pPr>
            <a:r>
              <a:rPr lang="en-US" sz="900" dirty="0">
                <a:solidFill>
                  <a:srgbClr val="8A90A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868680"/>
          </a:xfrm>
          <a:prstGeom prst="rect">
            <a:avLst/>
          </a:prstGeom>
          <a:noFill/>
          <a:ln/>
        </p:spPr>
        <p:txBody>
          <a:bodyPr wrap="square" rtlCol="0" anchor="ctr"/>
          <a:lstStyle/>
          <a:p>
            <a:pPr algn="l" indent="0" marL="0">
              <a:buNone/>
            </a:pPr>
            <a:r>
              <a:rPr lang="en-US" sz="3000" b="1" dirty="0">
                <a:solidFill>
                  <a:srgbClr val="1E2247"/>
                </a:solidFill>
                <a:latin typeface="Cambria" pitchFamily="34" charset="0"/>
                <a:ea typeface="Cambria" pitchFamily="34" charset="-122"/>
                <a:cs typeface="Cambria" pitchFamily="34" charset="-120"/>
              </a:rPr>
              <a:t>Deep cues: closed-loop acoustic stimulation</a:t>
            </a:r>
            <a:endParaRPr lang="en-US" sz="3000" dirty="0"/>
          </a:p>
        </p:txBody>
      </p:sp>
      <p:sp>
        <p:nvSpPr>
          <p:cNvPr id="3" name="Text 1"/>
          <p:cNvSpPr/>
          <p:nvPr/>
        </p:nvSpPr>
        <p:spPr>
          <a:xfrm>
            <a:off x="548640" y="1188720"/>
            <a:ext cx="10972800" cy="640080"/>
          </a:xfrm>
          <a:prstGeom prst="rect">
            <a:avLst/>
          </a:prstGeom>
          <a:noFill/>
          <a:ln/>
        </p:spPr>
        <p:txBody>
          <a:bodyPr wrap="square" rtlCol="0" anchor="t"/>
          <a:lstStyle/>
          <a:p>
            <a:pPr indent="0" marL="0">
              <a:buNone/>
            </a:pPr>
            <a:r>
              <a:rPr lang="en-US" sz="1500" dirty="0">
                <a:solidFill>
                  <a:srgbClr val="5B6178"/>
                </a:solidFill>
                <a:latin typeface="Calibri" pitchFamily="34" charset="0"/>
                <a:ea typeface="Calibri" pitchFamily="34" charset="-122"/>
                <a:cs typeface="Calibri" pitchFamily="34" charset="-120"/>
              </a:rPr>
              <a:t>Play brief pink-noise bursts timed to the slow oscillation's up-state. Dream Sync's paired bursts mirror this paradigm.</a:t>
            </a:r>
            <a:endParaRPr lang="en-US" sz="1500" dirty="0"/>
          </a:p>
        </p:txBody>
      </p:sp>
      <p:sp>
        <p:nvSpPr>
          <p:cNvPr id="4" name="Shape 2"/>
          <p:cNvSpPr/>
          <p:nvPr/>
        </p:nvSpPr>
        <p:spPr>
          <a:xfrm>
            <a:off x="548640" y="2148840"/>
            <a:ext cx="402336" cy="402336"/>
          </a:xfrm>
          <a:prstGeom prst="ellipse">
            <a:avLst/>
          </a:prstGeom>
          <a:solidFill>
            <a:srgbClr val="5B6CE8"/>
          </a:solidFill>
          <a:ln/>
        </p:spPr>
      </p:sp>
      <p:sp>
        <p:nvSpPr>
          <p:cNvPr id="5" name="Text 3"/>
          <p:cNvSpPr/>
          <p:nvPr/>
        </p:nvSpPr>
        <p:spPr>
          <a:xfrm>
            <a:off x="548640" y="214884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15568" y="2093976"/>
            <a:ext cx="6108192" cy="384048"/>
          </a:xfrm>
          <a:prstGeom prst="rect">
            <a:avLst/>
          </a:prstGeom>
          <a:noFill/>
          <a:ln/>
        </p:spPr>
        <p:txBody>
          <a:bodyPr wrap="square" lIns="0" tIns="0" rIns="0" bIns="0" rtlCol="0" anchor="ctr"/>
          <a:lstStyle/>
          <a:p>
            <a:pPr algn="l" indent="0" marL="0">
              <a:buNone/>
            </a:pPr>
            <a:r>
              <a:rPr lang="en-US" sz="1500" b="1" dirty="0">
                <a:solidFill>
                  <a:srgbClr val="1E2247"/>
                </a:solidFill>
                <a:latin typeface="Calibri" pitchFamily="34" charset="0"/>
                <a:ea typeface="Calibri" pitchFamily="34" charset="-122"/>
                <a:cs typeface="Calibri" pitchFamily="34" charset="-120"/>
              </a:rPr>
              <a:t>The founding result</a:t>
            </a:r>
            <a:endParaRPr lang="en-US" sz="1500" dirty="0"/>
          </a:p>
        </p:txBody>
      </p:sp>
      <p:sp>
        <p:nvSpPr>
          <p:cNvPr id="7" name="Text 5"/>
          <p:cNvSpPr/>
          <p:nvPr/>
        </p:nvSpPr>
        <p:spPr>
          <a:xfrm>
            <a:off x="1115568" y="2459736"/>
            <a:ext cx="6108192" cy="676656"/>
          </a:xfrm>
          <a:prstGeom prst="rect">
            <a:avLst/>
          </a:prstGeom>
          <a:noFill/>
          <a:ln/>
        </p:spPr>
        <p:txBody>
          <a:bodyPr wrap="square" lIns="0" tIns="0" rIns="0" bIns="0" rtlCol="0" anchor="t"/>
          <a:lstStyle/>
          <a:p>
            <a:pPr algn="l" indent="0" marL="0">
              <a:buNone/>
            </a:pPr>
            <a:r>
              <a:rPr lang="en-US" sz="1250" dirty="0">
                <a:solidFill>
                  <a:srgbClr val="5B6178"/>
                </a:solidFill>
                <a:latin typeface="Calibri" pitchFamily="34" charset="0"/>
                <a:ea typeface="Calibri" pitchFamily="34" charset="-122"/>
                <a:cs typeface="Calibri" pitchFamily="34" charset="-120"/>
              </a:rPr>
              <a:t>Two-click bursts, phase-locked to the slow oscillation, boosted its amplitude and sleep spindles — and improved overnight word-pair memory. Out-of-phase clicks did not.</a:t>
            </a:r>
            <a:endParaRPr lang="en-US" sz="1250" dirty="0"/>
          </a:p>
        </p:txBody>
      </p:sp>
      <p:sp>
        <p:nvSpPr>
          <p:cNvPr id="8" name="Text 6"/>
          <p:cNvSpPr/>
          <p:nvPr/>
        </p:nvSpPr>
        <p:spPr>
          <a:xfrm>
            <a:off x="1115568" y="3081528"/>
            <a:ext cx="6108192" cy="256032"/>
          </a:xfrm>
          <a:prstGeom prst="rect">
            <a:avLst/>
          </a:prstGeom>
          <a:noFill/>
          <a:ln/>
        </p:spPr>
        <p:txBody>
          <a:bodyPr wrap="square" lIns="0" tIns="0" rIns="0" bIns="0" rtlCol="0" anchor="t"/>
          <a:lstStyle/>
          <a:p>
            <a:pPr algn="l" indent="0" marL="0">
              <a:buNone/>
            </a:pPr>
            <a:r>
              <a:rPr lang="en-US" sz="1000" i="1" dirty="0">
                <a:solidFill>
                  <a:srgbClr val="8A90A6"/>
                </a:solidFill>
                <a:latin typeface="Calibri" pitchFamily="34" charset="0"/>
                <a:ea typeface="Calibri" pitchFamily="34" charset="-122"/>
                <a:cs typeface="Calibri" pitchFamily="34" charset="-120"/>
              </a:rPr>
              <a:t>Ngo et al., 2013, Neuron</a:t>
            </a:r>
            <a:endParaRPr lang="en-US" sz="1000" dirty="0"/>
          </a:p>
        </p:txBody>
      </p:sp>
      <p:sp>
        <p:nvSpPr>
          <p:cNvPr id="9" name="Shape 7"/>
          <p:cNvSpPr/>
          <p:nvPr/>
        </p:nvSpPr>
        <p:spPr>
          <a:xfrm>
            <a:off x="548640" y="3794760"/>
            <a:ext cx="402336" cy="402336"/>
          </a:xfrm>
          <a:prstGeom prst="ellipse">
            <a:avLst/>
          </a:prstGeom>
          <a:solidFill>
            <a:srgbClr val="5B6CE8"/>
          </a:solidFill>
          <a:ln/>
        </p:spPr>
      </p:sp>
      <p:sp>
        <p:nvSpPr>
          <p:cNvPr id="10" name="Text 8"/>
          <p:cNvSpPr/>
          <p:nvPr/>
        </p:nvSpPr>
        <p:spPr>
          <a:xfrm>
            <a:off x="548640" y="379476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15568" y="3739896"/>
            <a:ext cx="6108192" cy="384048"/>
          </a:xfrm>
          <a:prstGeom prst="rect">
            <a:avLst/>
          </a:prstGeom>
          <a:noFill/>
          <a:ln/>
        </p:spPr>
        <p:txBody>
          <a:bodyPr wrap="square" lIns="0" tIns="0" rIns="0" bIns="0" rtlCol="0" anchor="ctr"/>
          <a:lstStyle/>
          <a:p>
            <a:pPr algn="l" indent="0" marL="0">
              <a:buNone/>
            </a:pPr>
            <a:r>
              <a:rPr lang="en-US" sz="1500" b="1" dirty="0">
                <a:solidFill>
                  <a:srgbClr val="1E2247"/>
                </a:solidFill>
                <a:latin typeface="Calibri" pitchFamily="34" charset="0"/>
                <a:ea typeface="Calibri" pitchFamily="34" charset="-122"/>
                <a:cs typeface="Calibri" pitchFamily="34" charset="-120"/>
              </a:rPr>
              <a:t>It helped older adults too</a:t>
            </a:r>
            <a:endParaRPr lang="en-US" sz="1500" dirty="0"/>
          </a:p>
        </p:txBody>
      </p:sp>
      <p:sp>
        <p:nvSpPr>
          <p:cNvPr id="12" name="Text 10"/>
          <p:cNvSpPr/>
          <p:nvPr/>
        </p:nvSpPr>
        <p:spPr>
          <a:xfrm>
            <a:off x="1115568" y="4105656"/>
            <a:ext cx="6108192" cy="676656"/>
          </a:xfrm>
          <a:prstGeom prst="rect">
            <a:avLst/>
          </a:prstGeom>
          <a:noFill/>
          <a:ln/>
        </p:spPr>
        <p:txBody>
          <a:bodyPr wrap="square" lIns="0" tIns="0" rIns="0" bIns="0" rtlCol="0" anchor="t"/>
          <a:lstStyle/>
          <a:p>
            <a:pPr algn="l" indent="0" marL="0">
              <a:buNone/>
            </a:pPr>
            <a:r>
              <a:rPr lang="en-US" sz="1250" dirty="0">
                <a:solidFill>
                  <a:srgbClr val="5B6178"/>
                </a:solidFill>
                <a:latin typeface="Calibri" pitchFamily="34" charset="0"/>
                <a:ea typeface="Calibri" pitchFamily="34" charset="-122"/>
                <a:cs typeface="Calibri" pitchFamily="34" charset="-120"/>
              </a:rPr>
              <a:t>In adults aged 60–84, stimulation raised slow-wave activity and nearly tripled morning word recall vs sham (9.2 vs 3.1 words).</a:t>
            </a:r>
            <a:endParaRPr lang="en-US" sz="1250" dirty="0"/>
          </a:p>
        </p:txBody>
      </p:sp>
      <p:sp>
        <p:nvSpPr>
          <p:cNvPr id="13" name="Text 11"/>
          <p:cNvSpPr/>
          <p:nvPr/>
        </p:nvSpPr>
        <p:spPr>
          <a:xfrm>
            <a:off x="1115568" y="4727448"/>
            <a:ext cx="6108192" cy="256032"/>
          </a:xfrm>
          <a:prstGeom prst="rect">
            <a:avLst/>
          </a:prstGeom>
          <a:noFill/>
          <a:ln/>
        </p:spPr>
        <p:txBody>
          <a:bodyPr wrap="square" lIns="0" tIns="0" rIns="0" bIns="0" rtlCol="0" anchor="t"/>
          <a:lstStyle/>
          <a:p>
            <a:pPr algn="l" indent="0" marL="0">
              <a:buNone/>
            </a:pPr>
            <a:r>
              <a:rPr lang="en-US" sz="1000" i="1" dirty="0">
                <a:solidFill>
                  <a:srgbClr val="8A90A6"/>
                </a:solidFill>
                <a:latin typeface="Calibri" pitchFamily="34" charset="0"/>
                <a:ea typeface="Calibri" pitchFamily="34" charset="-122"/>
                <a:cs typeface="Calibri" pitchFamily="34" charset="-120"/>
              </a:rPr>
              <a:t>Papalambros et al., 2017, Front. Hum. Neurosci.</a:t>
            </a:r>
            <a:endParaRPr lang="en-US" sz="1000" dirty="0"/>
          </a:p>
        </p:txBody>
      </p:sp>
      <p:sp>
        <p:nvSpPr>
          <p:cNvPr id="14" name="Shape 12"/>
          <p:cNvSpPr/>
          <p:nvPr/>
        </p:nvSpPr>
        <p:spPr>
          <a:xfrm>
            <a:off x="7635240" y="2148840"/>
            <a:ext cx="4023360" cy="3703320"/>
          </a:xfrm>
          <a:prstGeom prst="roundRect">
            <a:avLst>
              <a:gd name="adj" fmla="val 2222"/>
            </a:avLst>
          </a:prstGeom>
          <a:solidFill>
            <a:srgbClr val="FBF0E1"/>
          </a:solidFill>
          <a:ln w="12700">
            <a:solidFill>
              <a:srgbClr val="EAD8BE"/>
            </a:solidFill>
            <a:prstDash val="solid"/>
          </a:ln>
        </p:spPr>
      </p:sp>
      <p:sp>
        <p:nvSpPr>
          <p:cNvPr id="15" name="Shape 13"/>
          <p:cNvSpPr/>
          <p:nvPr/>
        </p:nvSpPr>
        <p:spPr>
          <a:xfrm>
            <a:off x="7909560" y="2377440"/>
            <a:ext cx="384048" cy="384048"/>
          </a:xfrm>
          <a:prstGeom prst="ellipse">
            <a:avLst/>
          </a:prstGeom>
          <a:solidFill>
            <a:srgbClr val="B5722A"/>
          </a:solidFill>
          <a:ln/>
        </p:spPr>
      </p:sp>
      <p:sp>
        <p:nvSpPr>
          <p:cNvPr id="16" name="Text 14"/>
          <p:cNvSpPr/>
          <p:nvPr/>
        </p:nvSpPr>
        <p:spPr>
          <a:xfrm>
            <a:off x="7909560" y="2377440"/>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412480" y="2359152"/>
            <a:ext cx="3017520" cy="411480"/>
          </a:xfrm>
          <a:prstGeom prst="rect">
            <a:avLst/>
          </a:prstGeom>
          <a:noFill/>
          <a:ln/>
        </p:spPr>
        <p:txBody>
          <a:bodyPr wrap="square" lIns="0" tIns="0" rIns="0" bIns="0" rtlCol="0" anchor="ctr"/>
          <a:lstStyle/>
          <a:p>
            <a:pPr indent="0" marL="0">
              <a:buNone/>
            </a:pPr>
            <a:r>
              <a:rPr lang="en-US" sz="1400" b="1" dirty="0">
                <a:solidFill>
                  <a:srgbClr val="B5722A"/>
                </a:solidFill>
                <a:latin typeface="Calibri" pitchFamily="34" charset="0"/>
                <a:ea typeface="Calibri" pitchFamily="34" charset="-122"/>
                <a:cs typeface="Calibri" pitchFamily="34" charset="-120"/>
              </a:rPr>
              <a:t>The honest caveat</a:t>
            </a:r>
            <a:endParaRPr lang="en-US" sz="1400" dirty="0"/>
          </a:p>
        </p:txBody>
      </p:sp>
      <p:sp>
        <p:nvSpPr>
          <p:cNvPr id="18" name="Text 16"/>
          <p:cNvSpPr/>
          <p:nvPr/>
        </p:nvSpPr>
        <p:spPr>
          <a:xfrm>
            <a:off x="7909560" y="2971800"/>
            <a:ext cx="3520440" cy="2194560"/>
          </a:xfrm>
          <a:prstGeom prst="rect">
            <a:avLst/>
          </a:prstGeom>
          <a:noFill/>
          <a:ln/>
        </p:spPr>
        <p:txBody>
          <a:bodyPr wrap="square" lIns="0" tIns="0" rIns="0" bIns="0" rtlCol="0" anchor="t"/>
          <a:lstStyle/>
          <a:p>
            <a:pPr indent="0" marL="0">
              <a:buNone/>
            </a:pPr>
            <a:r>
              <a:rPr lang="en-US" sz="1300" dirty="0">
                <a:solidFill>
                  <a:srgbClr val="6E5327"/>
                </a:solidFill>
                <a:latin typeface="Calibri" pitchFamily="34" charset="0"/>
                <a:ea typeface="Calibri" pitchFamily="34" charset="-122"/>
                <a:cs typeface="Calibri" pitchFamily="34" charset="-120"/>
              </a:rPr>
              <a:t>The physiology replicates — cues reliably nudge slow waves and spindles.</a:t>
            </a:r>
            <a:endParaRPr lang="en-US" sz="1300" dirty="0"/>
          </a:p>
          <a:p>
            <a:pPr indent="0" marL="0">
              <a:buNone/>
            </a:pPr>
            <a:endParaRPr lang="en-US" sz="1300" dirty="0"/>
          </a:p>
          <a:p>
            <a:pPr indent="0" marL="0">
              <a:buNone/>
            </a:pPr>
            <a:r>
              <a:rPr lang="en-US" sz="1300" dirty="0">
                <a:solidFill>
                  <a:srgbClr val="6E5327"/>
                </a:solidFill>
                <a:latin typeface="Calibri" pitchFamily="34" charset="0"/>
                <a:ea typeface="Calibri" pitchFamily="34" charset="-122"/>
                <a:cs typeface="Calibri" pitchFamily="34" charset="-120"/>
              </a:rPr>
              <a:t>The memory benefit does not. A 2023 meta-analysis pooled it at d = 0.14 (not significant) — the predicted effect fell from 0.99 in 2013 to below zero by 2021.</a:t>
            </a:r>
            <a:endParaRPr lang="en-US" sz="1300" dirty="0"/>
          </a:p>
        </p:txBody>
      </p:sp>
      <p:sp>
        <p:nvSpPr>
          <p:cNvPr id="19" name="Text 17"/>
          <p:cNvSpPr/>
          <p:nvPr/>
        </p:nvSpPr>
        <p:spPr>
          <a:xfrm>
            <a:off x="7909560" y="5440680"/>
            <a:ext cx="3566160" cy="274320"/>
          </a:xfrm>
          <a:prstGeom prst="rect">
            <a:avLst/>
          </a:prstGeom>
          <a:noFill/>
          <a:ln/>
        </p:spPr>
        <p:txBody>
          <a:bodyPr wrap="square" rtlCol="0" anchor="ctr"/>
          <a:lstStyle/>
          <a:p>
            <a:pPr indent="0" marL="0">
              <a:buNone/>
            </a:pPr>
            <a:r>
              <a:rPr lang="en-US" sz="1000" i="1" dirty="0">
                <a:solidFill>
                  <a:srgbClr val="A98A5A"/>
                </a:solidFill>
                <a:latin typeface="Calibri" pitchFamily="34" charset="0"/>
                <a:ea typeface="Calibri" pitchFamily="34" charset="-122"/>
                <a:cs typeface="Calibri" pitchFamily="34" charset="-120"/>
              </a:rPr>
              <a:t>Harlow et al., 2023, Frontiers in Sleep</a:t>
            </a:r>
            <a:endParaRPr lang="en-US" sz="1000" dirty="0"/>
          </a:p>
        </p:txBody>
      </p:sp>
      <p:sp>
        <p:nvSpPr>
          <p:cNvPr id="20" name="Shape 18"/>
          <p:cNvSpPr/>
          <p:nvPr/>
        </p:nvSpPr>
        <p:spPr>
          <a:xfrm>
            <a:off x="557784" y="6355080"/>
            <a:ext cx="201168" cy="201168"/>
          </a:xfrm>
          <a:prstGeom prst="ellipse">
            <a:avLst/>
          </a:prstGeom>
          <a:solidFill>
            <a:srgbClr val="F5F0E1"/>
          </a:solidFill>
          <a:ln/>
        </p:spPr>
      </p:sp>
      <p:sp>
        <p:nvSpPr>
          <p:cNvPr id="21" name="Shape 19"/>
          <p:cNvSpPr/>
          <p:nvPr/>
        </p:nvSpPr>
        <p:spPr>
          <a:xfrm>
            <a:off x="620146" y="6340998"/>
            <a:ext cx="201168" cy="201168"/>
          </a:xfrm>
          <a:prstGeom prst="ellipse">
            <a:avLst/>
          </a:prstGeom>
          <a:solidFill>
            <a:srgbClr val="FFFFFF"/>
          </a:solidFill>
          <a:ln/>
        </p:spPr>
      </p:sp>
      <p:sp>
        <p:nvSpPr>
          <p:cNvPr id="22" name="Text 20"/>
          <p:cNvSpPr/>
          <p:nvPr/>
        </p:nvSpPr>
        <p:spPr>
          <a:xfrm>
            <a:off x="841248" y="6245352"/>
            <a:ext cx="2743200" cy="365760"/>
          </a:xfrm>
          <a:prstGeom prst="rect">
            <a:avLst/>
          </a:prstGeom>
          <a:noFill/>
          <a:ln/>
        </p:spPr>
        <p:txBody>
          <a:bodyPr wrap="square" rtlCol="0" anchor="ctr"/>
          <a:lstStyle/>
          <a:p>
            <a:pPr algn="l" indent="0" marL="0">
              <a:buNone/>
            </a:pPr>
            <a:r>
              <a:rPr lang="en-US" sz="900" dirty="0">
                <a:solidFill>
                  <a:srgbClr val="8A90A6"/>
                </a:solidFill>
                <a:latin typeface="Calibri" pitchFamily="34" charset="0"/>
                <a:ea typeface="Calibri" pitchFamily="34" charset="-122"/>
                <a:cs typeface="Calibri" pitchFamily="34" charset="-120"/>
              </a:rPr>
              <a:t>Dream Sync</a:t>
            </a:r>
            <a:endParaRPr lang="en-US" sz="900" dirty="0"/>
          </a:p>
        </p:txBody>
      </p:sp>
      <p:sp>
        <p:nvSpPr>
          <p:cNvPr id="23" name="Text 21"/>
          <p:cNvSpPr/>
          <p:nvPr/>
        </p:nvSpPr>
        <p:spPr>
          <a:xfrm>
            <a:off x="11247120" y="6245352"/>
            <a:ext cx="457200" cy="365760"/>
          </a:xfrm>
          <a:prstGeom prst="rect">
            <a:avLst/>
          </a:prstGeom>
          <a:noFill/>
          <a:ln/>
        </p:spPr>
        <p:txBody>
          <a:bodyPr wrap="square" rtlCol="0" anchor="ctr"/>
          <a:lstStyle/>
          <a:p>
            <a:pPr algn="r" indent="0" marL="0">
              <a:buNone/>
            </a:pPr>
            <a:r>
              <a:rPr lang="en-US" sz="900" dirty="0">
                <a:solidFill>
                  <a:srgbClr val="8A90A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868680"/>
          </a:xfrm>
          <a:prstGeom prst="rect">
            <a:avLst/>
          </a:prstGeom>
          <a:noFill/>
          <a:ln/>
        </p:spPr>
        <p:txBody>
          <a:bodyPr wrap="square" rtlCol="0" anchor="ctr"/>
          <a:lstStyle/>
          <a:p>
            <a:pPr algn="l" indent="0" marL="0">
              <a:buNone/>
            </a:pPr>
            <a:r>
              <a:rPr lang="en-US" sz="3000" b="1" dirty="0">
                <a:solidFill>
                  <a:srgbClr val="1E2247"/>
                </a:solidFill>
                <a:latin typeface="Cambria" pitchFamily="34" charset="0"/>
                <a:ea typeface="Cambria" pitchFamily="34" charset="-122"/>
                <a:cs typeface="Cambria" pitchFamily="34" charset="-120"/>
              </a:rPr>
              <a:t>Lucid cues: targeted lucidity reactivation</a:t>
            </a:r>
            <a:endParaRPr lang="en-US" sz="3000" dirty="0"/>
          </a:p>
        </p:txBody>
      </p:sp>
      <p:sp>
        <p:nvSpPr>
          <p:cNvPr id="3" name="Text 1"/>
          <p:cNvSpPr/>
          <p:nvPr/>
        </p:nvSpPr>
        <p:spPr>
          <a:xfrm>
            <a:off x="548640" y="1188720"/>
            <a:ext cx="10972800" cy="640080"/>
          </a:xfrm>
          <a:prstGeom prst="rect">
            <a:avLst/>
          </a:prstGeom>
          <a:noFill/>
          <a:ln/>
        </p:spPr>
        <p:txBody>
          <a:bodyPr wrap="square" rtlCol="0" anchor="t"/>
          <a:lstStyle/>
          <a:p>
            <a:pPr indent="0" marL="0">
              <a:buNone/>
            </a:pPr>
            <a:r>
              <a:rPr lang="en-US" sz="1500" dirty="0">
                <a:solidFill>
                  <a:srgbClr val="5B6178"/>
                </a:solidFill>
                <a:latin typeface="Calibri" pitchFamily="34" charset="0"/>
                <a:ea typeface="Calibri" pitchFamily="34" charset="-122"/>
                <a:cs typeface="Calibri" pitchFamily="34" charset="-120"/>
              </a:rPr>
              <a:t>Pair pre-sleep intention with a distinctive cue, then replay that cue in REM to prompt the sleeper to realize they're dreaming.</a:t>
            </a:r>
            <a:endParaRPr lang="en-US" sz="1500" dirty="0"/>
          </a:p>
        </p:txBody>
      </p:sp>
      <p:sp>
        <p:nvSpPr>
          <p:cNvPr id="4" name="Shape 2"/>
          <p:cNvSpPr/>
          <p:nvPr/>
        </p:nvSpPr>
        <p:spPr>
          <a:xfrm>
            <a:off x="548640" y="2148840"/>
            <a:ext cx="402336" cy="402336"/>
          </a:xfrm>
          <a:prstGeom prst="ellipse">
            <a:avLst/>
          </a:prstGeom>
          <a:solidFill>
            <a:srgbClr val="5B6CE8"/>
          </a:solidFill>
          <a:ln/>
        </p:spPr>
      </p:sp>
      <p:sp>
        <p:nvSpPr>
          <p:cNvPr id="5" name="Text 3"/>
          <p:cNvSpPr/>
          <p:nvPr/>
        </p:nvSpPr>
        <p:spPr>
          <a:xfrm>
            <a:off x="548640" y="214884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15568" y="2093976"/>
            <a:ext cx="6108192" cy="384048"/>
          </a:xfrm>
          <a:prstGeom prst="rect">
            <a:avLst/>
          </a:prstGeom>
          <a:noFill/>
          <a:ln/>
        </p:spPr>
        <p:txBody>
          <a:bodyPr wrap="square" lIns="0" tIns="0" rIns="0" bIns="0" rtlCol="0" anchor="ctr"/>
          <a:lstStyle/>
          <a:p>
            <a:pPr algn="l" indent="0" marL="0">
              <a:buNone/>
            </a:pPr>
            <a:r>
              <a:rPr lang="en-US" sz="1500" b="1" dirty="0">
                <a:solidFill>
                  <a:srgbClr val="1E2247"/>
                </a:solidFill>
                <a:latin typeface="Calibri" pitchFamily="34" charset="0"/>
                <a:ea typeface="Calibri" pitchFamily="34" charset="-122"/>
                <a:cs typeface="Calibri" pitchFamily="34" charset="-120"/>
              </a:rPr>
              <a:t>We can talk to dreamers</a:t>
            </a:r>
            <a:endParaRPr lang="en-US" sz="1500" dirty="0"/>
          </a:p>
        </p:txBody>
      </p:sp>
      <p:sp>
        <p:nvSpPr>
          <p:cNvPr id="7" name="Text 5"/>
          <p:cNvSpPr/>
          <p:nvPr/>
        </p:nvSpPr>
        <p:spPr>
          <a:xfrm>
            <a:off x="1115568" y="2459736"/>
            <a:ext cx="6108192" cy="676656"/>
          </a:xfrm>
          <a:prstGeom prst="rect">
            <a:avLst/>
          </a:prstGeom>
          <a:noFill/>
          <a:ln/>
        </p:spPr>
        <p:txBody>
          <a:bodyPr wrap="square" lIns="0" tIns="0" rIns="0" bIns="0" rtlCol="0" anchor="t"/>
          <a:lstStyle/>
          <a:p>
            <a:pPr algn="l" indent="0" marL="0">
              <a:buNone/>
            </a:pPr>
            <a:r>
              <a:rPr lang="en-US" sz="1250" dirty="0">
                <a:solidFill>
                  <a:srgbClr val="5B6178"/>
                </a:solidFill>
                <a:latin typeface="Calibri" pitchFamily="34" charset="0"/>
                <a:ea typeface="Calibri" pitchFamily="34" charset="-122"/>
                <a:cs typeface="Calibri" pitchFamily="34" charset="-120"/>
              </a:rPr>
              <a:t>Across four labs, people in verified lucid REM answered experimenters' questions with prearranged eye movements — real-time, two-way dialogue with a dreaming brain.</a:t>
            </a:r>
            <a:endParaRPr lang="en-US" sz="1250" dirty="0"/>
          </a:p>
        </p:txBody>
      </p:sp>
      <p:sp>
        <p:nvSpPr>
          <p:cNvPr id="8" name="Text 6"/>
          <p:cNvSpPr/>
          <p:nvPr/>
        </p:nvSpPr>
        <p:spPr>
          <a:xfrm>
            <a:off x="1115568" y="3081528"/>
            <a:ext cx="6108192" cy="256032"/>
          </a:xfrm>
          <a:prstGeom prst="rect">
            <a:avLst/>
          </a:prstGeom>
          <a:noFill/>
          <a:ln/>
        </p:spPr>
        <p:txBody>
          <a:bodyPr wrap="square" lIns="0" tIns="0" rIns="0" bIns="0" rtlCol="0" anchor="t"/>
          <a:lstStyle/>
          <a:p>
            <a:pPr algn="l" indent="0" marL="0">
              <a:buNone/>
            </a:pPr>
            <a:r>
              <a:rPr lang="en-US" sz="1000" i="1" dirty="0">
                <a:solidFill>
                  <a:srgbClr val="8A90A6"/>
                </a:solidFill>
                <a:latin typeface="Calibri" pitchFamily="34" charset="0"/>
                <a:ea typeface="Calibri" pitchFamily="34" charset="-122"/>
                <a:cs typeface="Calibri" pitchFamily="34" charset="-120"/>
              </a:rPr>
              <a:t>Konkoly et al., 2021, Current Biology</a:t>
            </a:r>
            <a:endParaRPr lang="en-US" sz="1000" dirty="0"/>
          </a:p>
        </p:txBody>
      </p:sp>
      <p:sp>
        <p:nvSpPr>
          <p:cNvPr id="9" name="Shape 7"/>
          <p:cNvSpPr/>
          <p:nvPr/>
        </p:nvSpPr>
        <p:spPr>
          <a:xfrm>
            <a:off x="548640" y="3794760"/>
            <a:ext cx="402336" cy="402336"/>
          </a:xfrm>
          <a:prstGeom prst="ellipse">
            <a:avLst/>
          </a:prstGeom>
          <a:solidFill>
            <a:srgbClr val="5B6CE8"/>
          </a:solidFill>
          <a:ln/>
        </p:spPr>
      </p:sp>
      <p:sp>
        <p:nvSpPr>
          <p:cNvPr id="10" name="Text 8"/>
          <p:cNvSpPr/>
          <p:nvPr/>
        </p:nvSpPr>
        <p:spPr>
          <a:xfrm>
            <a:off x="548640" y="379476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15568" y="3739896"/>
            <a:ext cx="6108192" cy="384048"/>
          </a:xfrm>
          <a:prstGeom prst="rect">
            <a:avLst/>
          </a:prstGeom>
          <a:noFill/>
          <a:ln/>
        </p:spPr>
        <p:txBody>
          <a:bodyPr wrap="square" lIns="0" tIns="0" rIns="0" bIns="0" rtlCol="0" anchor="ctr"/>
          <a:lstStyle/>
          <a:p>
            <a:pPr algn="l" indent="0" marL="0">
              <a:buNone/>
            </a:pPr>
            <a:r>
              <a:rPr lang="en-US" sz="1500" b="1" dirty="0">
                <a:solidFill>
                  <a:srgbClr val="1E2247"/>
                </a:solidFill>
                <a:latin typeface="Calibri" pitchFamily="34" charset="0"/>
                <a:ea typeface="Calibri" pitchFamily="34" charset="-122"/>
                <a:cs typeface="Calibri" pitchFamily="34" charset="-120"/>
              </a:rPr>
              <a:t>A cue can trigger lucidity</a:t>
            </a:r>
            <a:endParaRPr lang="en-US" sz="1500" dirty="0"/>
          </a:p>
        </p:txBody>
      </p:sp>
      <p:sp>
        <p:nvSpPr>
          <p:cNvPr id="12" name="Text 10"/>
          <p:cNvSpPr/>
          <p:nvPr/>
        </p:nvSpPr>
        <p:spPr>
          <a:xfrm>
            <a:off x="1115568" y="4105656"/>
            <a:ext cx="6108192" cy="676656"/>
          </a:xfrm>
          <a:prstGeom prst="rect">
            <a:avLst/>
          </a:prstGeom>
          <a:noFill/>
          <a:ln/>
        </p:spPr>
        <p:txBody>
          <a:bodyPr wrap="square" lIns="0" tIns="0" rIns="0" bIns="0" rtlCol="0" anchor="t"/>
          <a:lstStyle/>
          <a:p>
            <a:pPr algn="l" indent="0" marL="0">
              <a:buNone/>
            </a:pPr>
            <a:r>
              <a:rPr lang="en-US" sz="1250" dirty="0">
                <a:solidFill>
                  <a:srgbClr val="5B6178"/>
                </a:solidFill>
                <a:latin typeface="Calibri" pitchFamily="34" charset="0"/>
                <a:ea typeface="Calibri" pitchFamily="34" charset="-122"/>
                <a:cs typeface="Calibri" pitchFamily="34" charset="-120"/>
              </a:rPr>
              <a:t>Pairing lucidity training with a sound cue, then replaying it in a morning-nap REM period, induced lucid dreams in about half of participants.</a:t>
            </a:r>
            <a:endParaRPr lang="en-US" sz="1250" dirty="0"/>
          </a:p>
        </p:txBody>
      </p:sp>
      <p:sp>
        <p:nvSpPr>
          <p:cNvPr id="13" name="Text 11"/>
          <p:cNvSpPr/>
          <p:nvPr/>
        </p:nvSpPr>
        <p:spPr>
          <a:xfrm>
            <a:off x="1115568" y="4727448"/>
            <a:ext cx="6108192" cy="256032"/>
          </a:xfrm>
          <a:prstGeom prst="rect">
            <a:avLst/>
          </a:prstGeom>
          <a:noFill/>
          <a:ln/>
        </p:spPr>
        <p:txBody>
          <a:bodyPr wrap="square" lIns="0" tIns="0" rIns="0" bIns="0" rtlCol="0" anchor="t"/>
          <a:lstStyle/>
          <a:p>
            <a:pPr algn="l" indent="0" marL="0">
              <a:buNone/>
            </a:pPr>
            <a:r>
              <a:rPr lang="en-US" sz="1000" i="1" dirty="0">
                <a:solidFill>
                  <a:srgbClr val="8A90A6"/>
                </a:solidFill>
                <a:latin typeface="Calibri" pitchFamily="34" charset="0"/>
                <a:ea typeface="Calibri" pitchFamily="34" charset="-122"/>
                <a:cs typeface="Calibri" pitchFamily="34" charset="-120"/>
              </a:rPr>
              <a:t>Carr et al., 2020 (TLR)</a:t>
            </a:r>
            <a:endParaRPr lang="en-US" sz="1000" dirty="0"/>
          </a:p>
        </p:txBody>
      </p:sp>
      <p:sp>
        <p:nvSpPr>
          <p:cNvPr id="14" name="Shape 12"/>
          <p:cNvSpPr/>
          <p:nvPr/>
        </p:nvSpPr>
        <p:spPr>
          <a:xfrm>
            <a:off x="7635240" y="2148840"/>
            <a:ext cx="4023360" cy="3703320"/>
          </a:xfrm>
          <a:prstGeom prst="roundRect">
            <a:avLst>
              <a:gd name="adj" fmla="val 2222"/>
            </a:avLst>
          </a:prstGeom>
          <a:solidFill>
            <a:srgbClr val="FBF0E1"/>
          </a:solidFill>
          <a:ln w="12700">
            <a:solidFill>
              <a:srgbClr val="EAD8BE"/>
            </a:solidFill>
            <a:prstDash val="solid"/>
          </a:ln>
        </p:spPr>
      </p:sp>
      <p:sp>
        <p:nvSpPr>
          <p:cNvPr id="15" name="Shape 13"/>
          <p:cNvSpPr/>
          <p:nvPr/>
        </p:nvSpPr>
        <p:spPr>
          <a:xfrm>
            <a:off x="7909560" y="2377440"/>
            <a:ext cx="384048" cy="384048"/>
          </a:xfrm>
          <a:prstGeom prst="ellipse">
            <a:avLst/>
          </a:prstGeom>
          <a:solidFill>
            <a:srgbClr val="B5722A"/>
          </a:solidFill>
          <a:ln/>
        </p:spPr>
      </p:sp>
      <p:sp>
        <p:nvSpPr>
          <p:cNvPr id="16" name="Text 14"/>
          <p:cNvSpPr/>
          <p:nvPr/>
        </p:nvSpPr>
        <p:spPr>
          <a:xfrm>
            <a:off x="7909560" y="2377440"/>
            <a:ext cx="384048" cy="384048"/>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412480" y="2359152"/>
            <a:ext cx="3017520" cy="411480"/>
          </a:xfrm>
          <a:prstGeom prst="rect">
            <a:avLst/>
          </a:prstGeom>
          <a:noFill/>
          <a:ln/>
        </p:spPr>
        <p:txBody>
          <a:bodyPr wrap="square" lIns="0" tIns="0" rIns="0" bIns="0" rtlCol="0" anchor="ctr"/>
          <a:lstStyle/>
          <a:p>
            <a:pPr indent="0" marL="0">
              <a:buNone/>
            </a:pPr>
            <a:r>
              <a:rPr lang="en-US" sz="1400" b="1" dirty="0">
                <a:solidFill>
                  <a:srgbClr val="B5722A"/>
                </a:solidFill>
                <a:latin typeface="Calibri" pitchFamily="34" charset="0"/>
                <a:ea typeface="Calibri" pitchFamily="34" charset="-122"/>
                <a:cs typeface="Calibri" pitchFamily="34" charset="-120"/>
              </a:rPr>
              <a:t>The honest caveat</a:t>
            </a:r>
            <a:endParaRPr lang="en-US" sz="1400" dirty="0"/>
          </a:p>
        </p:txBody>
      </p:sp>
      <p:sp>
        <p:nvSpPr>
          <p:cNvPr id="18" name="Text 16"/>
          <p:cNvSpPr/>
          <p:nvPr/>
        </p:nvSpPr>
        <p:spPr>
          <a:xfrm>
            <a:off x="7909560" y="2971800"/>
            <a:ext cx="3520440" cy="2194560"/>
          </a:xfrm>
          <a:prstGeom prst="rect">
            <a:avLst/>
          </a:prstGeom>
          <a:noFill/>
          <a:ln/>
        </p:spPr>
        <p:txBody>
          <a:bodyPr wrap="square" lIns="0" tIns="0" rIns="0" bIns="0" rtlCol="0" anchor="t"/>
          <a:lstStyle/>
          <a:p>
            <a:pPr indent="0" marL="0">
              <a:buNone/>
            </a:pPr>
            <a:r>
              <a:rPr lang="en-US" sz="1300" dirty="0">
                <a:solidFill>
                  <a:srgbClr val="6E5327"/>
                </a:solidFill>
                <a:latin typeface="Calibri" pitchFamily="34" charset="0"/>
                <a:ea typeface="Calibri" pitchFamily="34" charset="-122"/>
                <a:cs typeface="Calibri" pitchFamily="34" charset="-120"/>
              </a:rPr>
              <a:t>No technique reliably induces lucid dreams. A systematic review found none consistently effective, and success is highly person-dependent.</a:t>
            </a:r>
            <a:endParaRPr lang="en-US" sz="1300" dirty="0"/>
          </a:p>
          <a:p>
            <a:pPr indent="0" marL="0">
              <a:buNone/>
            </a:pPr>
            <a:endParaRPr lang="en-US" sz="1300" dirty="0"/>
          </a:p>
          <a:p>
            <a:pPr indent="0" marL="0">
              <a:buNone/>
            </a:pPr>
            <a:r>
              <a:rPr lang="en-US" sz="1300" dirty="0">
                <a:solidFill>
                  <a:srgbClr val="6E5327"/>
                </a:solidFill>
                <a:latin typeface="Calibri" pitchFamily="34" charset="0"/>
                <a:ea typeface="Calibri" pitchFamily="34" charset="-122"/>
                <a:cs typeface="Calibri" pitchFamily="34" charset="-120"/>
              </a:rPr>
              <a:t>The 50% figure is a best-case lab nap — not a nightly at-home expectation.</a:t>
            </a:r>
            <a:endParaRPr lang="en-US" sz="1300" dirty="0"/>
          </a:p>
        </p:txBody>
      </p:sp>
      <p:sp>
        <p:nvSpPr>
          <p:cNvPr id="19" name="Text 17"/>
          <p:cNvSpPr/>
          <p:nvPr/>
        </p:nvSpPr>
        <p:spPr>
          <a:xfrm>
            <a:off x="7909560" y="5440680"/>
            <a:ext cx="3566160" cy="274320"/>
          </a:xfrm>
          <a:prstGeom prst="rect">
            <a:avLst/>
          </a:prstGeom>
          <a:noFill/>
          <a:ln/>
        </p:spPr>
        <p:txBody>
          <a:bodyPr wrap="square" rtlCol="0" anchor="ctr"/>
          <a:lstStyle/>
          <a:p>
            <a:pPr indent="0" marL="0">
              <a:buNone/>
            </a:pPr>
            <a:r>
              <a:rPr lang="en-US" sz="1000" i="1" dirty="0">
                <a:solidFill>
                  <a:srgbClr val="A98A5A"/>
                </a:solidFill>
                <a:latin typeface="Calibri" pitchFamily="34" charset="0"/>
                <a:ea typeface="Calibri" pitchFamily="34" charset="-122"/>
                <a:cs typeface="Calibri" pitchFamily="34" charset="-120"/>
              </a:rPr>
              <a:t>Stumbrys et al., 2012, Conscious. Cogn.</a:t>
            </a:r>
            <a:endParaRPr lang="en-US" sz="1000" dirty="0"/>
          </a:p>
        </p:txBody>
      </p:sp>
      <p:sp>
        <p:nvSpPr>
          <p:cNvPr id="20" name="Shape 18"/>
          <p:cNvSpPr/>
          <p:nvPr/>
        </p:nvSpPr>
        <p:spPr>
          <a:xfrm>
            <a:off x="557784" y="6355080"/>
            <a:ext cx="201168" cy="201168"/>
          </a:xfrm>
          <a:prstGeom prst="ellipse">
            <a:avLst/>
          </a:prstGeom>
          <a:solidFill>
            <a:srgbClr val="F5F0E1"/>
          </a:solidFill>
          <a:ln/>
        </p:spPr>
      </p:sp>
      <p:sp>
        <p:nvSpPr>
          <p:cNvPr id="21" name="Shape 19"/>
          <p:cNvSpPr/>
          <p:nvPr/>
        </p:nvSpPr>
        <p:spPr>
          <a:xfrm>
            <a:off x="620146" y="6340998"/>
            <a:ext cx="201168" cy="201168"/>
          </a:xfrm>
          <a:prstGeom prst="ellipse">
            <a:avLst/>
          </a:prstGeom>
          <a:solidFill>
            <a:srgbClr val="FFFFFF"/>
          </a:solidFill>
          <a:ln/>
        </p:spPr>
      </p:sp>
      <p:sp>
        <p:nvSpPr>
          <p:cNvPr id="22" name="Text 20"/>
          <p:cNvSpPr/>
          <p:nvPr/>
        </p:nvSpPr>
        <p:spPr>
          <a:xfrm>
            <a:off x="841248" y="6245352"/>
            <a:ext cx="2743200" cy="365760"/>
          </a:xfrm>
          <a:prstGeom prst="rect">
            <a:avLst/>
          </a:prstGeom>
          <a:noFill/>
          <a:ln/>
        </p:spPr>
        <p:txBody>
          <a:bodyPr wrap="square" rtlCol="0" anchor="ctr"/>
          <a:lstStyle/>
          <a:p>
            <a:pPr algn="l" indent="0" marL="0">
              <a:buNone/>
            </a:pPr>
            <a:r>
              <a:rPr lang="en-US" sz="900" dirty="0">
                <a:solidFill>
                  <a:srgbClr val="8A90A6"/>
                </a:solidFill>
                <a:latin typeface="Calibri" pitchFamily="34" charset="0"/>
                <a:ea typeface="Calibri" pitchFamily="34" charset="-122"/>
                <a:cs typeface="Calibri" pitchFamily="34" charset="-120"/>
              </a:rPr>
              <a:t>Dream Sync</a:t>
            </a:r>
            <a:endParaRPr lang="en-US" sz="900" dirty="0"/>
          </a:p>
        </p:txBody>
      </p:sp>
      <p:sp>
        <p:nvSpPr>
          <p:cNvPr id="23" name="Text 21"/>
          <p:cNvSpPr/>
          <p:nvPr/>
        </p:nvSpPr>
        <p:spPr>
          <a:xfrm>
            <a:off x="11247120" y="6245352"/>
            <a:ext cx="457200" cy="365760"/>
          </a:xfrm>
          <a:prstGeom prst="rect">
            <a:avLst/>
          </a:prstGeom>
          <a:noFill/>
          <a:ln/>
        </p:spPr>
        <p:txBody>
          <a:bodyPr wrap="square" rtlCol="0" anchor="ctr"/>
          <a:lstStyle/>
          <a:p>
            <a:pPr algn="r" indent="0" marL="0">
              <a:buNone/>
            </a:pPr>
            <a:r>
              <a:rPr lang="en-US" sz="900" dirty="0">
                <a:solidFill>
                  <a:srgbClr val="8A90A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868680"/>
          </a:xfrm>
          <a:prstGeom prst="rect">
            <a:avLst/>
          </a:prstGeom>
          <a:noFill/>
          <a:ln/>
        </p:spPr>
        <p:txBody>
          <a:bodyPr wrap="square" rtlCol="0" anchor="ctr"/>
          <a:lstStyle/>
          <a:p>
            <a:pPr algn="l" indent="0" marL="0">
              <a:buNone/>
            </a:pPr>
            <a:r>
              <a:rPr lang="en-US" sz="3000" b="1" dirty="0">
                <a:solidFill>
                  <a:srgbClr val="1E2247"/>
                </a:solidFill>
                <a:latin typeface="Cambria" pitchFamily="34" charset="0"/>
                <a:ea typeface="Cambria" pitchFamily="34" charset="-122"/>
                <a:cs typeface="Cambria" pitchFamily="34" charset="-120"/>
              </a:rPr>
              <a:t>The engine: when — and whether — to cue</a:t>
            </a:r>
            <a:endParaRPr lang="en-US" sz="3000" dirty="0"/>
          </a:p>
        </p:txBody>
      </p:sp>
      <p:sp>
        <p:nvSpPr>
          <p:cNvPr id="3" name="Text 1"/>
          <p:cNvSpPr/>
          <p:nvPr/>
        </p:nvSpPr>
        <p:spPr>
          <a:xfrm>
            <a:off x="548640" y="1188720"/>
            <a:ext cx="10972800" cy="548640"/>
          </a:xfrm>
          <a:prstGeom prst="rect">
            <a:avLst/>
          </a:prstGeom>
          <a:noFill/>
          <a:ln/>
        </p:spPr>
        <p:txBody>
          <a:bodyPr wrap="square" rtlCol="0" anchor="t"/>
          <a:lstStyle/>
          <a:p>
            <a:pPr indent="0" marL="0">
              <a:buNone/>
            </a:pPr>
            <a:r>
              <a:rPr lang="en-US" sz="1450" dirty="0">
                <a:solidFill>
                  <a:srgbClr val="5B6178"/>
                </a:solidFill>
                <a:latin typeface="Calibri" pitchFamily="34" charset="0"/>
                <a:ea typeface="Calibri" pitchFamily="34" charset="-122"/>
                <a:cs typeface="Calibri" pitchFamily="34" charset="-120"/>
              </a:rPr>
              <a:t>The watch never assumes it's right. It only cues after evidence lines up, and it backs off at the first sign of waking.</a:t>
            </a:r>
            <a:endParaRPr lang="en-US" sz="1450" dirty="0"/>
          </a:p>
        </p:txBody>
      </p:sp>
      <p:sp>
        <p:nvSpPr>
          <p:cNvPr id="4" name="Shape 2"/>
          <p:cNvSpPr/>
          <p:nvPr/>
        </p:nvSpPr>
        <p:spPr>
          <a:xfrm>
            <a:off x="548640" y="1965960"/>
            <a:ext cx="402336" cy="402336"/>
          </a:xfrm>
          <a:prstGeom prst="ellipse">
            <a:avLst/>
          </a:prstGeom>
          <a:solidFill>
            <a:srgbClr val="5B6CE8"/>
          </a:solidFill>
          <a:ln/>
        </p:spPr>
      </p:sp>
      <p:sp>
        <p:nvSpPr>
          <p:cNvPr id="5" name="Text 3"/>
          <p:cNvSpPr/>
          <p:nvPr/>
        </p:nvSpPr>
        <p:spPr>
          <a:xfrm>
            <a:off x="548640" y="196596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15568" y="1911096"/>
            <a:ext cx="4919472" cy="384048"/>
          </a:xfrm>
          <a:prstGeom prst="rect">
            <a:avLst/>
          </a:prstGeom>
          <a:noFill/>
          <a:ln/>
        </p:spPr>
        <p:txBody>
          <a:bodyPr wrap="square" lIns="0" tIns="0" rIns="0" bIns="0" rtlCol="0" anchor="ctr"/>
          <a:lstStyle/>
          <a:p>
            <a:pPr algn="l" indent="0" marL="0">
              <a:buNone/>
            </a:pPr>
            <a:r>
              <a:rPr lang="en-US" sz="1500" b="1" dirty="0">
                <a:solidFill>
                  <a:srgbClr val="1E2247"/>
                </a:solidFill>
                <a:latin typeface="Calibri" pitchFamily="34" charset="0"/>
                <a:ea typeface="Calibri" pitchFamily="34" charset="-122"/>
                <a:cs typeface="Calibri" pitchFamily="34" charset="-120"/>
              </a:rPr>
              <a:t>Estimate the stage</a:t>
            </a:r>
            <a:endParaRPr lang="en-US" sz="1500" dirty="0"/>
          </a:p>
        </p:txBody>
      </p:sp>
      <p:sp>
        <p:nvSpPr>
          <p:cNvPr id="7" name="Text 5"/>
          <p:cNvSpPr/>
          <p:nvPr/>
        </p:nvSpPr>
        <p:spPr>
          <a:xfrm>
            <a:off x="1115568" y="2276856"/>
            <a:ext cx="4919472" cy="676656"/>
          </a:xfrm>
          <a:prstGeom prst="rect">
            <a:avLst/>
          </a:prstGeom>
          <a:noFill/>
          <a:ln/>
        </p:spPr>
        <p:txBody>
          <a:bodyPr wrap="square" lIns="0" tIns="0" rIns="0" bIns="0" rtlCol="0" anchor="t"/>
          <a:lstStyle/>
          <a:p>
            <a:pPr algn="l" indent="0" marL="0">
              <a:buNone/>
            </a:pPr>
            <a:r>
              <a:rPr lang="en-US" sz="1250" dirty="0">
                <a:solidFill>
                  <a:srgbClr val="5B6178"/>
                </a:solidFill>
                <a:latin typeface="Calibri" pitchFamily="34" charset="0"/>
                <a:ea typeface="Calibri" pitchFamily="34" charset="-122"/>
                <a:cs typeface="Calibri" pitchFamily="34" charset="-120"/>
              </a:rPr>
              <a:t>Motion stillness + heart-rate features + time-of-night priors.</a:t>
            </a:r>
            <a:endParaRPr lang="en-US" sz="1250" dirty="0"/>
          </a:p>
        </p:txBody>
      </p:sp>
      <p:sp>
        <p:nvSpPr>
          <p:cNvPr id="8" name="Shape 6"/>
          <p:cNvSpPr/>
          <p:nvPr/>
        </p:nvSpPr>
        <p:spPr>
          <a:xfrm>
            <a:off x="548640" y="3063240"/>
            <a:ext cx="402336" cy="402336"/>
          </a:xfrm>
          <a:prstGeom prst="ellipse">
            <a:avLst/>
          </a:prstGeom>
          <a:solidFill>
            <a:srgbClr val="5B6CE8"/>
          </a:solidFill>
          <a:ln/>
        </p:spPr>
      </p:sp>
      <p:sp>
        <p:nvSpPr>
          <p:cNvPr id="9" name="Text 7"/>
          <p:cNvSpPr/>
          <p:nvPr/>
        </p:nvSpPr>
        <p:spPr>
          <a:xfrm>
            <a:off x="548640" y="306324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15568" y="3008376"/>
            <a:ext cx="4919472" cy="384048"/>
          </a:xfrm>
          <a:prstGeom prst="rect">
            <a:avLst/>
          </a:prstGeom>
          <a:noFill/>
          <a:ln/>
        </p:spPr>
        <p:txBody>
          <a:bodyPr wrap="square" lIns="0" tIns="0" rIns="0" bIns="0" rtlCol="0" anchor="ctr"/>
          <a:lstStyle/>
          <a:p>
            <a:pPr algn="l" indent="0" marL="0">
              <a:buNone/>
            </a:pPr>
            <a:r>
              <a:rPr lang="en-US" sz="1500" b="1" dirty="0">
                <a:solidFill>
                  <a:srgbClr val="1E2247"/>
                </a:solidFill>
                <a:latin typeface="Calibri" pitchFamily="34" charset="0"/>
                <a:ea typeface="Calibri" pitchFamily="34" charset="-122"/>
                <a:cs typeface="Calibri" pitchFamily="34" charset="-120"/>
              </a:rPr>
              <a:t>Require stability</a:t>
            </a:r>
            <a:endParaRPr lang="en-US" sz="1500" dirty="0"/>
          </a:p>
        </p:txBody>
      </p:sp>
      <p:sp>
        <p:nvSpPr>
          <p:cNvPr id="11" name="Text 9"/>
          <p:cNvSpPr/>
          <p:nvPr/>
        </p:nvSpPr>
        <p:spPr>
          <a:xfrm>
            <a:off x="1115568" y="3374136"/>
            <a:ext cx="4919472" cy="676656"/>
          </a:xfrm>
          <a:prstGeom prst="rect">
            <a:avLst/>
          </a:prstGeom>
          <a:noFill/>
          <a:ln/>
        </p:spPr>
        <p:txBody>
          <a:bodyPr wrap="square" lIns="0" tIns="0" rIns="0" bIns="0" rtlCol="0" anchor="t"/>
          <a:lstStyle/>
          <a:p>
            <a:pPr algn="l" indent="0" marL="0">
              <a:buNone/>
            </a:pPr>
            <a:r>
              <a:rPr lang="en-US" sz="1250" dirty="0">
                <a:solidFill>
                  <a:srgbClr val="5B6178"/>
                </a:solidFill>
                <a:latin typeface="Calibri" pitchFamily="34" charset="0"/>
                <a:ea typeface="Calibri" pitchFamily="34" charset="-122"/>
                <a:cs typeface="Calibri" pitchFamily="34" charset="-120"/>
              </a:rPr>
              <a:t>The stage must hold for minutes inside its time window before any cue.</a:t>
            </a:r>
            <a:endParaRPr lang="en-US" sz="1250" dirty="0"/>
          </a:p>
        </p:txBody>
      </p:sp>
      <p:sp>
        <p:nvSpPr>
          <p:cNvPr id="12" name="Shape 10"/>
          <p:cNvSpPr/>
          <p:nvPr/>
        </p:nvSpPr>
        <p:spPr>
          <a:xfrm>
            <a:off x="548640" y="4160520"/>
            <a:ext cx="402336" cy="402336"/>
          </a:xfrm>
          <a:prstGeom prst="ellipse">
            <a:avLst/>
          </a:prstGeom>
          <a:solidFill>
            <a:srgbClr val="5B6CE8"/>
          </a:solidFill>
          <a:ln/>
        </p:spPr>
      </p:sp>
      <p:sp>
        <p:nvSpPr>
          <p:cNvPr id="13" name="Text 11"/>
          <p:cNvSpPr/>
          <p:nvPr/>
        </p:nvSpPr>
        <p:spPr>
          <a:xfrm>
            <a:off x="548640" y="416052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15568" y="4105656"/>
            <a:ext cx="4919472" cy="384048"/>
          </a:xfrm>
          <a:prstGeom prst="rect">
            <a:avLst/>
          </a:prstGeom>
          <a:noFill/>
          <a:ln/>
        </p:spPr>
        <p:txBody>
          <a:bodyPr wrap="square" lIns="0" tIns="0" rIns="0" bIns="0" rtlCol="0" anchor="ctr"/>
          <a:lstStyle/>
          <a:p>
            <a:pPr algn="l" indent="0" marL="0">
              <a:buNone/>
            </a:pPr>
            <a:r>
              <a:rPr lang="en-US" sz="1500" b="1" dirty="0">
                <a:solidFill>
                  <a:srgbClr val="1E2247"/>
                </a:solidFill>
                <a:latin typeface="Calibri" pitchFamily="34" charset="0"/>
                <a:ea typeface="Calibri" pitchFamily="34" charset="-122"/>
                <a:cs typeface="Calibri" pitchFamily="34" charset="-120"/>
              </a:rPr>
              <a:t>Back off on arousal</a:t>
            </a:r>
            <a:endParaRPr lang="en-US" sz="1500" dirty="0"/>
          </a:p>
        </p:txBody>
      </p:sp>
      <p:sp>
        <p:nvSpPr>
          <p:cNvPr id="15" name="Text 13"/>
          <p:cNvSpPr/>
          <p:nvPr/>
        </p:nvSpPr>
        <p:spPr>
          <a:xfrm>
            <a:off x="1115568" y="4471416"/>
            <a:ext cx="4919472" cy="676656"/>
          </a:xfrm>
          <a:prstGeom prst="rect">
            <a:avLst/>
          </a:prstGeom>
          <a:noFill/>
          <a:ln/>
        </p:spPr>
        <p:txBody>
          <a:bodyPr wrap="square" lIns="0" tIns="0" rIns="0" bIns="0" rtlCol="0" anchor="t"/>
          <a:lstStyle/>
          <a:p>
            <a:pPr algn="l" indent="0" marL="0">
              <a:buNone/>
            </a:pPr>
            <a:r>
              <a:rPr lang="en-US" sz="1250" dirty="0">
                <a:solidFill>
                  <a:srgbClr val="5B6178"/>
                </a:solidFill>
                <a:latin typeface="Calibri" pitchFamily="34" charset="0"/>
                <a:ea typeface="Calibri" pitchFamily="34" charset="-122"/>
                <a:cs typeface="Calibri" pitchFamily="34" charset="-120"/>
              </a:rPr>
              <a:t>Movement or a heart-rate spike ends the block and starts a cool-down.</a:t>
            </a:r>
            <a:endParaRPr lang="en-US" sz="1250" dirty="0"/>
          </a:p>
        </p:txBody>
      </p:sp>
      <p:sp>
        <p:nvSpPr>
          <p:cNvPr id="16" name="Shape 14"/>
          <p:cNvSpPr/>
          <p:nvPr/>
        </p:nvSpPr>
        <p:spPr>
          <a:xfrm>
            <a:off x="548640" y="5257800"/>
            <a:ext cx="402336" cy="402336"/>
          </a:xfrm>
          <a:prstGeom prst="ellipse">
            <a:avLst/>
          </a:prstGeom>
          <a:solidFill>
            <a:srgbClr val="5B6CE8"/>
          </a:solidFill>
          <a:ln/>
        </p:spPr>
      </p:sp>
      <p:sp>
        <p:nvSpPr>
          <p:cNvPr id="17" name="Text 15"/>
          <p:cNvSpPr/>
          <p:nvPr/>
        </p:nvSpPr>
        <p:spPr>
          <a:xfrm>
            <a:off x="548640" y="525780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115568" y="5202936"/>
            <a:ext cx="4919472" cy="384048"/>
          </a:xfrm>
          <a:prstGeom prst="rect">
            <a:avLst/>
          </a:prstGeom>
          <a:noFill/>
          <a:ln/>
        </p:spPr>
        <p:txBody>
          <a:bodyPr wrap="square" lIns="0" tIns="0" rIns="0" bIns="0" rtlCol="0" anchor="ctr"/>
          <a:lstStyle/>
          <a:p>
            <a:pPr algn="l" indent="0" marL="0">
              <a:buNone/>
            </a:pPr>
            <a:r>
              <a:rPr lang="en-US" sz="1500" b="1" dirty="0">
                <a:solidFill>
                  <a:srgbClr val="1E2247"/>
                </a:solidFill>
                <a:latin typeface="Calibri" pitchFamily="34" charset="0"/>
                <a:ea typeface="Calibri" pitchFamily="34" charset="-122"/>
                <a:cs typeface="Calibri" pitchFamily="34" charset="-120"/>
              </a:rPr>
              <a:t>Self-limit</a:t>
            </a:r>
            <a:endParaRPr lang="en-US" sz="1500" dirty="0"/>
          </a:p>
        </p:txBody>
      </p:sp>
      <p:sp>
        <p:nvSpPr>
          <p:cNvPr id="19" name="Text 17"/>
          <p:cNvSpPr/>
          <p:nvPr/>
        </p:nvSpPr>
        <p:spPr>
          <a:xfrm>
            <a:off x="1115568" y="5568696"/>
            <a:ext cx="4919472" cy="676656"/>
          </a:xfrm>
          <a:prstGeom prst="rect">
            <a:avLst/>
          </a:prstGeom>
          <a:noFill/>
          <a:ln/>
        </p:spPr>
        <p:txBody>
          <a:bodyPr wrap="square" lIns="0" tIns="0" rIns="0" bIns="0" rtlCol="0" anchor="t"/>
          <a:lstStyle/>
          <a:p>
            <a:pPr algn="l" indent="0" marL="0">
              <a:buNone/>
            </a:pPr>
            <a:r>
              <a:rPr lang="en-US" sz="1250" dirty="0">
                <a:solidFill>
                  <a:srgbClr val="5B6178"/>
                </a:solidFill>
                <a:latin typeface="Calibri" pitchFamily="34" charset="0"/>
                <a:ea typeface="Calibri" pitchFamily="34" charset="-122"/>
                <a:cs typeface="Calibri" pitchFamily="34" charset="-120"/>
              </a:rPr>
              <a:t>Three cue-linked awakenings and cues shut off for the night.</a:t>
            </a:r>
            <a:endParaRPr lang="en-US" sz="1250" dirty="0"/>
          </a:p>
        </p:txBody>
      </p:sp>
      <p:sp>
        <p:nvSpPr>
          <p:cNvPr id="20" name="Text 18"/>
          <p:cNvSpPr/>
          <p:nvPr/>
        </p:nvSpPr>
        <p:spPr>
          <a:xfrm>
            <a:off x="6492240" y="1874520"/>
            <a:ext cx="5074920" cy="365760"/>
          </a:xfrm>
          <a:prstGeom prst="rect">
            <a:avLst/>
          </a:prstGeom>
          <a:noFill/>
          <a:ln/>
        </p:spPr>
        <p:txBody>
          <a:bodyPr wrap="square" rtlCol="0" anchor="ctr"/>
          <a:lstStyle/>
          <a:p>
            <a:pPr indent="0" marL="0">
              <a:buNone/>
            </a:pPr>
            <a:r>
              <a:rPr lang="en-US" sz="1250" b="1" dirty="0">
                <a:solidFill>
                  <a:srgbClr val="1E2247"/>
                </a:solidFill>
                <a:latin typeface="Calibri" pitchFamily="34" charset="0"/>
                <a:ea typeface="Calibri" pitchFamily="34" charset="-122"/>
                <a:cs typeface="Calibri" pitchFamily="34" charset="-120"/>
              </a:rPr>
              <a:t>Typical night: deep front-loads, REM back-loads</a:t>
            </a:r>
            <a:endParaRPr lang="en-US" sz="1250" dirty="0"/>
          </a:p>
        </p:txBody>
      </p:sp>
      <p:sp>
        <p:nvSpPr>
          <p:cNvPr id="21" name="Shape 19"/>
          <p:cNvSpPr/>
          <p:nvPr/>
        </p:nvSpPr>
        <p:spPr>
          <a:xfrm>
            <a:off x="6492240" y="5074920"/>
            <a:ext cx="5074920" cy="0"/>
          </a:xfrm>
          <a:prstGeom prst="line">
            <a:avLst/>
          </a:prstGeom>
          <a:noFill/>
          <a:ln w="12700">
            <a:solidFill>
              <a:srgbClr val="C9CEDF"/>
            </a:solidFill>
            <a:prstDash val="solid"/>
          </a:ln>
        </p:spPr>
      </p:sp>
      <p:sp>
        <p:nvSpPr>
          <p:cNvPr id="22" name="Shape 20"/>
          <p:cNvSpPr/>
          <p:nvPr/>
        </p:nvSpPr>
        <p:spPr>
          <a:xfrm>
            <a:off x="6629400" y="3520440"/>
            <a:ext cx="457200" cy="1554480"/>
          </a:xfrm>
          <a:prstGeom prst="rect">
            <a:avLst/>
          </a:prstGeom>
          <a:solidFill>
            <a:srgbClr val="5B6CE8"/>
          </a:solidFill>
          <a:ln/>
        </p:spPr>
      </p:sp>
      <p:sp>
        <p:nvSpPr>
          <p:cNvPr id="23" name="Shape 21"/>
          <p:cNvSpPr/>
          <p:nvPr/>
        </p:nvSpPr>
        <p:spPr>
          <a:xfrm>
            <a:off x="7196328" y="3840480"/>
            <a:ext cx="457200" cy="1234440"/>
          </a:xfrm>
          <a:prstGeom prst="rect">
            <a:avLst/>
          </a:prstGeom>
          <a:solidFill>
            <a:srgbClr val="5B6CE8"/>
          </a:solidFill>
          <a:ln/>
        </p:spPr>
      </p:sp>
      <p:sp>
        <p:nvSpPr>
          <p:cNvPr id="24" name="Shape 22"/>
          <p:cNvSpPr/>
          <p:nvPr/>
        </p:nvSpPr>
        <p:spPr>
          <a:xfrm>
            <a:off x="7763256" y="4206240"/>
            <a:ext cx="457200" cy="868680"/>
          </a:xfrm>
          <a:prstGeom prst="rect">
            <a:avLst/>
          </a:prstGeom>
          <a:solidFill>
            <a:srgbClr val="5B6CE8"/>
          </a:solidFill>
          <a:ln/>
        </p:spPr>
      </p:sp>
      <p:sp>
        <p:nvSpPr>
          <p:cNvPr id="25" name="Shape 23"/>
          <p:cNvSpPr/>
          <p:nvPr/>
        </p:nvSpPr>
        <p:spPr>
          <a:xfrm>
            <a:off x="8330184" y="4572000"/>
            <a:ext cx="457200" cy="502920"/>
          </a:xfrm>
          <a:prstGeom prst="rect">
            <a:avLst/>
          </a:prstGeom>
          <a:solidFill>
            <a:srgbClr val="5B6CE8"/>
          </a:solidFill>
          <a:ln/>
        </p:spPr>
      </p:sp>
      <p:sp>
        <p:nvSpPr>
          <p:cNvPr id="26" name="Shape 24"/>
          <p:cNvSpPr/>
          <p:nvPr/>
        </p:nvSpPr>
        <p:spPr>
          <a:xfrm>
            <a:off x="9235440" y="4617720"/>
            <a:ext cx="457200" cy="457200"/>
          </a:xfrm>
          <a:prstGeom prst="rect">
            <a:avLst/>
          </a:prstGeom>
          <a:solidFill>
            <a:srgbClr val="818CF8"/>
          </a:solidFill>
          <a:ln/>
        </p:spPr>
      </p:sp>
      <p:sp>
        <p:nvSpPr>
          <p:cNvPr id="27" name="Shape 25"/>
          <p:cNvSpPr/>
          <p:nvPr/>
        </p:nvSpPr>
        <p:spPr>
          <a:xfrm>
            <a:off x="9802368" y="4343400"/>
            <a:ext cx="457200" cy="731520"/>
          </a:xfrm>
          <a:prstGeom prst="rect">
            <a:avLst/>
          </a:prstGeom>
          <a:solidFill>
            <a:srgbClr val="818CF8"/>
          </a:solidFill>
          <a:ln/>
        </p:spPr>
      </p:sp>
      <p:sp>
        <p:nvSpPr>
          <p:cNvPr id="28" name="Shape 26"/>
          <p:cNvSpPr/>
          <p:nvPr/>
        </p:nvSpPr>
        <p:spPr>
          <a:xfrm>
            <a:off x="10369296" y="4023360"/>
            <a:ext cx="457200" cy="1051560"/>
          </a:xfrm>
          <a:prstGeom prst="rect">
            <a:avLst/>
          </a:prstGeom>
          <a:solidFill>
            <a:srgbClr val="818CF8"/>
          </a:solidFill>
          <a:ln/>
        </p:spPr>
      </p:sp>
      <p:sp>
        <p:nvSpPr>
          <p:cNvPr id="29" name="Shape 27"/>
          <p:cNvSpPr/>
          <p:nvPr/>
        </p:nvSpPr>
        <p:spPr>
          <a:xfrm>
            <a:off x="10936224" y="3703320"/>
            <a:ext cx="457200" cy="1371600"/>
          </a:xfrm>
          <a:prstGeom prst="rect">
            <a:avLst/>
          </a:prstGeom>
          <a:solidFill>
            <a:srgbClr val="818CF8"/>
          </a:solidFill>
          <a:ln/>
        </p:spPr>
      </p:sp>
      <p:sp>
        <p:nvSpPr>
          <p:cNvPr id="30" name="Text 28"/>
          <p:cNvSpPr/>
          <p:nvPr/>
        </p:nvSpPr>
        <p:spPr>
          <a:xfrm>
            <a:off x="6537960" y="5166360"/>
            <a:ext cx="2286000" cy="320040"/>
          </a:xfrm>
          <a:prstGeom prst="rect">
            <a:avLst/>
          </a:prstGeom>
          <a:noFill/>
          <a:ln/>
        </p:spPr>
        <p:txBody>
          <a:bodyPr wrap="square" rtlCol="0" anchor="ctr"/>
          <a:lstStyle/>
          <a:p>
            <a:pPr indent="0" marL="0">
              <a:buNone/>
            </a:pPr>
            <a:r>
              <a:rPr lang="en-US" sz="1100" b="1" dirty="0">
                <a:solidFill>
                  <a:srgbClr val="5B6CE8"/>
                </a:solidFill>
                <a:latin typeface="Calibri" pitchFamily="34" charset="0"/>
                <a:ea typeface="Calibri" pitchFamily="34" charset="-122"/>
                <a:cs typeface="Calibri" pitchFamily="34" charset="-120"/>
              </a:rPr>
              <a:t>Deep cue window</a:t>
            </a:r>
            <a:endParaRPr lang="en-US" sz="1100" dirty="0"/>
          </a:p>
        </p:txBody>
      </p:sp>
      <p:sp>
        <p:nvSpPr>
          <p:cNvPr id="31" name="Text 29"/>
          <p:cNvSpPr/>
          <p:nvPr/>
        </p:nvSpPr>
        <p:spPr>
          <a:xfrm>
            <a:off x="9189720" y="5166360"/>
            <a:ext cx="2286000" cy="320040"/>
          </a:xfrm>
          <a:prstGeom prst="rect">
            <a:avLst/>
          </a:prstGeom>
          <a:noFill/>
          <a:ln/>
        </p:spPr>
        <p:txBody>
          <a:bodyPr wrap="square" rtlCol="0" anchor="ctr"/>
          <a:lstStyle/>
          <a:p>
            <a:pPr algn="r" indent="0" marL="0">
              <a:buNone/>
            </a:pPr>
            <a:r>
              <a:rPr lang="en-US" sz="1100" b="1" dirty="0">
                <a:solidFill>
                  <a:srgbClr val="818CF8"/>
                </a:solidFill>
                <a:latin typeface="Calibri" pitchFamily="34" charset="0"/>
                <a:ea typeface="Calibri" pitchFamily="34" charset="-122"/>
                <a:cs typeface="Calibri" pitchFamily="34" charset="-120"/>
              </a:rPr>
              <a:t>Lucid cue window</a:t>
            </a:r>
            <a:endParaRPr lang="en-US" sz="1100" dirty="0"/>
          </a:p>
        </p:txBody>
      </p:sp>
      <p:sp>
        <p:nvSpPr>
          <p:cNvPr id="32" name="Text 30"/>
          <p:cNvSpPr/>
          <p:nvPr/>
        </p:nvSpPr>
        <p:spPr>
          <a:xfrm>
            <a:off x="6492240" y="5486400"/>
            <a:ext cx="548640" cy="274320"/>
          </a:xfrm>
          <a:prstGeom prst="rect">
            <a:avLst/>
          </a:prstGeom>
          <a:noFill/>
          <a:ln/>
        </p:spPr>
        <p:txBody>
          <a:bodyPr wrap="square" rtlCol="0" anchor="ctr"/>
          <a:lstStyle/>
          <a:p>
            <a:pPr indent="0" marL="0">
              <a:buNone/>
            </a:pPr>
            <a:r>
              <a:rPr lang="en-US" sz="1000" dirty="0">
                <a:solidFill>
                  <a:srgbClr val="5B6178"/>
                </a:solidFill>
                <a:latin typeface="Calibri" pitchFamily="34" charset="0"/>
                <a:ea typeface="Calibri" pitchFamily="34" charset="-122"/>
                <a:cs typeface="Calibri" pitchFamily="34" charset="-120"/>
              </a:rPr>
              <a:t>0 h</a:t>
            </a:r>
            <a:endParaRPr lang="en-US" sz="1000" dirty="0"/>
          </a:p>
        </p:txBody>
      </p:sp>
      <p:sp>
        <p:nvSpPr>
          <p:cNvPr id="33" name="Text 31"/>
          <p:cNvSpPr/>
          <p:nvPr/>
        </p:nvSpPr>
        <p:spPr>
          <a:xfrm>
            <a:off x="11018520" y="5486400"/>
            <a:ext cx="548640" cy="274320"/>
          </a:xfrm>
          <a:prstGeom prst="rect">
            <a:avLst/>
          </a:prstGeom>
          <a:noFill/>
          <a:ln/>
        </p:spPr>
        <p:txBody>
          <a:bodyPr wrap="square" rtlCol="0" anchor="ctr"/>
          <a:lstStyle/>
          <a:p>
            <a:pPr algn="r" indent="0" marL="0">
              <a:buNone/>
            </a:pPr>
            <a:r>
              <a:rPr lang="en-US" sz="1000" dirty="0">
                <a:solidFill>
                  <a:srgbClr val="5B6178"/>
                </a:solidFill>
                <a:latin typeface="Calibri" pitchFamily="34" charset="0"/>
                <a:ea typeface="Calibri" pitchFamily="34" charset="-122"/>
                <a:cs typeface="Calibri" pitchFamily="34" charset="-120"/>
              </a:rPr>
              <a:t>~8 h</a:t>
            </a:r>
            <a:endParaRPr lang="en-US" sz="1000" dirty="0"/>
          </a:p>
        </p:txBody>
      </p:sp>
      <p:sp>
        <p:nvSpPr>
          <p:cNvPr id="34" name="Shape 32"/>
          <p:cNvSpPr/>
          <p:nvPr/>
        </p:nvSpPr>
        <p:spPr>
          <a:xfrm>
            <a:off x="557784" y="6355080"/>
            <a:ext cx="201168" cy="201168"/>
          </a:xfrm>
          <a:prstGeom prst="ellipse">
            <a:avLst/>
          </a:prstGeom>
          <a:solidFill>
            <a:srgbClr val="F5F0E1"/>
          </a:solidFill>
          <a:ln/>
        </p:spPr>
      </p:sp>
      <p:sp>
        <p:nvSpPr>
          <p:cNvPr id="35" name="Shape 33"/>
          <p:cNvSpPr/>
          <p:nvPr/>
        </p:nvSpPr>
        <p:spPr>
          <a:xfrm>
            <a:off x="620146" y="6340998"/>
            <a:ext cx="201168" cy="201168"/>
          </a:xfrm>
          <a:prstGeom prst="ellipse">
            <a:avLst/>
          </a:prstGeom>
          <a:solidFill>
            <a:srgbClr val="FFFFFF"/>
          </a:solidFill>
          <a:ln/>
        </p:spPr>
      </p:sp>
      <p:sp>
        <p:nvSpPr>
          <p:cNvPr id="36" name="Text 34"/>
          <p:cNvSpPr/>
          <p:nvPr/>
        </p:nvSpPr>
        <p:spPr>
          <a:xfrm>
            <a:off x="841248" y="6245352"/>
            <a:ext cx="2743200" cy="365760"/>
          </a:xfrm>
          <a:prstGeom prst="rect">
            <a:avLst/>
          </a:prstGeom>
          <a:noFill/>
          <a:ln/>
        </p:spPr>
        <p:txBody>
          <a:bodyPr wrap="square" rtlCol="0" anchor="ctr"/>
          <a:lstStyle/>
          <a:p>
            <a:pPr algn="l" indent="0" marL="0">
              <a:buNone/>
            </a:pPr>
            <a:r>
              <a:rPr lang="en-US" sz="900" dirty="0">
                <a:solidFill>
                  <a:srgbClr val="8A90A6"/>
                </a:solidFill>
                <a:latin typeface="Calibri" pitchFamily="34" charset="0"/>
                <a:ea typeface="Calibri" pitchFamily="34" charset="-122"/>
                <a:cs typeface="Calibri" pitchFamily="34" charset="-120"/>
              </a:rPr>
              <a:t>Dream Sync</a:t>
            </a:r>
            <a:endParaRPr lang="en-US" sz="900" dirty="0"/>
          </a:p>
        </p:txBody>
      </p:sp>
      <p:sp>
        <p:nvSpPr>
          <p:cNvPr id="37" name="Text 35"/>
          <p:cNvSpPr/>
          <p:nvPr/>
        </p:nvSpPr>
        <p:spPr>
          <a:xfrm>
            <a:off x="11247120" y="6245352"/>
            <a:ext cx="457200" cy="365760"/>
          </a:xfrm>
          <a:prstGeom prst="rect">
            <a:avLst/>
          </a:prstGeom>
          <a:noFill/>
          <a:ln/>
        </p:spPr>
        <p:txBody>
          <a:bodyPr wrap="square" rtlCol="0" anchor="ctr"/>
          <a:lstStyle/>
          <a:p>
            <a:pPr algn="r" indent="0" marL="0">
              <a:buNone/>
            </a:pPr>
            <a:r>
              <a:rPr lang="en-US" sz="900" dirty="0">
                <a:solidFill>
                  <a:srgbClr val="8A90A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868680"/>
          </a:xfrm>
          <a:prstGeom prst="rect">
            <a:avLst/>
          </a:prstGeom>
          <a:noFill/>
          <a:ln/>
        </p:spPr>
        <p:txBody>
          <a:bodyPr wrap="square" rtlCol="0" anchor="ctr"/>
          <a:lstStyle/>
          <a:p>
            <a:pPr algn="l" indent="0" marL="0">
              <a:buNone/>
            </a:pPr>
            <a:r>
              <a:rPr lang="en-US" sz="3000" b="1" dirty="0">
                <a:solidFill>
                  <a:srgbClr val="1E2247"/>
                </a:solidFill>
                <a:latin typeface="Cambria" pitchFamily="34" charset="0"/>
                <a:ea typeface="Cambria" pitchFamily="34" charset="-122"/>
                <a:cs typeface="Cambria" pitchFamily="34" charset="-120"/>
              </a:rPr>
              <a:t>The honest limit: it estimates, it doesn't measure</a:t>
            </a:r>
            <a:endParaRPr lang="en-US" sz="3000" dirty="0"/>
          </a:p>
        </p:txBody>
      </p:sp>
      <p:sp>
        <p:nvSpPr>
          <p:cNvPr id="3" name="Text 1"/>
          <p:cNvSpPr/>
          <p:nvPr/>
        </p:nvSpPr>
        <p:spPr>
          <a:xfrm>
            <a:off x="548640" y="1188720"/>
            <a:ext cx="10972800" cy="548640"/>
          </a:xfrm>
          <a:prstGeom prst="rect">
            <a:avLst/>
          </a:prstGeom>
          <a:noFill/>
          <a:ln/>
        </p:spPr>
        <p:txBody>
          <a:bodyPr wrap="square" rtlCol="0" anchor="t"/>
          <a:lstStyle/>
          <a:p>
            <a:pPr indent="0" marL="0">
              <a:buNone/>
            </a:pPr>
            <a:r>
              <a:rPr lang="en-US" sz="1500" dirty="0">
                <a:solidFill>
                  <a:srgbClr val="5B6178"/>
                </a:solidFill>
                <a:latin typeface="Calibri" pitchFamily="34" charset="0"/>
                <a:ea typeface="Calibri" pitchFamily="34" charset="-122"/>
                <a:cs typeface="Calibri" pitchFamily="34" charset="-120"/>
              </a:rPr>
              <a:t>Dream Sync reads motion and heart rate — not brain waves. That shapes what it can claim.</a:t>
            </a:r>
            <a:endParaRPr lang="en-US" sz="1500" dirty="0"/>
          </a:p>
        </p:txBody>
      </p:sp>
      <p:sp>
        <p:nvSpPr>
          <p:cNvPr id="4" name="Shape 2"/>
          <p:cNvSpPr/>
          <p:nvPr/>
        </p:nvSpPr>
        <p:spPr>
          <a:xfrm>
            <a:off x="548640" y="1965960"/>
            <a:ext cx="5394960" cy="1828800"/>
          </a:xfrm>
          <a:prstGeom prst="roundRect">
            <a:avLst>
              <a:gd name="adj" fmla="val 4500"/>
            </a:avLst>
          </a:prstGeom>
          <a:solidFill>
            <a:srgbClr val="E9F4EE"/>
          </a:solidFill>
          <a:ln w="12700">
            <a:solidFill>
              <a:srgbClr val="CDE6D9"/>
            </a:solidFill>
            <a:prstDash val="solid"/>
          </a:ln>
        </p:spPr>
      </p:sp>
      <p:sp>
        <p:nvSpPr>
          <p:cNvPr id="5" name="Text 3"/>
          <p:cNvSpPr/>
          <p:nvPr/>
        </p:nvSpPr>
        <p:spPr>
          <a:xfrm>
            <a:off x="548640" y="2148840"/>
            <a:ext cx="5394960" cy="822960"/>
          </a:xfrm>
          <a:prstGeom prst="rect">
            <a:avLst/>
          </a:prstGeom>
          <a:noFill/>
          <a:ln/>
        </p:spPr>
        <p:txBody>
          <a:bodyPr wrap="square" rtlCol="0" anchor="ctr"/>
          <a:lstStyle/>
          <a:p>
            <a:pPr algn="ctr" indent="0" marL="0">
              <a:buNone/>
            </a:pPr>
            <a:r>
              <a:rPr lang="en-US" sz="4000" b="1" dirty="0">
                <a:solidFill>
                  <a:srgbClr val="2E7D5B"/>
                </a:solidFill>
                <a:latin typeface="Cambria" pitchFamily="34" charset="0"/>
                <a:ea typeface="Cambria" pitchFamily="34" charset="-122"/>
                <a:cs typeface="Cambria" pitchFamily="34" charset="-120"/>
              </a:rPr>
              <a:t>85–95%</a:t>
            </a:r>
            <a:endParaRPr lang="en-US" sz="4000" dirty="0"/>
          </a:p>
        </p:txBody>
      </p:sp>
      <p:sp>
        <p:nvSpPr>
          <p:cNvPr id="6" name="Text 4"/>
          <p:cNvSpPr/>
          <p:nvPr/>
        </p:nvSpPr>
        <p:spPr>
          <a:xfrm>
            <a:off x="822960" y="3017520"/>
            <a:ext cx="4846320" cy="640080"/>
          </a:xfrm>
          <a:prstGeom prst="rect">
            <a:avLst/>
          </a:prstGeom>
          <a:noFill/>
          <a:ln/>
        </p:spPr>
        <p:txBody>
          <a:bodyPr wrap="square" rtlCol="0" anchor="t"/>
          <a:lstStyle/>
          <a:p>
            <a:pPr algn="ctr" indent="0" marL="0">
              <a:buNone/>
            </a:pPr>
            <a:r>
              <a:rPr lang="en-US" sz="1350" dirty="0">
                <a:solidFill>
                  <a:srgbClr val="2E5B47"/>
                </a:solidFill>
                <a:latin typeface="Calibri" pitchFamily="34" charset="0"/>
                <a:ea typeface="Calibri" pitchFamily="34" charset="-122"/>
                <a:cs typeface="Calibri" pitchFamily="34" charset="-120"/>
              </a:rPr>
              <a:t>accuracy at sleep vs wake — wearables are good at this</a:t>
            </a:r>
            <a:endParaRPr lang="en-US" sz="1350" dirty="0"/>
          </a:p>
        </p:txBody>
      </p:sp>
      <p:sp>
        <p:nvSpPr>
          <p:cNvPr id="7" name="Shape 5"/>
          <p:cNvSpPr/>
          <p:nvPr/>
        </p:nvSpPr>
        <p:spPr>
          <a:xfrm>
            <a:off x="6263640" y="1965960"/>
            <a:ext cx="5394960" cy="1828800"/>
          </a:xfrm>
          <a:prstGeom prst="roundRect">
            <a:avLst>
              <a:gd name="adj" fmla="val 4500"/>
            </a:avLst>
          </a:prstGeom>
          <a:solidFill>
            <a:srgbClr val="FBF0E1"/>
          </a:solidFill>
          <a:ln w="12700">
            <a:solidFill>
              <a:srgbClr val="EAD8BE"/>
            </a:solidFill>
            <a:prstDash val="solid"/>
          </a:ln>
        </p:spPr>
      </p:sp>
      <p:sp>
        <p:nvSpPr>
          <p:cNvPr id="8" name="Text 6"/>
          <p:cNvSpPr/>
          <p:nvPr/>
        </p:nvSpPr>
        <p:spPr>
          <a:xfrm>
            <a:off x="6263640" y="2148840"/>
            <a:ext cx="5394960" cy="822960"/>
          </a:xfrm>
          <a:prstGeom prst="rect">
            <a:avLst/>
          </a:prstGeom>
          <a:noFill/>
          <a:ln/>
        </p:spPr>
        <p:txBody>
          <a:bodyPr wrap="square" rtlCol="0" anchor="ctr"/>
          <a:lstStyle/>
          <a:p>
            <a:pPr algn="ctr" indent="0" marL="0">
              <a:buNone/>
            </a:pPr>
            <a:r>
              <a:rPr lang="en-US" sz="4000" b="1" dirty="0">
                <a:solidFill>
                  <a:srgbClr val="B5722A"/>
                </a:solidFill>
                <a:latin typeface="Cambria" pitchFamily="34" charset="0"/>
                <a:ea typeface="Cambria" pitchFamily="34" charset="-122"/>
                <a:cs typeface="Cambria" pitchFamily="34" charset="-120"/>
              </a:rPr>
              <a:t>~60–85%</a:t>
            </a:r>
            <a:endParaRPr lang="en-US" sz="4000" dirty="0"/>
          </a:p>
        </p:txBody>
      </p:sp>
      <p:sp>
        <p:nvSpPr>
          <p:cNvPr id="9" name="Text 7"/>
          <p:cNvSpPr/>
          <p:nvPr/>
        </p:nvSpPr>
        <p:spPr>
          <a:xfrm>
            <a:off x="6537960" y="3017520"/>
            <a:ext cx="4846320" cy="640080"/>
          </a:xfrm>
          <a:prstGeom prst="rect">
            <a:avLst/>
          </a:prstGeom>
          <a:noFill/>
          <a:ln/>
        </p:spPr>
        <p:txBody>
          <a:bodyPr wrap="square" rtlCol="0" anchor="t"/>
          <a:lstStyle/>
          <a:p>
            <a:pPr algn="ctr" indent="0" marL="0">
              <a:buNone/>
            </a:pPr>
            <a:r>
              <a:rPr lang="en-US" sz="1350" dirty="0">
                <a:solidFill>
                  <a:srgbClr val="6E5327"/>
                </a:solidFill>
                <a:latin typeface="Calibri" pitchFamily="34" charset="0"/>
                <a:ea typeface="Calibri" pitchFamily="34" charset="-122"/>
                <a:cs typeface="Calibri" pitchFamily="34" charset="-120"/>
              </a:rPr>
              <a:t>accuracy at naming the stage — deep and REM are often confused with light</a:t>
            </a:r>
            <a:endParaRPr lang="en-US" sz="1350" dirty="0"/>
          </a:p>
        </p:txBody>
      </p:sp>
      <p:sp>
        <p:nvSpPr>
          <p:cNvPr id="10" name="Shape 8"/>
          <p:cNvSpPr/>
          <p:nvPr/>
        </p:nvSpPr>
        <p:spPr>
          <a:xfrm>
            <a:off x="548640" y="4114800"/>
            <a:ext cx="11109960" cy="1600200"/>
          </a:xfrm>
          <a:prstGeom prst="roundRect">
            <a:avLst>
              <a:gd name="adj" fmla="val 5143"/>
            </a:avLst>
          </a:prstGeom>
          <a:solidFill>
            <a:srgbClr val="1E2247"/>
          </a:solidFill>
          <a:ln w="12700">
            <a:solidFill>
              <a:srgbClr val="1E2247"/>
            </a:solidFill>
            <a:prstDash val="solid"/>
          </a:ln>
        </p:spPr>
      </p:sp>
      <p:sp>
        <p:nvSpPr>
          <p:cNvPr id="11" name="Text 9"/>
          <p:cNvSpPr/>
          <p:nvPr/>
        </p:nvSpPr>
        <p:spPr>
          <a:xfrm>
            <a:off x="914400" y="4297680"/>
            <a:ext cx="10058400" cy="365760"/>
          </a:xfrm>
          <a:prstGeom prst="rect">
            <a:avLst/>
          </a:prstGeom>
          <a:noFill/>
          <a:ln/>
        </p:spPr>
        <p:txBody>
          <a:bodyPr wrap="square" rtlCol="0" anchor="ctr"/>
          <a:lstStyle/>
          <a:p>
            <a:pPr indent="0" marL="0">
              <a:buNone/>
            </a:pPr>
            <a:r>
              <a:rPr lang="en-US" sz="1400" b="1" dirty="0">
                <a:solidFill>
                  <a:srgbClr val="F5F0E1"/>
                </a:solidFill>
                <a:latin typeface="Calibri" pitchFamily="34" charset="0"/>
                <a:ea typeface="Calibri" pitchFamily="34" charset="-122"/>
                <a:cs typeface="Calibri" pitchFamily="34" charset="-120"/>
              </a:rPr>
              <a:t>What this means</a:t>
            </a:r>
            <a:endParaRPr lang="en-US" sz="1400" dirty="0"/>
          </a:p>
        </p:txBody>
      </p:sp>
      <p:sp>
        <p:nvSpPr>
          <p:cNvPr id="12" name="Text 10"/>
          <p:cNvSpPr/>
          <p:nvPr/>
        </p:nvSpPr>
        <p:spPr>
          <a:xfrm>
            <a:off x="914400" y="4709160"/>
            <a:ext cx="10424160" cy="914400"/>
          </a:xfrm>
          <a:prstGeom prst="rect">
            <a:avLst/>
          </a:prstGeom>
          <a:noFill/>
          <a:ln/>
        </p:spPr>
        <p:txBody>
          <a:bodyPr wrap="square" rtlCol="0" anchor="t"/>
          <a:lstStyle/>
          <a:p>
            <a:pPr indent="0" marL="0">
              <a:buNone/>
            </a:pPr>
            <a:r>
              <a:rPr lang="en-US" sz="1350" dirty="0">
                <a:solidFill>
                  <a:srgbClr val="CADCFC"/>
                </a:solidFill>
                <a:latin typeface="Calibri" pitchFamily="34" charset="0"/>
                <a:ea typeface="Calibri" pitchFamily="34" charset="-122"/>
                <a:cs typeface="Calibri" pitchFamily="34" charset="-120"/>
              </a:rPr>
              <a:t>Timing deep cues to early-night and lucid cues to late-night is a sound probabilistic bet — but per-moment stage calls will sometimes be wrong, so some cues land in the wrong stage. That's exactly why the app says "probable NREM / probable REM," never a diagnosis.</a:t>
            </a:r>
            <a:endParaRPr lang="en-US" sz="1350" dirty="0"/>
          </a:p>
        </p:txBody>
      </p:sp>
      <p:sp>
        <p:nvSpPr>
          <p:cNvPr id="13" name="Text 11"/>
          <p:cNvSpPr/>
          <p:nvPr/>
        </p:nvSpPr>
        <p:spPr>
          <a:xfrm>
            <a:off x="548640" y="5806440"/>
            <a:ext cx="10972800" cy="274320"/>
          </a:xfrm>
          <a:prstGeom prst="rect">
            <a:avLst/>
          </a:prstGeom>
          <a:noFill/>
          <a:ln/>
        </p:spPr>
        <p:txBody>
          <a:bodyPr wrap="square" rtlCol="0" anchor="ctr"/>
          <a:lstStyle/>
          <a:p>
            <a:pPr indent="0" marL="0">
              <a:buNone/>
            </a:pPr>
            <a:r>
              <a:rPr lang="en-US" sz="1000" i="1" dirty="0">
                <a:solidFill>
                  <a:srgbClr val="8A90A6"/>
                </a:solidFill>
                <a:latin typeface="Calibri" pitchFamily="34" charset="0"/>
                <a:ea typeface="Calibri" pitchFamily="34" charset="-122"/>
                <a:cs typeface="Calibri" pitchFamily="34" charset="-120"/>
              </a:rPr>
              <a:t>Chinoy et al. 2021; de Zambotti et al. 2024</a:t>
            </a:r>
            <a:endParaRPr lang="en-US" sz="1000" dirty="0"/>
          </a:p>
        </p:txBody>
      </p:sp>
      <p:sp>
        <p:nvSpPr>
          <p:cNvPr id="14" name="Shape 12"/>
          <p:cNvSpPr/>
          <p:nvPr/>
        </p:nvSpPr>
        <p:spPr>
          <a:xfrm>
            <a:off x="557784" y="6355080"/>
            <a:ext cx="201168" cy="201168"/>
          </a:xfrm>
          <a:prstGeom prst="ellipse">
            <a:avLst/>
          </a:prstGeom>
          <a:solidFill>
            <a:srgbClr val="F5F0E1"/>
          </a:solidFill>
          <a:ln/>
        </p:spPr>
      </p:sp>
      <p:sp>
        <p:nvSpPr>
          <p:cNvPr id="15" name="Shape 13"/>
          <p:cNvSpPr/>
          <p:nvPr/>
        </p:nvSpPr>
        <p:spPr>
          <a:xfrm>
            <a:off x="620146" y="6340998"/>
            <a:ext cx="201168" cy="201168"/>
          </a:xfrm>
          <a:prstGeom prst="ellipse">
            <a:avLst/>
          </a:prstGeom>
          <a:solidFill>
            <a:srgbClr val="FFFFFF"/>
          </a:solidFill>
          <a:ln/>
        </p:spPr>
      </p:sp>
      <p:sp>
        <p:nvSpPr>
          <p:cNvPr id="16" name="Text 14"/>
          <p:cNvSpPr/>
          <p:nvPr/>
        </p:nvSpPr>
        <p:spPr>
          <a:xfrm>
            <a:off x="841248" y="6245352"/>
            <a:ext cx="2743200" cy="365760"/>
          </a:xfrm>
          <a:prstGeom prst="rect">
            <a:avLst/>
          </a:prstGeom>
          <a:noFill/>
          <a:ln/>
        </p:spPr>
        <p:txBody>
          <a:bodyPr wrap="square" rtlCol="0" anchor="ctr"/>
          <a:lstStyle/>
          <a:p>
            <a:pPr algn="l" indent="0" marL="0">
              <a:buNone/>
            </a:pPr>
            <a:r>
              <a:rPr lang="en-US" sz="900" dirty="0">
                <a:solidFill>
                  <a:srgbClr val="8A90A6"/>
                </a:solidFill>
                <a:latin typeface="Calibri" pitchFamily="34" charset="0"/>
                <a:ea typeface="Calibri" pitchFamily="34" charset="-122"/>
                <a:cs typeface="Calibri" pitchFamily="34" charset="-120"/>
              </a:rPr>
              <a:t>Dream Sync</a:t>
            </a:r>
            <a:endParaRPr lang="en-US" sz="900" dirty="0"/>
          </a:p>
        </p:txBody>
      </p:sp>
      <p:sp>
        <p:nvSpPr>
          <p:cNvPr id="17" name="Text 15"/>
          <p:cNvSpPr/>
          <p:nvPr/>
        </p:nvSpPr>
        <p:spPr>
          <a:xfrm>
            <a:off x="11247120" y="6245352"/>
            <a:ext cx="457200" cy="365760"/>
          </a:xfrm>
          <a:prstGeom prst="rect">
            <a:avLst/>
          </a:prstGeom>
          <a:noFill/>
          <a:ln/>
        </p:spPr>
        <p:txBody>
          <a:bodyPr wrap="square" rtlCol="0" anchor="ctr"/>
          <a:lstStyle/>
          <a:p>
            <a:pPr algn="r" indent="0" marL="0">
              <a:buNone/>
            </a:pPr>
            <a:r>
              <a:rPr lang="en-US" sz="900" dirty="0">
                <a:solidFill>
                  <a:srgbClr val="8A90A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868680"/>
          </a:xfrm>
          <a:prstGeom prst="rect">
            <a:avLst/>
          </a:prstGeom>
          <a:noFill/>
          <a:ln/>
        </p:spPr>
        <p:txBody>
          <a:bodyPr wrap="square" rtlCol="0" anchor="ctr"/>
          <a:lstStyle/>
          <a:p>
            <a:pPr algn="l" indent="0" marL="0">
              <a:buNone/>
            </a:pPr>
            <a:r>
              <a:rPr lang="en-US" sz="3000" b="1" dirty="0">
                <a:solidFill>
                  <a:srgbClr val="1E2247"/>
                </a:solidFill>
                <a:latin typeface="Cambria" pitchFamily="34" charset="0"/>
                <a:ea typeface="Cambria" pitchFamily="34" charset="-122"/>
                <a:cs typeface="Cambria" pitchFamily="34" charset="-120"/>
              </a:rPr>
              <a:t>What it may — and may not — do</a:t>
            </a:r>
            <a:endParaRPr lang="en-US" sz="3000" dirty="0"/>
          </a:p>
        </p:txBody>
      </p:sp>
      <p:sp>
        <p:nvSpPr>
          <p:cNvPr id="3" name="Shape 1"/>
          <p:cNvSpPr/>
          <p:nvPr/>
        </p:nvSpPr>
        <p:spPr>
          <a:xfrm>
            <a:off x="548640" y="1371600"/>
            <a:ext cx="5394960" cy="4480560"/>
          </a:xfrm>
          <a:prstGeom prst="roundRect">
            <a:avLst>
              <a:gd name="adj" fmla="val 1837"/>
            </a:avLst>
          </a:prstGeom>
          <a:solidFill>
            <a:srgbClr val="E9F4EE"/>
          </a:solidFill>
          <a:ln w="12700">
            <a:solidFill>
              <a:srgbClr val="CDE6D9"/>
            </a:solidFill>
            <a:prstDash val="solid"/>
          </a:ln>
        </p:spPr>
      </p:sp>
      <p:sp>
        <p:nvSpPr>
          <p:cNvPr id="4" name="Text 2"/>
          <p:cNvSpPr/>
          <p:nvPr/>
        </p:nvSpPr>
        <p:spPr>
          <a:xfrm>
            <a:off x="868680" y="1554480"/>
            <a:ext cx="4754880" cy="457200"/>
          </a:xfrm>
          <a:prstGeom prst="rect">
            <a:avLst/>
          </a:prstGeom>
          <a:noFill/>
          <a:ln/>
        </p:spPr>
        <p:txBody>
          <a:bodyPr wrap="square" rtlCol="0" anchor="ctr"/>
          <a:lstStyle/>
          <a:p>
            <a:pPr indent="0" marL="0">
              <a:buNone/>
            </a:pPr>
            <a:r>
              <a:rPr lang="en-US" sz="1700" b="1" dirty="0">
                <a:solidFill>
                  <a:srgbClr val="2E7D5B"/>
                </a:solidFill>
                <a:latin typeface="Calibri" pitchFamily="34" charset="0"/>
                <a:ea typeface="Calibri" pitchFamily="34" charset="-122"/>
                <a:cs typeface="Calibri" pitchFamily="34" charset="-120"/>
              </a:rPr>
              <a:t>Plausible</a:t>
            </a:r>
            <a:endParaRPr lang="en-US" sz="1700" dirty="0"/>
          </a:p>
        </p:txBody>
      </p:sp>
      <p:sp>
        <p:nvSpPr>
          <p:cNvPr id="5" name="Text 3"/>
          <p:cNvSpPr/>
          <p:nvPr/>
        </p:nvSpPr>
        <p:spPr>
          <a:xfrm>
            <a:off x="868680" y="2148840"/>
            <a:ext cx="4800600" cy="3566160"/>
          </a:xfrm>
          <a:prstGeom prst="rect">
            <a:avLst/>
          </a:prstGeom>
          <a:noFill/>
          <a:ln/>
        </p:spPr>
        <p:txBody>
          <a:bodyPr wrap="square" rtlCol="0" anchor="t"/>
          <a:lstStyle/>
          <a:p>
            <a:pPr marL="342900" indent="-342900">
              <a:spcAft>
                <a:spcPts val="1000"/>
              </a:spcAft>
              <a:buSzPct val="100000"/>
              <a:buChar char="•"/>
            </a:pPr>
            <a:r>
              <a:rPr lang="en-US" sz="1350" dirty="0">
                <a:solidFill>
                  <a:srgbClr val="2E5B47"/>
                </a:solidFill>
                <a:latin typeface="Calibri" pitchFamily="34" charset="0"/>
                <a:ea typeface="Calibri" pitchFamily="34" charset="-122"/>
                <a:cs typeface="Calibri" pitchFamily="34" charset="-120"/>
              </a:rPr>
              <a:t>Shift slow-wave and spindle activity during deep sleep (well-replicated physiology)</a:t>
            </a:r>
            <a:endParaRPr lang="en-US" sz="1350" dirty="0"/>
          </a:p>
          <a:p>
            <a:pPr marL="342900" indent="-342900">
              <a:spcAft>
                <a:spcPts val="1000"/>
              </a:spcAft>
              <a:buSzPct val="100000"/>
              <a:buChar char="•"/>
            </a:pPr>
            <a:r>
              <a:rPr lang="en-US" sz="1350" dirty="0">
                <a:solidFill>
                  <a:srgbClr val="2E5B47"/>
                </a:solidFill>
                <a:latin typeface="Calibri" pitchFamily="34" charset="0"/>
                <a:ea typeface="Calibri" pitchFamily="34" charset="-122"/>
                <a:cs typeface="Calibri" pitchFamily="34" charset="-120"/>
              </a:rPr>
              <a:t>Raise the odds of a lucid dream for some users, some nights</a:t>
            </a:r>
            <a:endParaRPr lang="en-US" sz="1350" dirty="0"/>
          </a:p>
          <a:p>
            <a:pPr marL="342900" indent="-342900">
              <a:spcAft>
                <a:spcPts val="1000"/>
              </a:spcAft>
              <a:buSzPct val="100000"/>
              <a:buChar char="•"/>
            </a:pPr>
            <a:r>
              <a:rPr lang="en-US" sz="1350" dirty="0">
                <a:solidFill>
                  <a:srgbClr val="2E5B47"/>
                </a:solidFill>
                <a:latin typeface="Calibri" pitchFamily="34" charset="0"/>
                <a:ea typeface="Calibri" pitchFamily="34" charset="-122"/>
                <a:cs typeface="Calibri" pitchFamily="34" charset="-120"/>
              </a:rPr>
              <a:t>Give a motivated person a real n-of-1 tool: every night is logged to CSV</a:t>
            </a:r>
            <a:endParaRPr lang="en-US" sz="1350" dirty="0"/>
          </a:p>
          <a:p>
            <a:pPr marL="342900" indent="-342900">
              <a:buSzPct val="100000"/>
              <a:buChar char="•"/>
            </a:pPr>
            <a:r>
              <a:rPr lang="en-US" sz="1350" dirty="0">
                <a:solidFill>
                  <a:srgbClr val="2E5B47"/>
                </a:solidFill>
                <a:latin typeface="Calibri" pitchFamily="34" charset="0"/>
                <a:ea typeface="Calibri" pitchFamily="34" charset="-122"/>
                <a:cs typeface="Calibri" pitchFamily="34" charset="-120"/>
              </a:rPr>
              <a:t>Make lab-only techniques approachable on hardware people already own</a:t>
            </a:r>
            <a:endParaRPr lang="en-US" sz="1350" dirty="0"/>
          </a:p>
        </p:txBody>
      </p:sp>
      <p:sp>
        <p:nvSpPr>
          <p:cNvPr id="6" name="Shape 4"/>
          <p:cNvSpPr/>
          <p:nvPr/>
        </p:nvSpPr>
        <p:spPr>
          <a:xfrm>
            <a:off x="6263640" y="1371600"/>
            <a:ext cx="5394960" cy="4480560"/>
          </a:xfrm>
          <a:prstGeom prst="roundRect">
            <a:avLst>
              <a:gd name="adj" fmla="val 1837"/>
            </a:avLst>
          </a:prstGeom>
          <a:solidFill>
            <a:srgbClr val="F2F4FD"/>
          </a:solidFill>
          <a:ln w="12700">
            <a:solidFill>
              <a:srgbClr val="DDE2F7"/>
            </a:solidFill>
            <a:prstDash val="solid"/>
          </a:ln>
        </p:spPr>
      </p:sp>
      <p:sp>
        <p:nvSpPr>
          <p:cNvPr id="7" name="Text 5"/>
          <p:cNvSpPr/>
          <p:nvPr/>
        </p:nvSpPr>
        <p:spPr>
          <a:xfrm>
            <a:off x="6583680" y="1554480"/>
            <a:ext cx="4754880" cy="457200"/>
          </a:xfrm>
          <a:prstGeom prst="rect">
            <a:avLst/>
          </a:prstGeom>
          <a:noFill/>
          <a:ln/>
        </p:spPr>
        <p:txBody>
          <a:bodyPr wrap="square" rtlCol="0" anchor="ctr"/>
          <a:lstStyle/>
          <a:p>
            <a:pPr indent="0" marL="0">
              <a:buNone/>
            </a:pPr>
            <a:r>
              <a:rPr lang="en-US" sz="1700" b="1" dirty="0">
                <a:solidFill>
                  <a:srgbClr val="5B6178"/>
                </a:solidFill>
                <a:latin typeface="Calibri" pitchFamily="34" charset="0"/>
                <a:ea typeface="Calibri" pitchFamily="34" charset="-122"/>
                <a:cs typeface="Calibri" pitchFamily="34" charset="-120"/>
              </a:rPr>
              <a:t>Not claimed</a:t>
            </a:r>
            <a:endParaRPr lang="en-US" sz="1700" dirty="0"/>
          </a:p>
        </p:txBody>
      </p:sp>
      <p:sp>
        <p:nvSpPr>
          <p:cNvPr id="8" name="Text 6"/>
          <p:cNvSpPr/>
          <p:nvPr/>
        </p:nvSpPr>
        <p:spPr>
          <a:xfrm>
            <a:off x="6583680" y="2148840"/>
            <a:ext cx="4800600" cy="3566160"/>
          </a:xfrm>
          <a:prstGeom prst="rect">
            <a:avLst/>
          </a:prstGeom>
          <a:noFill/>
          <a:ln/>
        </p:spPr>
        <p:txBody>
          <a:bodyPr wrap="square" rtlCol="0" anchor="t"/>
          <a:lstStyle/>
          <a:p>
            <a:pPr marL="342900" indent="-342900">
              <a:spcAft>
                <a:spcPts val="1000"/>
              </a:spcAft>
              <a:buSzPct val="100000"/>
              <a:buChar char="•"/>
            </a:pPr>
            <a:r>
              <a:rPr lang="en-US" sz="1350" dirty="0">
                <a:solidFill>
                  <a:srgbClr val="5B6178"/>
                </a:solidFill>
                <a:latin typeface="Calibri" pitchFamily="34" charset="0"/>
                <a:ea typeface="Calibri" pitchFamily="34" charset="-122"/>
                <a:cs typeface="Calibri" pitchFamily="34" charset="-120"/>
              </a:rPr>
              <a:t>A proven memory or cognition boost — that benefit is contested and may be null</a:t>
            </a:r>
            <a:endParaRPr lang="en-US" sz="1350" dirty="0"/>
          </a:p>
          <a:p>
            <a:pPr marL="342900" indent="-342900">
              <a:spcAft>
                <a:spcPts val="1000"/>
              </a:spcAft>
              <a:buSzPct val="100000"/>
              <a:buChar char="•"/>
            </a:pPr>
            <a:r>
              <a:rPr lang="en-US" sz="1350" dirty="0">
                <a:solidFill>
                  <a:srgbClr val="5B6178"/>
                </a:solidFill>
                <a:latin typeface="Calibri" pitchFamily="34" charset="0"/>
                <a:ea typeface="Calibri" pitchFamily="34" charset="-122"/>
                <a:cs typeface="Calibri" pitchFamily="34" charset="-120"/>
              </a:rPr>
              <a:t>Reliable, on-demand lucid dreaming</a:t>
            </a:r>
            <a:endParaRPr lang="en-US" sz="1350" dirty="0"/>
          </a:p>
          <a:p>
            <a:pPr marL="342900" indent="-342900">
              <a:spcAft>
                <a:spcPts val="1000"/>
              </a:spcAft>
              <a:buSzPct val="100000"/>
              <a:buChar char="•"/>
            </a:pPr>
            <a:r>
              <a:rPr lang="en-US" sz="1350" dirty="0">
                <a:solidFill>
                  <a:srgbClr val="5B6178"/>
                </a:solidFill>
                <a:latin typeface="Calibri" pitchFamily="34" charset="0"/>
                <a:ea typeface="Calibri" pitchFamily="34" charset="-122"/>
                <a:cs typeface="Calibri" pitchFamily="34" charset="-120"/>
              </a:rPr>
              <a:t>Clinical-grade sleep staging or any diagnosis</a:t>
            </a:r>
            <a:endParaRPr lang="en-US" sz="1350" dirty="0"/>
          </a:p>
          <a:p>
            <a:pPr marL="342900" indent="-342900">
              <a:buSzPct val="100000"/>
              <a:buChar char="•"/>
            </a:pPr>
            <a:r>
              <a:rPr lang="en-US" sz="1350" dirty="0">
                <a:solidFill>
                  <a:srgbClr val="5B6178"/>
                </a:solidFill>
                <a:latin typeface="Calibri" pitchFamily="34" charset="0"/>
                <a:ea typeface="Calibri" pitchFamily="34" charset="-122"/>
                <a:cs typeface="Calibri" pitchFamily="34" charset="-120"/>
              </a:rPr>
              <a:t>A treatment for any sleep disorder — it is a research prototype, not a medical device</a:t>
            </a:r>
            <a:endParaRPr lang="en-US" sz="1350" dirty="0"/>
          </a:p>
        </p:txBody>
      </p:sp>
      <p:sp>
        <p:nvSpPr>
          <p:cNvPr id="9" name="Shape 7"/>
          <p:cNvSpPr/>
          <p:nvPr/>
        </p:nvSpPr>
        <p:spPr>
          <a:xfrm>
            <a:off x="557784" y="6355080"/>
            <a:ext cx="201168" cy="201168"/>
          </a:xfrm>
          <a:prstGeom prst="ellipse">
            <a:avLst/>
          </a:prstGeom>
          <a:solidFill>
            <a:srgbClr val="F5F0E1"/>
          </a:solidFill>
          <a:ln/>
        </p:spPr>
      </p:sp>
      <p:sp>
        <p:nvSpPr>
          <p:cNvPr id="10" name="Shape 8"/>
          <p:cNvSpPr/>
          <p:nvPr/>
        </p:nvSpPr>
        <p:spPr>
          <a:xfrm>
            <a:off x="620146" y="6340998"/>
            <a:ext cx="201168" cy="201168"/>
          </a:xfrm>
          <a:prstGeom prst="ellipse">
            <a:avLst/>
          </a:prstGeom>
          <a:solidFill>
            <a:srgbClr val="FFFFFF"/>
          </a:solidFill>
          <a:ln/>
        </p:spPr>
      </p:sp>
      <p:sp>
        <p:nvSpPr>
          <p:cNvPr id="11" name="Text 9"/>
          <p:cNvSpPr/>
          <p:nvPr/>
        </p:nvSpPr>
        <p:spPr>
          <a:xfrm>
            <a:off x="841248" y="6245352"/>
            <a:ext cx="2743200" cy="365760"/>
          </a:xfrm>
          <a:prstGeom prst="rect">
            <a:avLst/>
          </a:prstGeom>
          <a:noFill/>
          <a:ln/>
        </p:spPr>
        <p:txBody>
          <a:bodyPr wrap="square" rtlCol="0" anchor="ctr"/>
          <a:lstStyle/>
          <a:p>
            <a:pPr algn="l" indent="0" marL="0">
              <a:buNone/>
            </a:pPr>
            <a:r>
              <a:rPr lang="en-US" sz="900" dirty="0">
                <a:solidFill>
                  <a:srgbClr val="8A90A6"/>
                </a:solidFill>
                <a:latin typeface="Calibri" pitchFamily="34" charset="0"/>
                <a:ea typeface="Calibri" pitchFamily="34" charset="-122"/>
                <a:cs typeface="Calibri" pitchFamily="34" charset="-120"/>
              </a:rPr>
              <a:t>Dream Sync</a:t>
            </a:r>
            <a:endParaRPr lang="en-US" sz="900" dirty="0"/>
          </a:p>
        </p:txBody>
      </p:sp>
      <p:sp>
        <p:nvSpPr>
          <p:cNvPr id="12" name="Text 10"/>
          <p:cNvSpPr/>
          <p:nvPr/>
        </p:nvSpPr>
        <p:spPr>
          <a:xfrm>
            <a:off x="11247120" y="6245352"/>
            <a:ext cx="457200" cy="365760"/>
          </a:xfrm>
          <a:prstGeom prst="rect">
            <a:avLst/>
          </a:prstGeom>
          <a:noFill/>
          <a:ln/>
        </p:spPr>
        <p:txBody>
          <a:bodyPr wrap="square" rtlCol="0" anchor="ctr"/>
          <a:lstStyle/>
          <a:p>
            <a:pPr algn="r" indent="0" marL="0">
              <a:buNone/>
            </a:pPr>
            <a:r>
              <a:rPr lang="en-US" sz="900" dirty="0">
                <a:solidFill>
                  <a:srgbClr val="8A90A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868680"/>
          </a:xfrm>
          <a:prstGeom prst="rect">
            <a:avLst/>
          </a:prstGeom>
          <a:noFill/>
          <a:ln/>
        </p:spPr>
        <p:txBody>
          <a:bodyPr wrap="square" rtlCol="0" anchor="ctr"/>
          <a:lstStyle/>
          <a:p>
            <a:pPr algn="l" indent="0" marL="0">
              <a:buNone/>
            </a:pPr>
            <a:r>
              <a:rPr lang="en-US" sz="3000" b="1" dirty="0">
                <a:solidFill>
                  <a:srgbClr val="1E2247"/>
                </a:solidFill>
                <a:latin typeface="Cambria" pitchFamily="34" charset="0"/>
                <a:ea typeface="Cambria" pitchFamily="34" charset="-122"/>
                <a:cs typeface="Cambria" pitchFamily="34" charset="-120"/>
              </a:rPr>
              <a:t>Safety and risks, taken seriously</a:t>
            </a:r>
            <a:endParaRPr lang="en-US" sz="3000" dirty="0"/>
          </a:p>
        </p:txBody>
      </p:sp>
      <p:sp>
        <p:nvSpPr>
          <p:cNvPr id="3" name="Shape 1"/>
          <p:cNvSpPr/>
          <p:nvPr/>
        </p:nvSpPr>
        <p:spPr>
          <a:xfrm>
            <a:off x="548640" y="1463040"/>
            <a:ext cx="402336" cy="402336"/>
          </a:xfrm>
          <a:prstGeom prst="ellipse">
            <a:avLst/>
          </a:prstGeom>
          <a:solidFill>
            <a:srgbClr val="5B6CE8"/>
          </a:solidFill>
          <a:ln/>
        </p:spPr>
      </p:sp>
      <p:sp>
        <p:nvSpPr>
          <p:cNvPr id="4" name="Text 2"/>
          <p:cNvSpPr/>
          <p:nvPr/>
        </p:nvSpPr>
        <p:spPr>
          <a:xfrm>
            <a:off x="548640" y="146304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p:nvPr/>
        </p:nvSpPr>
        <p:spPr>
          <a:xfrm>
            <a:off x="1115568" y="1408176"/>
            <a:ext cx="10497312" cy="384048"/>
          </a:xfrm>
          <a:prstGeom prst="rect">
            <a:avLst/>
          </a:prstGeom>
          <a:noFill/>
          <a:ln/>
        </p:spPr>
        <p:txBody>
          <a:bodyPr wrap="square" lIns="0" tIns="0" rIns="0" bIns="0" rtlCol="0" anchor="ctr"/>
          <a:lstStyle/>
          <a:p>
            <a:pPr algn="l" indent="0" marL="0">
              <a:buNone/>
            </a:pPr>
            <a:r>
              <a:rPr lang="en-US" sz="1500" b="1" dirty="0">
                <a:solidFill>
                  <a:srgbClr val="1E2247"/>
                </a:solidFill>
                <a:latin typeface="Calibri" pitchFamily="34" charset="0"/>
                <a:ea typeface="Calibri" pitchFamily="34" charset="-122"/>
                <a:cs typeface="Calibri" pitchFamily="34" charset="-120"/>
              </a:rPr>
              <a:t>Audio can fragment sleep</a:t>
            </a:r>
            <a:endParaRPr lang="en-US" sz="1500" dirty="0"/>
          </a:p>
        </p:txBody>
      </p:sp>
      <p:sp>
        <p:nvSpPr>
          <p:cNvPr id="6" name="Text 4"/>
          <p:cNvSpPr/>
          <p:nvPr/>
        </p:nvSpPr>
        <p:spPr>
          <a:xfrm>
            <a:off x="1115568" y="1773936"/>
            <a:ext cx="10497312" cy="676656"/>
          </a:xfrm>
          <a:prstGeom prst="rect">
            <a:avLst/>
          </a:prstGeom>
          <a:noFill/>
          <a:ln/>
        </p:spPr>
        <p:txBody>
          <a:bodyPr wrap="square" lIns="0" tIns="0" rIns="0" bIns="0" rtlCol="0" anchor="t"/>
          <a:lstStyle/>
          <a:p>
            <a:pPr algn="l" indent="0" marL="0">
              <a:buNone/>
            </a:pPr>
            <a:r>
              <a:rPr lang="en-US" sz="1250" dirty="0">
                <a:solidFill>
                  <a:srgbClr val="5B6178"/>
                </a:solidFill>
                <a:latin typeface="Calibri" pitchFamily="34" charset="0"/>
                <a:ea typeface="Calibri" pitchFamily="34" charset="-122"/>
                <a:cs typeface="Calibri" pitchFamily="34" charset="-120"/>
              </a:rPr>
              <a:t>Any overnight sound risks arousals. Mitigation: very low volume, brief bursts, user calibration to "barely audible," and automatic back-off — cues disable after three cue-linked awakenings.</a:t>
            </a:r>
            <a:endParaRPr lang="en-US" sz="1250" dirty="0"/>
          </a:p>
        </p:txBody>
      </p:sp>
      <p:sp>
        <p:nvSpPr>
          <p:cNvPr id="7" name="Shape 5"/>
          <p:cNvSpPr/>
          <p:nvPr/>
        </p:nvSpPr>
        <p:spPr>
          <a:xfrm>
            <a:off x="548640" y="2880360"/>
            <a:ext cx="402336" cy="402336"/>
          </a:xfrm>
          <a:prstGeom prst="ellipse">
            <a:avLst/>
          </a:prstGeom>
          <a:solidFill>
            <a:srgbClr val="5B6CE8"/>
          </a:solidFill>
          <a:ln/>
        </p:spPr>
      </p:sp>
      <p:sp>
        <p:nvSpPr>
          <p:cNvPr id="8" name="Text 6"/>
          <p:cNvSpPr/>
          <p:nvPr/>
        </p:nvSpPr>
        <p:spPr>
          <a:xfrm>
            <a:off x="548640" y="288036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115568" y="2825496"/>
            <a:ext cx="10497312" cy="384048"/>
          </a:xfrm>
          <a:prstGeom prst="rect">
            <a:avLst/>
          </a:prstGeom>
          <a:noFill/>
          <a:ln/>
        </p:spPr>
        <p:txBody>
          <a:bodyPr wrap="square" lIns="0" tIns="0" rIns="0" bIns="0" rtlCol="0" anchor="ctr"/>
          <a:lstStyle/>
          <a:p>
            <a:pPr algn="l" indent="0" marL="0">
              <a:buNone/>
            </a:pPr>
            <a:r>
              <a:rPr lang="en-US" sz="1500" b="1" dirty="0">
                <a:solidFill>
                  <a:srgbClr val="1E2247"/>
                </a:solidFill>
                <a:latin typeface="Calibri" pitchFamily="34" charset="0"/>
                <a:ea typeface="Calibri" pitchFamily="34" charset="-122"/>
                <a:cs typeface="Calibri" pitchFamily="34" charset="-120"/>
              </a:rPr>
              <a:t>Lucid-dream practice can disturb sleep</a:t>
            </a:r>
            <a:endParaRPr lang="en-US" sz="1500" dirty="0"/>
          </a:p>
        </p:txBody>
      </p:sp>
      <p:sp>
        <p:nvSpPr>
          <p:cNvPr id="10" name="Text 8"/>
          <p:cNvSpPr/>
          <p:nvPr/>
        </p:nvSpPr>
        <p:spPr>
          <a:xfrm>
            <a:off x="1115568" y="3191256"/>
            <a:ext cx="10497312" cy="676656"/>
          </a:xfrm>
          <a:prstGeom prst="rect">
            <a:avLst/>
          </a:prstGeom>
          <a:noFill/>
          <a:ln/>
        </p:spPr>
        <p:txBody>
          <a:bodyPr wrap="square" lIns="0" tIns="0" rIns="0" bIns="0" rtlCol="0" anchor="t"/>
          <a:lstStyle/>
          <a:p>
            <a:pPr algn="l" indent="0" marL="0">
              <a:buNone/>
            </a:pPr>
            <a:r>
              <a:rPr lang="en-US" sz="1250" dirty="0">
                <a:solidFill>
                  <a:srgbClr val="5B6178"/>
                </a:solidFill>
                <a:latin typeface="Calibri" pitchFamily="34" charset="0"/>
                <a:ea typeface="Calibri" pitchFamily="34" charset="-122"/>
                <a:cs typeface="Calibri" pitchFamily="34" charset="-120"/>
              </a:rPr>
              <a:t>Deliberate induction is linked to more awakenings; self-reported sleep quality is mixed. The app separates cue windows and caps cues per night.</a:t>
            </a:r>
            <a:endParaRPr lang="en-US" sz="1250" dirty="0"/>
          </a:p>
        </p:txBody>
      </p:sp>
      <p:sp>
        <p:nvSpPr>
          <p:cNvPr id="11" name="Shape 9"/>
          <p:cNvSpPr/>
          <p:nvPr/>
        </p:nvSpPr>
        <p:spPr>
          <a:xfrm>
            <a:off x="548640" y="4297680"/>
            <a:ext cx="402336" cy="402336"/>
          </a:xfrm>
          <a:prstGeom prst="ellipse">
            <a:avLst/>
          </a:prstGeom>
          <a:solidFill>
            <a:srgbClr val="5B6CE8"/>
          </a:solidFill>
          <a:ln/>
        </p:spPr>
      </p:sp>
      <p:sp>
        <p:nvSpPr>
          <p:cNvPr id="12" name="Text 10"/>
          <p:cNvSpPr/>
          <p:nvPr/>
        </p:nvSpPr>
        <p:spPr>
          <a:xfrm>
            <a:off x="548640" y="4297680"/>
            <a:ext cx="402336" cy="402336"/>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p:nvPr/>
        </p:nvSpPr>
        <p:spPr>
          <a:xfrm>
            <a:off x="1115568" y="4242816"/>
            <a:ext cx="10497312" cy="384048"/>
          </a:xfrm>
          <a:prstGeom prst="rect">
            <a:avLst/>
          </a:prstGeom>
          <a:noFill/>
          <a:ln/>
        </p:spPr>
        <p:txBody>
          <a:bodyPr wrap="square" lIns="0" tIns="0" rIns="0" bIns="0" rtlCol="0" anchor="ctr"/>
          <a:lstStyle/>
          <a:p>
            <a:pPr algn="l" indent="0" marL="0">
              <a:buNone/>
            </a:pPr>
            <a:r>
              <a:rPr lang="en-US" sz="1500" b="1" dirty="0">
                <a:solidFill>
                  <a:srgbClr val="1E2247"/>
                </a:solidFill>
                <a:latin typeface="Calibri" pitchFamily="34" charset="0"/>
                <a:ea typeface="Calibri" pitchFamily="34" charset="-122"/>
                <a:cs typeface="Calibri" pitchFamily="34" charset="-120"/>
              </a:rPr>
              <a:t>A caution for susceptible people</a:t>
            </a:r>
            <a:endParaRPr lang="en-US" sz="1500" dirty="0"/>
          </a:p>
        </p:txBody>
      </p:sp>
      <p:sp>
        <p:nvSpPr>
          <p:cNvPr id="14" name="Text 12"/>
          <p:cNvSpPr/>
          <p:nvPr/>
        </p:nvSpPr>
        <p:spPr>
          <a:xfrm>
            <a:off x="1115568" y="4608576"/>
            <a:ext cx="10497312" cy="676656"/>
          </a:xfrm>
          <a:prstGeom prst="rect">
            <a:avLst/>
          </a:prstGeom>
          <a:noFill/>
          <a:ln/>
        </p:spPr>
        <p:txBody>
          <a:bodyPr wrap="square" lIns="0" tIns="0" rIns="0" bIns="0" rtlCol="0" anchor="t"/>
          <a:lstStyle/>
          <a:p>
            <a:pPr algn="l" indent="0" marL="0">
              <a:buNone/>
            </a:pPr>
            <a:r>
              <a:rPr lang="en-US" sz="1250" dirty="0">
                <a:solidFill>
                  <a:srgbClr val="5B6178"/>
                </a:solidFill>
                <a:latin typeface="Calibri" pitchFamily="34" charset="0"/>
                <a:ea typeface="Calibri" pitchFamily="34" charset="-122"/>
                <a:cs typeface="Calibri" pitchFamily="34" charset="-120"/>
              </a:rPr>
              <a:t>Frequent lucid-dream practice has been associated with higher dissociation and schizotypy in vulnerable individuals. An in-app advisory is warranted.</a:t>
            </a:r>
            <a:endParaRPr lang="en-US" sz="1250" dirty="0"/>
          </a:p>
        </p:txBody>
      </p:sp>
      <p:sp>
        <p:nvSpPr>
          <p:cNvPr id="15" name="Text 13"/>
          <p:cNvSpPr/>
          <p:nvPr/>
        </p:nvSpPr>
        <p:spPr>
          <a:xfrm>
            <a:off x="1115568" y="5230368"/>
            <a:ext cx="10497312" cy="256032"/>
          </a:xfrm>
          <a:prstGeom prst="rect">
            <a:avLst/>
          </a:prstGeom>
          <a:noFill/>
          <a:ln/>
        </p:spPr>
        <p:txBody>
          <a:bodyPr wrap="square" lIns="0" tIns="0" rIns="0" bIns="0" rtlCol="0" anchor="t"/>
          <a:lstStyle/>
          <a:p>
            <a:pPr algn="l" indent="0" marL="0">
              <a:buNone/>
            </a:pPr>
            <a:r>
              <a:rPr lang="en-US" sz="1000" i="1" dirty="0">
                <a:solidFill>
                  <a:srgbClr val="8A90A6"/>
                </a:solidFill>
                <a:latin typeface="Calibri" pitchFamily="34" charset="0"/>
                <a:ea typeface="Calibri" pitchFamily="34" charset="-122"/>
                <a:cs typeface="Calibri" pitchFamily="34" charset="-120"/>
              </a:rPr>
              <a:t>Aviram &amp; Soffer-Dudek, 2018</a:t>
            </a:r>
            <a:endParaRPr lang="en-US" sz="1000" dirty="0"/>
          </a:p>
        </p:txBody>
      </p:sp>
      <p:sp>
        <p:nvSpPr>
          <p:cNvPr id="16" name="Shape 14"/>
          <p:cNvSpPr/>
          <p:nvPr/>
        </p:nvSpPr>
        <p:spPr>
          <a:xfrm>
            <a:off x="548640" y="5577840"/>
            <a:ext cx="11109960" cy="502920"/>
          </a:xfrm>
          <a:prstGeom prst="roundRect">
            <a:avLst>
              <a:gd name="adj" fmla="val 16364"/>
            </a:avLst>
          </a:prstGeom>
          <a:solidFill>
            <a:srgbClr val="1E2247"/>
          </a:solidFill>
          <a:ln w="12700">
            <a:solidFill>
              <a:srgbClr val="1E2247"/>
            </a:solidFill>
            <a:prstDash val="solid"/>
          </a:ln>
        </p:spPr>
      </p:sp>
      <p:sp>
        <p:nvSpPr>
          <p:cNvPr id="17" name="Text 15"/>
          <p:cNvSpPr/>
          <p:nvPr/>
        </p:nvSpPr>
        <p:spPr>
          <a:xfrm>
            <a:off x="731520" y="5577840"/>
            <a:ext cx="10789920" cy="502920"/>
          </a:xfrm>
          <a:prstGeom prst="rect">
            <a:avLst/>
          </a:prstGeom>
          <a:noFill/>
          <a:ln/>
        </p:spPr>
        <p:txBody>
          <a:bodyPr wrap="square" rtlCol="0" anchor="ctr"/>
          <a:lstStyle/>
          <a:p>
            <a:pPr indent="0" marL="0">
              <a:buNone/>
            </a:pPr>
            <a:r>
              <a:rPr lang="en-US" sz="1250" b="1" dirty="0">
                <a:solidFill>
                  <a:srgbClr val="F5F0E1"/>
                </a:solidFill>
                <a:latin typeface="Calibri" pitchFamily="34" charset="0"/>
                <a:ea typeface="Calibri" pitchFamily="34" charset="-122"/>
                <a:cs typeface="Calibri" pitchFamily="34" charset="-120"/>
              </a:rPr>
              <a:t>Not a medical device. For research and self-experimentation only — not for diagnosing or treating any condition.</a:t>
            </a:r>
            <a:endParaRPr lang="en-US" sz="1250" dirty="0"/>
          </a:p>
        </p:txBody>
      </p:sp>
      <p:sp>
        <p:nvSpPr>
          <p:cNvPr id="18" name="Shape 16"/>
          <p:cNvSpPr/>
          <p:nvPr/>
        </p:nvSpPr>
        <p:spPr>
          <a:xfrm>
            <a:off x="557784" y="6355080"/>
            <a:ext cx="201168" cy="201168"/>
          </a:xfrm>
          <a:prstGeom prst="ellipse">
            <a:avLst/>
          </a:prstGeom>
          <a:solidFill>
            <a:srgbClr val="F5F0E1"/>
          </a:solidFill>
          <a:ln/>
        </p:spPr>
      </p:sp>
      <p:sp>
        <p:nvSpPr>
          <p:cNvPr id="19" name="Shape 17"/>
          <p:cNvSpPr/>
          <p:nvPr/>
        </p:nvSpPr>
        <p:spPr>
          <a:xfrm>
            <a:off x="620146" y="6340998"/>
            <a:ext cx="201168" cy="201168"/>
          </a:xfrm>
          <a:prstGeom prst="ellipse">
            <a:avLst/>
          </a:prstGeom>
          <a:solidFill>
            <a:srgbClr val="FFFFFF"/>
          </a:solidFill>
          <a:ln/>
        </p:spPr>
      </p:sp>
      <p:sp>
        <p:nvSpPr>
          <p:cNvPr id="20" name="Text 18"/>
          <p:cNvSpPr/>
          <p:nvPr/>
        </p:nvSpPr>
        <p:spPr>
          <a:xfrm>
            <a:off x="841248" y="6245352"/>
            <a:ext cx="2743200" cy="365760"/>
          </a:xfrm>
          <a:prstGeom prst="rect">
            <a:avLst/>
          </a:prstGeom>
          <a:noFill/>
          <a:ln/>
        </p:spPr>
        <p:txBody>
          <a:bodyPr wrap="square" rtlCol="0" anchor="ctr"/>
          <a:lstStyle/>
          <a:p>
            <a:pPr algn="l" indent="0" marL="0">
              <a:buNone/>
            </a:pPr>
            <a:r>
              <a:rPr lang="en-US" sz="900" dirty="0">
                <a:solidFill>
                  <a:srgbClr val="8A90A6"/>
                </a:solidFill>
                <a:latin typeface="Calibri" pitchFamily="34" charset="0"/>
                <a:ea typeface="Calibri" pitchFamily="34" charset="-122"/>
                <a:cs typeface="Calibri" pitchFamily="34" charset="-120"/>
              </a:rPr>
              <a:t>Dream Sync</a:t>
            </a:r>
            <a:endParaRPr lang="en-US" sz="900" dirty="0"/>
          </a:p>
        </p:txBody>
      </p:sp>
      <p:sp>
        <p:nvSpPr>
          <p:cNvPr id="21" name="Text 19"/>
          <p:cNvSpPr/>
          <p:nvPr/>
        </p:nvSpPr>
        <p:spPr>
          <a:xfrm>
            <a:off x="11247120" y="6245352"/>
            <a:ext cx="457200" cy="365760"/>
          </a:xfrm>
          <a:prstGeom prst="rect">
            <a:avLst/>
          </a:prstGeom>
          <a:noFill/>
          <a:ln/>
        </p:spPr>
        <p:txBody>
          <a:bodyPr wrap="square" rtlCol="0" anchor="ctr"/>
          <a:lstStyle/>
          <a:p>
            <a:pPr algn="r" indent="0" marL="0">
              <a:buNone/>
            </a:pPr>
            <a:r>
              <a:rPr lang="en-US" sz="900" dirty="0">
                <a:solidFill>
                  <a:srgbClr val="8A90A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24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2247"/>
          </a:solidFill>
          <a:ln/>
        </p:spPr>
      </p:sp>
      <p:sp>
        <p:nvSpPr>
          <p:cNvPr id="3" name="Shape 1"/>
          <p:cNvSpPr/>
          <p:nvPr/>
        </p:nvSpPr>
        <p:spPr>
          <a:xfrm>
            <a:off x="9144000" y="3840480"/>
            <a:ext cx="1828800" cy="1828800"/>
          </a:xfrm>
          <a:prstGeom prst="ellipse">
            <a:avLst/>
          </a:prstGeom>
          <a:solidFill>
            <a:srgbClr val="F5F0E1"/>
          </a:solidFill>
          <a:ln/>
        </p:spPr>
      </p:sp>
      <p:sp>
        <p:nvSpPr>
          <p:cNvPr id="4" name="Shape 2"/>
          <p:cNvSpPr/>
          <p:nvPr/>
        </p:nvSpPr>
        <p:spPr>
          <a:xfrm>
            <a:off x="9710928" y="3712464"/>
            <a:ext cx="1828800" cy="1828800"/>
          </a:xfrm>
          <a:prstGeom prst="ellipse">
            <a:avLst/>
          </a:prstGeom>
          <a:solidFill>
            <a:srgbClr val="1E2247"/>
          </a:solidFill>
          <a:ln/>
        </p:spPr>
      </p:sp>
      <p:sp>
        <p:nvSpPr>
          <p:cNvPr id="5" name="Shape 3"/>
          <p:cNvSpPr/>
          <p:nvPr/>
        </p:nvSpPr>
        <p:spPr>
          <a:xfrm>
            <a:off x="10424160" y="4114800"/>
            <a:ext cx="502920" cy="1005840"/>
          </a:xfrm>
          <a:prstGeom prst="arc">
            <a:avLst>
              <a:gd name="adj1" fmla="val 18000000"/>
              <a:gd name="adj2" fmla="val 3600000"/>
            </a:avLst>
          </a:prstGeom>
          <a:ln w="31750">
            <a:solidFill>
              <a:srgbClr val="CADCFC"/>
            </a:solidFill>
            <a:prstDash val="solid"/>
          </a:ln>
        </p:spPr>
      </p:sp>
      <p:sp>
        <p:nvSpPr>
          <p:cNvPr id="6" name="Shape 4"/>
          <p:cNvSpPr/>
          <p:nvPr/>
        </p:nvSpPr>
        <p:spPr>
          <a:xfrm>
            <a:off x="10424160" y="3794760"/>
            <a:ext cx="822960" cy="1645920"/>
          </a:xfrm>
          <a:prstGeom prst="arc">
            <a:avLst>
              <a:gd name="adj1" fmla="val 18000000"/>
              <a:gd name="adj2" fmla="val 3600000"/>
            </a:avLst>
          </a:prstGeom>
          <a:ln w="31750">
            <a:solidFill>
              <a:srgbClr val="818CF8"/>
            </a:solidFill>
            <a:prstDash val="solid"/>
          </a:ln>
        </p:spPr>
      </p:sp>
      <p:sp>
        <p:nvSpPr>
          <p:cNvPr id="7" name="Shape 5"/>
          <p:cNvSpPr/>
          <p:nvPr/>
        </p:nvSpPr>
        <p:spPr>
          <a:xfrm>
            <a:off x="10424160" y="3474720"/>
            <a:ext cx="1143000" cy="2286000"/>
          </a:xfrm>
          <a:prstGeom prst="arc">
            <a:avLst>
              <a:gd name="adj1" fmla="val 18000000"/>
              <a:gd name="adj2" fmla="val 3600000"/>
            </a:avLst>
          </a:prstGeom>
          <a:ln w="31750">
            <a:solidFill>
              <a:srgbClr val="5B6CE8"/>
            </a:solidFill>
            <a:prstDash val="solid"/>
          </a:ln>
        </p:spPr>
      </p:sp>
      <p:sp>
        <p:nvSpPr>
          <p:cNvPr id="8" name="Shape 6"/>
          <p:cNvSpPr/>
          <p:nvPr/>
        </p:nvSpPr>
        <p:spPr>
          <a:xfrm>
            <a:off x="8778240" y="914400"/>
            <a:ext cx="73152" cy="73152"/>
          </a:xfrm>
          <a:prstGeom prst="ellipse">
            <a:avLst/>
          </a:prstGeom>
          <a:solidFill>
            <a:srgbClr val="F5F0E1"/>
          </a:solidFill>
          <a:ln/>
        </p:spPr>
      </p:sp>
      <p:sp>
        <p:nvSpPr>
          <p:cNvPr id="9" name="Shape 7"/>
          <p:cNvSpPr/>
          <p:nvPr/>
        </p:nvSpPr>
        <p:spPr>
          <a:xfrm>
            <a:off x="11155680" y="1280160"/>
            <a:ext cx="54864" cy="54864"/>
          </a:xfrm>
          <a:prstGeom prst="ellipse">
            <a:avLst/>
          </a:prstGeom>
          <a:solidFill>
            <a:srgbClr val="F5F0E1"/>
          </a:solidFill>
          <a:ln/>
        </p:spPr>
      </p:sp>
      <p:sp>
        <p:nvSpPr>
          <p:cNvPr id="10" name="Shape 8"/>
          <p:cNvSpPr/>
          <p:nvPr/>
        </p:nvSpPr>
        <p:spPr>
          <a:xfrm>
            <a:off x="9326880" y="5852160"/>
            <a:ext cx="64008" cy="64008"/>
          </a:xfrm>
          <a:prstGeom prst="ellipse">
            <a:avLst/>
          </a:prstGeom>
          <a:solidFill>
            <a:srgbClr val="F5F0E1"/>
          </a:solidFill>
          <a:ln/>
        </p:spPr>
      </p:sp>
      <p:sp>
        <p:nvSpPr>
          <p:cNvPr id="11" name="Text 9"/>
          <p:cNvSpPr/>
          <p:nvPr/>
        </p:nvSpPr>
        <p:spPr>
          <a:xfrm>
            <a:off x="822960" y="1005840"/>
            <a:ext cx="7315200" cy="457200"/>
          </a:xfrm>
          <a:prstGeom prst="rect">
            <a:avLst/>
          </a:prstGeom>
          <a:noFill/>
          <a:ln/>
        </p:spPr>
        <p:txBody>
          <a:bodyPr wrap="square" rtlCol="0" anchor="ctr"/>
          <a:lstStyle/>
          <a:p>
            <a:pPr indent="0" marL="0">
              <a:buNone/>
            </a:pPr>
            <a:r>
              <a:rPr lang="en-US" sz="1400" spc="200" kern="0" dirty="0">
                <a:solidFill>
                  <a:srgbClr val="CADCFC"/>
                </a:solidFill>
                <a:latin typeface="Calibri" pitchFamily="34" charset="0"/>
                <a:ea typeface="Calibri" pitchFamily="34" charset="-122"/>
                <a:cs typeface="Calibri" pitchFamily="34" charset="-120"/>
              </a:rPr>
              <a:t>The takeaway</a:t>
            </a:r>
            <a:endParaRPr lang="en-US" sz="1400" dirty="0"/>
          </a:p>
        </p:txBody>
      </p:sp>
      <p:sp>
        <p:nvSpPr>
          <p:cNvPr id="12" name="Text 10"/>
          <p:cNvSpPr/>
          <p:nvPr/>
        </p:nvSpPr>
        <p:spPr>
          <a:xfrm>
            <a:off x="777240" y="141732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Real science, honestly scoped</a:t>
            </a:r>
            <a:endParaRPr lang="en-US" sz="4000" dirty="0"/>
          </a:p>
        </p:txBody>
      </p:sp>
      <p:sp>
        <p:nvSpPr>
          <p:cNvPr id="13" name="Text 11"/>
          <p:cNvSpPr/>
          <p:nvPr/>
        </p:nvSpPr>
        <p:spPr>
          <a:xfrm>
            <a:off x="822960" y="2697480"/>
            <a:ext cx="8503920" cy="3291840"/>
          </a:xfrm>
          <a:prstGeom prst="rect">
            <a:avLst/>
          </a:prstGeom>
          <a:noFill/>
          <a:ln/>
        </p:spPr>
        <p:txBody>
          <a:bodyPr wrap="square" rtlCol="0" anchor="t"/>
          <a:lstStyle/>
          <a:p>
            <a:pPr marL="342900" indent="-342900">
              <a:spcAft>
                <a:spcPts val="1200"/>
              </a:spcAft>
              <a:buSzPct val="100000"/>
              <a:buChar char="•"/>
            </a:pPr>
            <a:r>
              <a:rPr lang="en-US" sz="1500" dirty="0">
                <a:solidFill>
                  <a:srgbClr val="CADCFC"/>
                </a:solidFill>
                <a:latin typeface="Calibri" pitchFamily="34" charset="0"/>
                <a:ea typeface="Calibri" pitchFamily="34" charset="-122"/>
                <a:cs typeface="Calibri" pitchFamily="34" charset="-120"/>
              </a:rPr>
              <a:t>The problem:  a third of life we can barely act on, and the tools to act on it are stuck in the lab.</a:t>
            </a:r>
            <a:endParaRPr lang="en-US" sz="1500" dirty="0"/>
          </a:p>
          <a:p>
            <a:pPr marL="342900" indent="-342900">
              <a:spcAft>
                <a:spcPts val="1200"/>
              </a:spcAft>
              <a:buSzPct val="100000"/>
              <a:buChar char="•"/>
            </a:pPr>
            <a:r>
              <a:rPr lang="en-US" sz="1500" dirty="0">
                <a:solidFill>
                  <a:srgbClr val="CADCFC"/>
                </a:solidFill>
                <a:latin typeface="Calibri" pitchFamily="34" charset="0"/>
                <a:ea typeface="Calibri" pitchFamily="34" charset="-122"/>
                <a:cs typeface="Calibri" pitchFamily="34" charset="-120"/>
              </a:rPr>
              <a:t>The approach:  a watch + phone turn two evidence-based techniques — slow-wave stimulation and lucidity cueing — into something you can run at home.</a:t>
            </a:r>
            <a:endParaRPr lang="en-US" sz="1500" dirty="0"/>
          </a:p>
          <a:p>
            <a:pPr marL="342900" indent="-342900">
              <a:spcAft>
                <a:spcPts val="1200"/>
              </a:spcAft>
              <a:buSzPct val="100000"/>
              <a:buChar char="•"/>
            </a:pPr>
            <a:r>
              <a:rPr lang="en-US" sz="1500" dirty="0">
                <a:solidFill>
                  <a:srgbClr val="CADCFC"/>
                </a:solidFill>
                <a:latin typeface="Calibri" pitchFamily="34" charset="0"/>
                <a:ea typeface="Calibri" pitchFamily="34" charset="-122"/>
                <a:cs typeface="Calibri" pitchFamily="34" charset="-120"/>
              </a:rPr>
              <a:t>The honesty:  strong on physiology, unproven on memory and reliable lucidity, approximate on staging — and it says so.</a:t>
            </a:r>
            <a:endParaRPr lang="en-US" sz="1500" dirty="0"/>
          </a:p>
          <a:p>
            <a:pPr marL="342900" indent="-342900">
              <a:buSzPct val="100000"/>
              <a:buChar char="•"/>
            </a:pPr>
            <a:r>
              <a:rPr lang="en-US" sz="1500" dirty="0">
                <a:solidFill>
                  <a:srgbClr val="CADCFC"/>
                </a:solidFill>
                <a:latin typeface="Calibri" pitchFamily="34" charset="0"/>
                <a:ea typeface="Calibri" pitchFamily="34" charset="-122"/>
                <a:cs typeface="Calibri" pitchFamily="34" charset="-120"/>
              </a:rPr>
              <a:t>What's next:  every night logs to CSV — the groundwork for real n-of-1 analysis of what actually works.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2026-07-18T20:25:26Z</dcterms:created>
  <dcterms:modified xsi:type="dcterms:W3CDTF">2026-07-18T20:25:26Z</dcterms:modified>
</cp:coreProperties>
</file>